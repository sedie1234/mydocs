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BC56F-F219-4B40-80FD-51E75448D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99DD86-8DD3-44BE-8089-6114D51D0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8D1A82-8621-4306-A1F0-DFA740D38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0EF4D-3A29-47AB-B9A9-3A2DD3A5F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ED9BB6-C70A-4352-8DE6-5A33FD2F3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933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FA339-69D2-48A1-A2B4-7ADCA860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D7B2BF-FBEF-4319-BB94-3E2EC85BE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2EE8C-0A19-4E50-897E-79152E02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210F6-65F1-4D9C-AA99-DAAED746C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84C2AF-3106-41AC-A0A0-5179E509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286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FCB39E-CD08-4EE5-980F-BCCCA9905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68C9DC-91C2-4DE8-AB12-069C1F6F7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B9D9EF-3C86-4B0F-ABB6-7E0939532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45E466-0172-46F8-A159-FF8CBC7C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B011B-4A8F-49B5-9516-DDF5D43C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61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A0D1F-78BB-4078-875C-C4831F8F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0A714-D3EF-491F-9DAD-03D2733BD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B06812-0B56-4230-8B66-9482AD151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9F389E-2167-461B-83D7-955D0A1A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2BA01D-047B-4CCF-9C56-BC2F2D4B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A3EDA2-7B45-47A5-9D57-A97EC198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79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07D6C-3D94-4DA8-AA66-BB3B7E6E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C6EC29-7543-4F3C-B3B2-7D8EAFC0C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5A815C-3850-49D7-8E25-68CDA6682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273AA9-C8B6-4EE3-9267-27DD7033B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90C2EF-F9F0-40B3-A780-662307911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7D517D-0615-484C-9E0C-E8DB5374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92DBF9-1023-4125-9EC8-8C9CC3F2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705915-E9DF-4891-A2CF-CC18B1E7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87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760C1-983B-4838-8096-42C3F454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0B47E5-4D32-47F2-A20B-49D3572A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D856DF-07F5-4353-B5DA-BC8BB7C13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3533F5-E4EA-485A-AA3B-A50278D3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02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405153D-B945-43B0-94E1-286403682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9D78ED1-EF17-4511-B7B7-E9015408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B90F95-5EDA-40C5-80E3-B5A9EFD50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04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D65CB-0CBC-4A6B-9ADB-764D9013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92C34-E539-473C-B475-6C328E204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935FEC-87C9-460B-886D-FE12272A3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F2409D-BAA6-4882-A9C7-CC6AA6FE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47AB9C-D8A4-48DC-B582-8F0B56F55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268D84-CED4-4BFD-8337-5309F14EE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13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B5E59-9EF6-48F8-B1C6-95585B54B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548094-BFF9-46E3-8583-07473B19C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FB33A3-59BF-4C16-B8AE-8306E0B59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03EB69-F557-471E-8F6E-49B8046B8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820B3D-C6D0-4EB2-95D3-75261B4A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56A57C-E31E-434E-9E13-F7EEDDA5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21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4CABD-6180-4BC3-85E9-7E7E22071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C07D42-2DAC-4796-8C10-950F9BFC8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008906-BE5B-43B0-9C80-DB5827946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40F066-79CA-4EE8-BAD8-84C65F30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449972-9950-47A0-B270-9C8D8B53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585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F27271-39DE-47C9-A08C-A4DF6277B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ACD7AD-2A4B-4B1A-A5B6-D5E4B3F7C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C9AEEC-576C-43A1-82A2-644BC9A6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137112-14C9-432A-B18B-C8AF1E9F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05D8FF-D114-424B-A49D-BC08FF01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95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BA985B-D4EF-4828-96B3-538CDA362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D83B9A-454B-4661-81C2-215F792B4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E7529-0D48-4232-8F24-BD35BE79C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35876-A3E5-4F55-B6C9-BF61F24393CA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3201E2-AC80-49D6-ABF8-8FB6F5AF7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96A76-F652-42B1-9636-EA4CA6404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6CD17-3BDE-41F3-A07F-82C02E2A30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666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C32627-FEDA-43C9-A518-79B722A54B15}"/>
              </a:ext>
            </a:extLst>
          </p:cNvPr>
          <p:cNvSpPr/>
          <p:nvPr/>
        </p:nvSpPr>
        <p:spPr>
          <a:xfrm>
            <a:off x="379142" y="1500629"/>
            <a:ext cx="1821366" cy="5056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Runtime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1CE950-8866-45D2-9D1C-5F7A9F2DDEFE}"/>
              </a:ext>
            </a:extLst>
          </p:cNvPr>
          <p:cNvSpPr/>
          <p:nvPr/>
        </p:nvSpPr>
        <p:spPr>
          <a:xfrm>
            <a:off x="2373147" y="1500629"/>
            <a:ext cx="2490439" cy="172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SM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B3EFAE-A2C2-443B-B649-7639AC77A8AE}"/>
              </a:ext>
            </a:extLst>
          </p:cNvPr>
          <p:cNvSpPr/>
          <p:nvPr/>
        </p:nvSpPr>
        <p:spPr>
          <a:xfrm>
            <a:off x="2373471" y="3225351"/>
            <a:ext cx="2490439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Output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A1D956-DC96-48FD-8EBE-51D6578F1D4A}"/>
              </a:ext>
            </a:extLst>
          </p:cNvPr>
          <p:cNvSpPr/>
          <p:nvPr/>
        </p:nvSpPr>
        <p:spPr>
          <a:xfrm>
            <a:off x="2373471" y="4233507"/>
            <a:ext cx="2490439" cy="1008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Input 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0264E6-A8A7-4673-A69A-812B0BDBC3CC}"/>
              </a:ext>
            </a:extLst>
          </p:cNvPr>
          <p:cNvSpPr/>
          <p:nvPr/>
        </p:nvSpPr>
        <p:spPr>
          <a:xfrm>
            <a:off x="2373472" y="5241664"/>
            <a:ext cx="2490439" cy="1315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Temp Buffer</a:t>
            </a:r>
            <a:r>
              <a:rPr lang="ko-KR" altLang="en-US" sz="900">
                <a:solidFill>
                  <a:schemeClr val="tx1"/>
                </a:solidFill>
              </a:rPr>
              <a:t> 영역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2FE549-AF7C-47EA-AC78-0B35602A0ED0}"/>
              </a:ext>
            </a:extLst>
          </p:cNvPr>
          <p:cNvSpPr/>
          <p:nvPr/>
        </p:nvSpPr>
        <p:spPr>
          <a:xfrm>
            <a:off x="5203903" y="277271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3BDC3-91AF-4E7D-A0FD-4D4D6B5195F9}"/>
              </a:ext>
            </a:extLst>
          </p:cNvPr>
          <p:cNvSpPr/>
          <p:nvPr/>
        </p:nvSpPr>
        <p:spPr>
          <a:xfrm>
            <a:off x="6828264" y="277271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020291-90E0-4B27-9C12-0B12C468B90A}"/>
              </a:ext>
            </a:extLst>
          </p:cNvPr>
          <p:cNvSpPr/>
          <p:nvPr/>
        </p:nvSpPr>
        <p:spPr>
          <a:xfrm>
            <a:off x="5203903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CDCF1A-9151-4A25-81C1-815FB8434E17}"/>
              </a:ext>
            </a:extLst>
          </p:cNvPr>
          <p:cNvSpPr/>
          <p:nvPr/>
        </p:nvSpPr>
        <p:spPr>
          <a:xfrm>
            <a:off x="5203910" y="4272048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332A8AA-7FB2-4158-910C-37532E6CAB5E}"/>
              </a:ext>
            </a:extLst>
          </p:cNvPr>
          <p:cNvSpPr/>
          <p:nvPr/>
        </p:nvSpPr>
        <p:spPr>
          <a:xfrm>
            <a:off x="6828271" y="4272048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4F342-3CFB-4905-8673-542548CE6D84}"/>
              </a:ext>
            </a:extLst>
          </p:cNvPr>
          <p:cNvSpPr/>
          <p:nvPr/>
        </p:nvSpPr>
        <p:spPr>
          <a:xfrm>
            <a:off x="5203907" y="5420523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9E5938-A150-42DE-8163-F89797E386A2}"/>
              </a:ext>
            </a:extLst>
          </p:cNvPr>
          <p:cNvSpPr/>
          <p:nvPr/>
        </p:nvSpPr>
        <p:spPr>
          <a:xfrm>
            <a:off x="5003181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C123FF-A5E1-4AB0-8B30-9439E7A57755}"/>
              </a:ext>
            </a:extLst>
          </p:cNvPr>
          <p:cNvSpPr/>
          <p:nvPr/>
        </p:nvSpPr>
        <p:spPr>
          <a:xfrm>
            <a:off x="8792622" y="277271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1A2F178-72AC-4080-A15E-8F6519611290}"/>
              </a:ext>
            </a:extLst>
          </p:cNvPr>
          <p:cNvSpPr/>
          <p:nvPr/>
        </p:nvSpPr>
        <p:spPr>
          <a:xfrm>
            <a:off x="10416983" y="277271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F9A1E0-F683-4370-AF0A-D9DC5E6FE64E}"/>
              </a:ext>
            </a:extLst>
          </p:cNvPr>
          <p:cNvSpPr/>
          <p:nvPr/>
        </p:nvSpPr>
        <p:spPr>
          <a:xfrm>
            <a:off x="8792622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878BCE-A57F-4DEE-A99A-AA7F4D8CD1EA}"/>
              </a:ext>
            </a:extLst>
          </p:cNvPr>
          <p:cNvSpPr/>
          <p:nvPr/>
        </p:nvSpPr>
        <p:spPr>
          <a:xfrm>
            <a:off x="8591900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27E8A3-35B9-4239-B0D3-C537852664FE}"/>
              </a:ext>
            </a:extLst>
          </p:cNvPr>
          <p:cNvSpPr/>
          <p:nvPr/>
        </p:nvSpPr>
        <p:spPr>
          <a:xfrm>
            <a:off x="5003184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B5A8C94-829B-453B-BC06-278B4676717B}"/>
              </a:ext>
            </a:extLst>
          </p:cNvPr>
          <p:cNvSpPr/>
          <p:nvPr/>
        </p:nvSpPr>
        <p:spPr>
          <a:xfrm>
            <a:off x="8792626" y="4272048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7B715CD-3224-4170-B2D5-50BDA343E0D5}"/>
              </a:ext>
            </a:extLst>
          </p:cNvPr>
          <p:cNvSpPr/>
          <p:nvPr/>
        </p:nvSpPr>
        <p:spPr>
          <a:xfrm>
            <a:off x="10416987" y="4272048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546872-AC0F-49BA-AE4B-36BA7DED375A}"/>
              </a:ext>
            </a:extLst>
          </p:cNvPr>
          <p:cNvSpPr/>
          <p:nvPr/>
        </p:nvSpPr>
        <p:spPr>
          <a:xfrm>
            <a:off x="8792623" y="5420523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8003CEC-2135-4EA2-9E22-969FF8BE7EE3}"/>
              </a:ext>
            </a:extLst>
          </p:cNvPr>
          <p:cNvSpPr/>
          <p:nvPr/>
        </p:nvSpPr>
        <p:spPr>
          <a:xfrm>
            <a:off x="8591900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DE005-0277-4C17-BA23-F6F72AF89A50}"/>
              </a:ext>
            </a:extLst>
          </p:cNvPr>
          <p:cNvSpPr txBox="1"/>
          <p:nvPr/>
        </p:nvSpPr>
        <p:spPr>
          <a:xfrm>
            <a:off x="106680" y="76200"/>
            <a:ext cx="124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0.</a:t>
            </a:r>
            <a:endParaRPr lang="ko-KR" alt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666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C32627-FEDA-43C9-A518-79B722A54B15}"/>
              </a:ext>
            </a:extLst>
          </p:cNvPr>
          <p:cNvSpPr/>
          <p:nvPr/>
        </p:nvSpPr>
        <p:spPr>
          <a:xfrm>
            <a:off x="379142" y="1500629"/>
            <a:ext cx="1821366" cy="5056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Runtime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1CE950-8866-45D2-9D1C-5F7A9F2DDEFE}"/>
              </a:ext>
            </a:extLst>
          </p:cNvPr>
          <p:cNvSpPr/>
          <p:nvPr/>
        </p:nvSpPr>
        <p:spPr>
          <a:xfrm>
            <a:off x="2373147" y="1500629"/>
            <a:ext cx="2490439" cy="17247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SM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B3EFAE-A2C2-443B-B649-7639AC77A8AE}"/>
              </a:ext>
            </a:extLst>
          </p:cNvPr>
          <p:cNvSpPr/>
          <p:nvPr/>
        </p:nvSpPr>
        <p:spPr>
          <a:xfrm>
            <a:off x="2373471" y="3225351"/>
            <a:ext cx="2490439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Output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A1D956-DC96-48FD-8EBE-51D6578F1D4A}"/>
              </a:ext>
            </a:extLst>
          </p:cNvPr>
          <p:cNvSpPr/>
          <p:nvPr/>
        </p:nvSpPr>
        <p:spPr>
          <a:xfrm>
            <a:off x="2373471" y="4233507"/>
            <a:ext cx="2490439" cy="1008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Input 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0264E6-A8A7-4673-A69A-812B0BDBC3CC}"/>
              </a:ext>
            </a:extLst>
          </p:cNvPr>
          <p:cNvSpPr/>
          <p:nvPr/>
        </p:nvSpPr>
        <p:spPr>
          <a:xfrm>
            <a:off x="2373472" y="5241664"/>
            <a:ext cx="2490439" cy="1315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Temp Buffer</a:t>
            </a:r>
            <a:r>
              <a:rPr lang="ko-KR" altLang="en-US" sz="900">
                <a:solidFill>
                  <a:schemeClr val="tx1"/>
                </a:solidFill>
              </a:rPr>
              <a:t> 영역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3D9A22-9CE6-46B0-93D8-CD14B4ADAFA3}"/>
              </a:ext>
            </a:extLst>
          </p:cNvPr>
          <p:cNvSpPr/>
          <p:nvPr/>
        </p:nvSpPr>
        <p:spPr>
          <a:xfrm>
            <a:off x="730963" y="2076978"/>
            <a:ext cx="1196454" cy="563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model init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C70A57-B378-401E-9162-8F5A16694F42}"/>
              </a:ext>
            </a:extLst>
          </p:cNvPr>
          <p:cNvSpPr txBox="1"/>
          <p:nvPr/>
        </p:nvSpPr>
        <p:spPr>
          <a:xfrm>
            <a:off x="3004956" y="2247573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meta data</a:t>
            </a:r>
          </a:p>
          <a:p>
            <a:pPr algn="ctr"/>
            <a:r>
              <a:rPr lang="en-US" altLang="ko-KR" sz="900">
                <a:solidFill>
                  <a:srgbClr val="FF0000"/>
                </a:solidFill>
              </a:rPr>
              <a:t>(weight)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67510B-A068-498D-8C2F-298B83D3C11D}"/>
              </a:ext>
            </a:extLst>
          </p:cNvPr>
          <p:cNvSpPr txBox="1"/>
          <p:nvPr/>
        </p:nvSpPr>
        <p:spPr>
          <a:xfrm>
            <a:off x="800401" y="416837"/>
            <a:ext cx="29294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model init</a:t>
            </a:r>
          </a:p>
          <a:p>
            <a:r>
              <a:rPr lang="en-US" altLang="ko-KR" sz="900"/>
              <a:t>1. A Core</a:t>
            </a:r>
            <a:r>
              <a:rPr lang="ko-KR" altLang="en-US" sz="900"/>
              <a:t>에 </a:t>
            </a:r>
            <a:r>
              <a:rPr lang="en-US" altLang="ko-KR" sz="900"/>
              <a:t>weight eFlash</a:t>
            </a:r>
          </a:p>
          <a:p>
            <a:r>
              <a:rPr lang="en-US" altLang="ko-KR" sz="900"/>
              <a:t>2. SM</a:t>
            </a:r>
            <a:r>
              <a:rPr lang="ko-KR" altLang="en-US" sz="900"/>
              <a:t>에 </a:t>
            </a:r>
            <a:r>
              <a:rPr lang="en-US" altLang="ko-KR" sz="900"/>
              <a:t>meta data load (weight</a:t>
            </a:r>
            <a:r>
              <a:rPr lang="ko-KR" altLang="en-US" sz="900"/>
              <a:t>포함</a:t>
            </a:r>
            <a:r>
              <a:rPr lang="en-US" altLang="ko-KR" sz="900"/>
              <a:t>)</a:t>
            </a:r>
          </a:p>
          <a:p>
            <a:r>
              <a:rPr lang="en-US" altLang="ko-KR" sz="900"/>
              <a:t>3. queue</a:t>
            </a:r>
            <a:r>
              <a:rPr lang="ko-KR" altLang="en-US" sz="900"/>
              <a:t>에 </a:t>
            </a:r>
            <a:r>
              <a:rPr lang="en-US" altLang="ko-KR" sz="900"/>
              <a:t>queue bin load</a:t>
            </a:r>
          </a:p>
          <a:p>
            <a:r>
              <a:rPr lang="en-US" altLang="ko-KR" sz="900"/>
              <a:t>4. pc</a:t>
            </a:r>
            <a:r>
              <a:rPr lang="ko-KR" altLang="en-US" sz="900"/>
              <a:t>는 </a:t>
            </a:r>
            <a:r>
              <a:rPr lang="en-US" altLang="ko-KR" sz="900"/>
              <a:t>stop</a:t>
            </a:r>
            <a:r>
              <a:rPr lang="ko-KR" altLang="en-US" sz="900"/>
              <a:t>를 가리키고 있음</a:t>
            </a:r>
            <a:r>
              <a:rPr lang="en-US" altLang="ko-KR" sz="900"/>
              <a:t>. </a:t>
            </a:r>
            <a:endParaRPr lang="ko-KR" altLang="en-US" sz="9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F9A323-AB69-44D6-8FB9-484AFAC40286}"/>
              </a:ext>
            </a:extLst>
          </p:cNvPr>
          <p:cNvSpPr txBox="1"/>
          <p:nvPr/>
        </p:nvSpPr>
        <p:spPr>
          <a:xfrm>
            <a:off x="3162256" y="219449"/>
            <a:ext cx="566351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상세</a:t>
            </a:r>
            <a:endParaRPr lang="en-US" altLang="ko-KR" sz="900"/>
          </a:p>
          <a:p>
            <a:r>
              <a:rPr lang="en-US" altLang="ko-KR" sz="900"/>
              <a:t>1.1 Acore</a:t>
            </a:r>
            <a:r>
              <a:rPr lang="ko-KR" altLang="en-US" sz="900"/>
              <a:t>에 </a:t>
            </a:r>
            <a:r>
              <a:rPr lang="en-US" altLang="ko-KR" sz="900"/>
              <a:t>weight</a:t>
            </a:r>
            <a:r>
              <a:rPr lang="ko-KR" altLang="en-US" sz="900"/>
              <a:t>를 여러 개를 한 번에 올림 </a:t>
            </a:r>
            <a:r>
              <a:rPr lang="en-US" altLang="ko-KR" sz="900"/>
              <a:t>(4</a:t>
            </a:r>
            <a:r>
              <a:rPr lang="ko-KR" altLang="en-US" sz="900"/>
              <a:t>개</a:t>
            </a:r>
            <a:r>
              <a:rPr lang="en-US" altLang="ko-KR" sz="900"/>
              <a:t>, 5</a:t>
            </a:r>
            <a:r>
              <a:rPr lang="ko-KR" altLang="en-US" sz="900"/>
              <a:t>개가 될 수도 더 많아질 수도 있음</a:t>
            </a:r>
            <a:r>
              <a:rPr lang="en-US" altLang="ko-KR" sz="900"/>
              <a:t>)</a:t>
            </a:r>
          </a:p>
          <a:p>
            <a:r>
              <a:rPr lang="en-US" altLang="ko-KR" sz="900"/>
              <a:t>1.2 Acore</a:t>
            </a:r>
            <a:r>
              <a:rPr lang="ko-KR" altLang="en-US" sz="900"/>
              <a:t> 내의 </a:t>
            </a:r>
            <a:r>
              <a:rPr lang="en-US" altLang="ko-KR" sz="900"/>
              <a:t>weight </a:t>
            </a:r>
            <a:r>
              <a:rPr lang="ko-KR" altLang="en-US" sz="900"/>
              <a:t>시작주소와 크기는 컴파일러가 미리 정해 둠</a:t>
            </a:r>
            <a:endParaRPr lang="en-US" altLang="ko-KR" sz="900"/>
          </a:p>
          <a:p>
            <a:r>
              <a:rPr lang="en-US" altLang="ko-KR" sz="900"/>
              <a:t>2.1 </a:t>
            </a:r>
            <a:r>
              <a:rPr lang="ko-KR" altLang="en-US" sz="900"/>
              <a:t>각 </a:t>
            </a:r>
            <a:r>
              <a:rPr lang="en-US" altLang="ko-KR" sz="900"/>
              <a:t>meta data</a:t>
            </a:r>
            <a:r>
              <a:rPr lang="ko-KR" altLang="en-US" sz="900"/>
              <a:t>의 시작주소와 크기는 컴파일러가 미리 정해 둠</a:t>
            </a:r>
            <a:endParaRPr lang="en-US" altLang="ko-KR" sz="900"/>
          </a:p>
          <a:p>
            <a:r>
              <a:rPr lang="en-US" altLang="ko-KR" sz="900"/>
              <a:t>3.1 </a:t>
            </a:r>
            <a:r>
              <a:rPr lang="ko-KR" altLang="en-US" sz="900"/>
              <a:t>각 </a:t>
            </a:r>
            <a:r>
              <a:rPr lang="en-US" altLang="ko-KR" sz="900"/>
              <a:t>queue</a:t>
            </a:r>
            <a:r>
              <a:rPr lang="ko-KR" altLang="en-US" sz="900"/>
              <a:t>의 시작위치는 레지스터에 기록되어 있음</a:t>
            </a:r>
            <a:r>
              <a:rPr lang="en-US" altLang="ko-KR" sz="900"/>
              <a:t>. </a:t>
            </a:r>
            <a:r>
              <a:rPr lang="ko-KR" altLang="en-US" sz="900"/>
              <a:t>런타임은 이 주소를 읽어와 바이너리를 쓴다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3.2 </a:t>
            </a:r>
            <a:r>
              <a:rPr lang="ko-KR" altLang="en-US" sz="900"/>
              <a:t>각 </a:t>
            </a:r>
            <a:r>
              <a:rPr lang="en-US" altLang="ko-KR" sz="900"/>
              <a:t>queue</a:t>
            </a:r>
            <a:r>
              <a:rPr lang="ko-KR" altLang="en-US" sz="900"/>
              <a:t>의 </a:t>
            </a:r>
            <a:r>
              <a:rPr lang="en-US" altLang="ko-KR" sz="900"/>
              <a:t>pc</a:t>
            </a:r>
            <a:r>
              <a:rPr lang="ko-KR" altLang="en-US" sz="900"/>
              <a:t>가 초기에는 </a:t>
            </a:r>
            <a:r>
              <a:rPr lang="en-US" altLang="ko-KR" sz="900"/>
              <a:t>stop</a:t>
            </a:r>
            <a:r>
              <a:rPr lang="ko-KR" altLang="en-US" sz="900"/>
              <a:t>의 주소를 가지고 있음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4. binary</a:t>
            </a:r>
            <a:r>
              <a:rPr lang="ko-KR" altLang="en-US" sz="900"/>
              <a:t>의 첫 명령어줄은 </a:t>
            </a:r>
            <a:r>
              <a:rPr lang="en-US" altLang="ko-KR" sz="900"/>
              <a:t>stop</a:t>
            </a:r>
            <a:r>
              <a:rPr lang="ko-KR" altLang="en-US" sz="900"/>
              <a:t>이어야 함을 컴파일러가 보장</a:t>
            </a:r>
            <a:endParaRPr lang="en-US" altLang="ko-KR" sz="9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36AFF-A76C-41D8-82B4-29964313DAF7}"/>
              </a:ext>
            </a:extLst>
          </p:cNvPr>
          <p:cNvSpPr txBox="1"/>
          <p:nvPr/>
        </p:nvSpPr>
        <p:spPr>
          <a:xfrm>
            <a:off x="106680" y="76200"/>
            <a:ext cx="124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1. </a:t>
            </a:r>
            <a:r>
              <a:rPr lang="ko-KR" altLang="en-US" b="1">
                <a:solidFill>
                  <a:srgbClr val="C00000"/>
                </a:solidFill>
              </a:rPr>
              <a:t>초기화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09C88CD-42A0-4058-B197-3F87E0711F26}"/>
              </a:ext>
            </a:extLst>
          </p:cNvPr>
          <p:cNvSpPr/>
          <p:nvPr/>
        </p:nvSpPr>
        <p:spPr>
          <a:xfrm>
            <a:off x="5203903" y="277271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B22CE72-570B-405E-A1D6-19ED03E3FCAA}"/>
              </a:ext>
            </a:extLst>
          </p:cNvPr>
          <p:cNvSpPr/>
          <p:nvPr/>
        </p:nvSpPr>
        <p:spPr>
          <a:xfrm>
            <a:off x="6828264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CD9E25E-0DC3-48F1-AB11-CE45B66AF680}"/>
              </a:ext>
            </a:extLst>
          </p:cNvPr>
          <p:cNvSpPr/>
          <p:nvPr/>
        </p:nvSpPr>
        <p:spPr>
          <a:xfrm>
            <a:off x="5203903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4F0141E-C076-4BBC-A760-416606FE99E4}"/>
              </a:ext>
            </a:extLst>
          </p:cNvPr>
          <p:cNvSpPr/>
          <p:nvPr/>
        </p:nvSpPr>
        <p:spPr>
          <a:xfrm>
            <a:off x="5203910" y="4272048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414DFD9-A1AB-4BE5-81D1-588F4D099C6A}"/>
              </a:ext>
            </a:extLst>
          </p:cNvPr>
          <p:cNvSpPr/>
          <p:nvPr/>
        </p:nvSpPr>
        <p:spPr>
          <a:xfrm>
            <a:off x="5203907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BAC6AC3-A2E4-4FB3-9F75-8350AE21ACD1}"/>
              </a:ext>
            </a:extLst>
          </p:cNvPr>
          <p:cNvSpPr/>
          <p:nvPr/>
        </p:nvSpPr>
        <p:spPr>
          <a:xfrm>
            <a:off x="5003181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D7C9BB6-3EC7-4165-AF65-4E3430786026}"/>
              </a:ext>
            </a:extLst>
          </p:cNvPr>
          <p:cNvSpPr/>
          <p:nvPr/>
        </p:nvSpPr>
        <p:spPr>
          <a:xfrm>
            <a:off x="8792622" y="277271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6147B23-CE9A-4345-831F-B67788849325}"/>
              </a:ext>
            </a:extLst>
          </p:cNvPr>
          <p:cNvSpPr/>
          <p:nvPr/>
        </p:nvSpPr>
        <p:spPr>
          <a:xfrm>
            <a:off x="8792622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280B4B6-9DDA-4578-9B38-00A74C514FD1}"/>
              </a:ext>
            </a:extLst>
          </p:cNvPr>
          <p:cNvSpPr/>
          <p:nvPr/>
        </p:nvSpPr>
        <p:spPr>
          <a:xfrm>
            <a:off x="8591900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4403525-8D0D-4793-BAFF-2C22B626D065}"/>
              </a:ext>
            </a:extLst>
          </p:cNvPr>
          <p:cNvSpPr/>
          <p:nvPr/>
        </p:nvSpPr>
        <p:spPr>
          <a:xfrm>
            <a:off x="5003184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96F585F-2646-43AB-B245-2E59D73C6CA1}"/>
              </a:ext>
            </a:extLst>
          </p:cNvPr>
          <p:cNvSpPr/>
          <p:nvPr/>
        </p:nvSpPr>
        <p:spPr>
          <a:xfrm>
            <a:off x="8792626" y="4272048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4F6F51C-56F1-4C4C-A160-649591317B2E}"/>
              </a:ext>
            </a:extLst>
          </p:cNvPr>
          <p:cNvSpPr/>
          <p:nvPr/>
        </p:nvSpPr>
        <p:spPr>
          <a:xfrm>
            <a:off x="8792623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F12CE68-A786-4288-942B-13332A31249A}"/>
              </a:ext>
            </a:extLst>
          </p:cNvPr>
          <p:cNvSpPr/>
          <p:nvPr/>
        </p:nvSpPr>
        <p:spPr>
          <a:xfrm>
            <a:off x="8591900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451822-CC60-4CF4-B410-AC36B249F3EB}"/>
              </a:ext>
            </a:extLst>
          </p:cNvPr>
          <p:cNvSpPr txBox="1"/>
          <p:nvPr/>
        </p:nvSpPr>
        <p:spPr>
          <a:xfrm>
            <a:off x="5326473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meta data</a:t>
            </a:r>
          </a:p>
          <a:p>
            <a:pPr algn="ctr"/>
            <a:r>
              <a:rPr lang="en-US" altLang="ko-KR" sz="900">
                <a:solidFill>
                  <a:srgbClr val="FF0000"/>
                </a:solidFill>
              </a:rPr>
              <a:t>(weight)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F08306-D50B-48D8-9CB4-CEB040848BF0}"/>
              </a:ext>
            </a:extLst>
          </p:cNvPr>
          <p:cNvSpPr txBox="1"/>
          <p:nvPr/>
        </p:nvSpPr>
        <p:spPr>
          <a:xfrm>
            <a:off x="8915192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meta data</a:t>
            </a:r>
          </a:p>
          <a:p>
            <a:pPr algn="ctr"/>
            <a:r>
              <a:rPr lang="en-US" altLang="ko-KR" sz="900">
                <a:solidFill>
                  <a:srgbClr val="FF0000"/>
                </a:solidFill>
              </a:rPr>
              <a:t>(weight)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223DC0A-5CB5-4679-BA78-2F33F156E221}"/>
              </a:ext>
            </a:extLst>
          </p:cNvPr>
          <p:cNvSpPr/>
          <p:nvPr/>
        </p:nvSpPr>
        <p:spPr>
          <a:xfrm>
            <a:off x="7351884" y="1752600"/>
            <a:ext cx="893585" cy="1976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rgbClr val="FF0000"/>
                </a:solidFill>
              </a:rPr>
              <a:t>stop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layer_end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layer_end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...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epoch_commit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(loop_end_pc)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loop_jump</a:t>
            </a:r>
          </a:p>
          <a:p>
            <a:endParaRPr lang="en-US" altLang="ko-KR" sz="900">
              <a:solidFill>
                <a:srgbClr val="FF0000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ABC851F-70C0-4EFD-80D4-7753EA382212}"/>
              </a:ext>
            </a:extLst>
          </p:cNvPr>
          <p:cNvSpPr/>
          <p:nvPr/>
        </p:nvSpPr>
        <p:spPr>
          <a:xfrm>
            <a:off x="10416987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9711D89-79A8-47AB-B754-817218CC5394}"/>
              </a:ext>
            </a:extLst>
          </p:cNvPr>
          <p:cNvSpPr/>
          <p:nvPr/>
        </p:nvSpPr>
        <p:spPr>
          <a:xfrm>
            <a:off x="6828264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93BA325-579F-4090-86DF-C340B64F4156}"/>
              </a:ext>
            </a:extLst>
          </p:cNvPr>
          <p:cNvSpPr/>
          <p:nvPr/>
        </p:nvSpPr>
        <p:spPr>
          <a:xfrm>
            <a:off x="10416987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82272AC1-FC4A-47E8-AD7B-6E31C276849D}"/>
              </a:ext>
            </a:extLst>
          </p:cNvPr>
          <p:cNvCxnSpPr/>
          <p:nvPr/>
        </p:nvCxnSpPr>
        <p:spPr>
          <a:xfrm>
            <a:off x="6918960" y="1837476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B9737D6-B1A5-4866-BD43-621AE199ECC5}"/>
              </a:ext>
            </a:extLst>
          </p:cNvPr>
          <p:cNvCxnSpPr/>
          <p:nvPr/>
        </p:nvCxnSpPr>
        <p:spPr>
          <a:xfrm>
            <a:off x="10507980" y="1837476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91585DD-3FA9-4472-9DE4-0214C7740E19}"/>
              </a:ext>
            </a:extLst>
          </p:cNvPr>
          <p:cNvSpPr/>
          <p:nvPr/>
        </p:nvSpPr>
        <p:spPr>
          <a:xfrm>
            <a:off x="10957113" y="1752600"/>
            <a:ext cx="893585" cy="1976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rgbClr val="FF0000"/>
                </a:solidFill>
              </a:rPr>
              <a:t>stop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layer_end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layer_end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...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epoch_commit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(loop_end_pc)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loop_jump</a:t>
            </a:r>
          </a:p>
          <a:p>
            <a:endParaRPr lang="en-US" altLang="ko-KR" sz="900">
              <a:solidFill>
                <a:srgbClr val="FF0000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537BD01-EF8C-4BD8-84AA-336AA02F469F}"/>
              </a:ext>
            </a:extLst>
          </p:cNvPr>
          <p:cNvSpPr/>
          <p:nvPr/>
        </p:nvSpPr>
        <p:spPr>
          <a:xfrm>
            <a:off x="7351884" y="4385417"/>
            <a:ext cx="893585" cy="1976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rgbClr val="FF0000"/>
                </a:solidFill>
              </a:rPr>
              <a:t>stop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layer_end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layer_end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...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epoch_commit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(loop_end_pc)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loop_jump</a:t>
            </a:r>
          </a:p>
          <a:p>
            <a:endParaRPr lang="en-US" altLang="ko-KR" sz="900">
              <a:solidFill>
                <a:srgbClr val="FF0000"/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80D437D-5D89-4D05-8A34-9E1C5057EC63}"/>
              </a:ext>
            </a:extLst>
          </p:cNvPr>
          <p:cNvSpPr/>
          <p:nvPr/>
        </p:nvSpPr>
        <p:spPr>
          <a:xfrm>
            <a:off x="10957113" y="4385417"/>
            <a:ext cx="893585" cy="1976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rgbClr val="FF0000"/>
                </a:solidFill>
              </a:rPr>
              <a:t>stop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layer_end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layer_end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...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epoch_commit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(loop_end_pc)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loop_jump</a:t>
            </a:r>
          </a:p>
          <a:p>
            <a:endParaRPr lang="en-US" altLang="ko-KR" sz="900">
              <a:solidFill>
                <a:srgbClr val="FF0000"/>
              </a:solidFill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81E3C59-9649-4C60-B171-BE24F151E7BC}"/>
              </a:ext>
            </a:extLst>
          </p:cNvPr>
          <p:cNvCxnSpPr/>
          <p:nvPr/>
        </p:nvCxnSpPr>
        <p:spPr>
          <a:xfrm>
            <a:off x="6918960" y="4473996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58E58289-9FFF-47DB-8EC0-6140519B3E1C}"/>
              </a:ext>
            </a:extLst>
          </p:cNvPr>
          <p:cNvCxnSpPr/>
          <p:nvPr/>
        </p:nvCxnSpPr>
        <p:spPr>
          <a:xfrm>
            <a:off x="10507980" y="4473996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51CD8FCE-2887-4AC7-8FFF-D3328F1138B5}"/>
              </a:ext>
            </a:extLst>
          </p:cNvPr>
          <p:cNvCxnSpPr>
            <a:cxnSpLocks/>
          </p:cNvCxnSpPr>
          <p:nvPr/>
        </p:nvCxnSpPr>
        <p:spPr>
          <a:xfrm flipV="1">
            <a:off x="7764780" y="1201668"/>
            <a:ext cx="827117" cy="71857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41DEB41-9994-42BD-8193-5DEFF8FD0690}"/>
              </a:ext>
            </a:extLst>
          </p:cNvPr>
          <p:cNvSpPr txBox="1"/>
          <p:nvPr/>
        </p:nvSpPr>
        <p:spPr>
          <a:xfrm>
            <a:off x="8591900" y="58770"/>
            <a:ext cx="337912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loop</a:t>
            </a:r>
            <a:r>
              <a:rPr lang="ko-KR" altLang="en-US" sz="900" b="1"/>
              <a:t>의 의미가 구간 반복일 수도 있지만 아닐 것</a:t>
            </a:r>
            <a:r>
              <a:rPr lang="en-US" altLang="ko-KR" sz="900" b="1"/>
              <a:t>.</a:t>
            </a:r>
          </a:p>
          <a:p>
            <a:r>
              <a:rPr lang="ko-KR" altLang="en-US" sz="900" b="1"/>
              <a:t>하지만 구간 반복을 위해서는 적어도 둘 중 하나의 케이스에 해당해야 함</a:t>
            </a:r>
            <a:r>
              <a:rPr lang="en-US" altLang="ko-KR" sz="900" b="1"/>
              <a:t>.</a:t>
            </a:r>
          </a:p>
          <a:p>
            <a:r>
              <a:rPr lang="en-US" altLang="ko-KR" sz="900" b="1"/>
              <a:t>1. </a:t>
            </a:r>
            <a:r>
              <a:rPr lang="ko-KR" altLang="en-US" sz="900" b="1"/>
              <a:t>그래프가 </a:t>
            </a:r>
            <a:r>
              <a:rPr lang="en-US" altLang="ko-KR" sz="900" b="1"/>
              <a:t>Bi-Directional Graph </a:t>
            </a:r>
            <a:r>
              <a:rPr lang="ko-KR" altLang="en-US" sz="900" b="1"/>
              <a:t>여야 함 </a:t>
            </a:r>
            <a:r>
              <a:rPr lang="en-US" altLang="ko-KR" sz="900" b="1"/>
              <a:t>-&gt; </a:t>
            </a:r>
            <a:r>
              <a:rPr lang="ko-KR" altLang="en-US" sz="900" b="1"/>
              <a:t>인공지능 모델은 단방향 그래프</a:t>
            </a:r>
            <a:endParaRPr lang="en-US" altLang="ko-KR" sz="900" b="1"/>
          </a:p>
          <a:p>
            <a:r>
              <a:rPr lang="en-US" altLang="ko-KR" sz="900" b="1"/>
              <a:t>2. data fetch </a:t>
            </a:r>
            <a:r>
              <a:rPr lang="ko-KR" altLang="en-US" sz="900" b="1"/>
              <a:t>이전 단계에서 </a:t>
            </a:r>
            <a:r>
              <a:rPr lang="en-US" altLang="ko-KR" sz="900" b="1"/>
              <a:t>cache to register</a:t>
            </a:r>
            <a:r>
              <a:rPr lang="ko-KR" altLang="en-US" sz="900" b="1"/>
              <a:t>를 사용할 수 있어야 의미가 있음</a:t>
            </a:r>
            <a:r>
              <a:rPr lang="en-US" altLang="ko-KR" sz="900" b="1"/>
              <a:t>. -&gt; </a:t>
            </a:r>
            <a:r>
              <a:rPr lang="ko-KR" altLang="en-US" sz="900" b="1"/>
              <a:t>긴 명령어 체계를 사용하면서</a:t>
            </a:r>
            <a:r>
              <a:rPr lang="en-US" altLang="ko-KR" sz="900" b="1"/>
              <a:t>, </a:t>
            </a:r>
            <a:r>
              <a:rPr lang="ko-KR" altLang="en-US" sz="900" b="1"/>
              <a:t>이 기능이 없음</a:t>
            </a:r>
            <a:endParaRPr lang="en-US" altLang="ko-KR" sz="900" b="1"/>
          </a:p>
          <a:p>
            <a:r>
              <a:rPr lang="ko-KR" altLang="en-US" sz="900" b="1"/>
              <a:t>결론 </a:t>
            </a:r>
            <a:r>
              <a:rPr lang="en-US" altLang="ko-KR" sz="900" b="1"/>
              <a:t>: loop</a:t>
            </a:r>
            <a:r>
              <a:rPr lang="ko-KR" altLang="en-US" sz="900" b="1"/>
              <a:t>가 작은 구간반복을 위한 </a:t>
            </a:r>
            <a:r>
              <a:rPr lang="en-US" altLang="ko-KR" sz="900" b="1"/>
              <a:t>command</a:t>
            </a:r>
            <a:r>
              <a:rPr lang="ko-KR" altLang="en-US" sz="900" b="1"/>
              <a:t>는 아닐 것</a:t>
            </a:r>
          </a:p>
        </p:txBody>
      </p:sp>
    </p:spTree>
    <p:extLst>
      <p:ext uri="{BB962C8B-B14F-4D97-AF65-F5344CB8AC3E}">
        <p14:creationId xmlns:p14="http://schemas.microsoft.com/office/powerpoint/2010/main" val="2156834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C32627-FEDA-43C9-A518-79B722A54B15}"/>
              </a:ext>
            </a:extLst>
          </p:cNvPr>
          <p:cNvSpPr/>
          <p:nvPr/>
        </p:nvSpPr>
        <p:spPr>
          <a:xfrm>
            <a:off x="379142" y="1500629"/>
            <a:ext cx="1821366" cy="5056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Runtime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1CE950-8866-45D2-9D1C-5F7A9F2DDEFE}"/>
              </a:ext>
            </a:extLst>
          </p:cNvPr>
          <p:cNvSpPr/>
          <p:nvPr/>
        </p:nvSpPr>
        <p:spPr>
          <a:xfrm>
            <a:off x="2373147" y="1500629"/>
            <a:ext cx="2490439" cy="17247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SM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B3EFAE-A2C2-443B-B649-7639AC77A8AE}"/>
              </a:ext>
            </a:extLst>
          </p:cNvPr>
          <p:cNvSpPr/>
          <p:nvPr/>
        </p:nvSpPr>
        <p:spPr>
          <a:xfrm>
            <a:off x="2373471" y="3225351"/>
            <a:ext cx="2490439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Output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A1D956-DC96-48FD-8EBE-51D6578F1D4A}"/>
              </a:ext>
            </a:extLst>
          </p:cNvPr>
          <p:cNvSpPr/>
          <p:nvPr/>
        </p:nvSpPr>
        <p:spPr>
          <a:xfrm>
            <a:off x="2373471" y="4503420"/>
            <a:ext cx="2490439" cy="7382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Input Buffer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0264E6-A8A7-4673-A69A-812B0BDBC3CC}"/>
              </a:ext>
            </a:extLst>
          </p:cNvPr>
          <p:cNvSpPr/>
          <p:nvPr/>
        </p:nvSpPr>
        <p:spPr>
          <a:xfrm>
            <a:off x="2373472" y="5241664"/>
            <a:ext cx="2490439" cy="1315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Temp Buffer</a:t>
            </a:r>
            <a:r>
              <a:rPr lang="ko-KR" altLang="en-US" sz="900">
                <a:solidFill>
                  <a:schemeClr val="tx1"/>
                </a:solidFill>
              </a:rPr>
              <a:t>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3BDC3-91AF-4E7D-A0FD-4D4D6B5195F9}"/>
              </a:ext>
            </a:extLst>
          </p:cNvPr>
          <p:cNvSpPr/>
          <p:nvPr/>
        </p:nvSpPr>
        <p:spPr>
          <a:xfrm>
            <a:off x="6828264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020291-90E0-4B27-9C12-0B12C468B90A}"/>
              </a:ext>
            </a:extLst>
          </p:cNvPr>
          <p:cNvSpPr/>
          <p:nvPr/>
        </p:nvSpPr>
        <p:spPr>
          <a:xfrm>
            <a:off x="5203903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4F342-3CFB-4905-8673-542548CE6D84}"/>
              </a:ext>
            </a:extLst>
          </p:cNvPr>
          <p:cNvSpPr/>
          <p:nvPr/>
        </p:nvSpPr>
        <p:spPr>
          <a:xfrm>
            <a:off x="5203907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9E5938-A150-42DE-8163-F89797E386A2}"/>
              </a:ext>
            </a:extLst>
          </p:cNvPr>
          <p:cNvSpPr/>
          <p:nvPr/>
        </p:nvSpPr>
        <p:spPr>
          <a:xfrm>
            <a:off x="5003181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F9A1E0-F683-4370-AF0A-D9DC5E6FE64E}"/>
              </a:ext>
            </a:extLst>
          </p:cNvPr>
          <p:cNvSpPr/>
          <p:nvPr/>
        </p:nvSpPr>
        <p:spPr>
          <a:xfrm>
            <a:off x="8792622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878BCE-A57F-4DEE-A99A-AA7F4D8CD1EA}"/>
              </a:ext>
            </a:extLst>
          </p:cNvPr>
          <p:cNvSpPr/>
          <p:nvPr/>
        </p:nvSpPr>
        <p:spPr>
          <a:xfrm>
            <a:off x="8591900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27E8A3-35B9-4239-B0D3-C537852664FE}"/>
              </a:ext>
            </a:extLst>
          </p:cNvPr>
          <p:cNvSpPr/>
          <p:nvPr/>
        </p:nvSpPr>
        <p:spPr>
          <a:xfrm>
            <a:off x="5003184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546872-AC0F-49BA-AE4B-36BA7DED375A}"/>
              </a:ext>
            </a:extLst>
          </p:cNvPr>
          <p:cNvSpPr/>
          <p:nvPr/>
        </p:nvSpPr>
        <p:spPr>
          <a:xfrm>
            <a:off x="8792623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8003CEC-2135-4EA2-9E22-969FF8BE7EE3}"/>
              </a:ext>
            </a:extLst>
          </p:cNvPr>
          <p:cNvSpPr/>
          <p:nvPr/>
        </p:nvSpPr>
        <p:spPr>
          <a:xfrm>
            <a:off x="8591900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3D9A22-9CE6-46B0-93D8-CD14B4ADAFA3}"/>
              </a:ext>
            </a:extLst>
          </p:cNvPr>
          <p:cNvSpPr/>
          <p:nvPr/>
        </p:nvSpPr>
        <p:spPr>
          <a:xfrm>
            <a:off x="734720" y="2706731"/>
            <a:ext cx="1192693" cy="1526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1 : NPU Start thread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pre-process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rgbClr val="FF0000"/>
                </a:solidFill>
              </a:rPr>
              <a:t>register check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Input Write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C70A57-B378-401E-9162-8F5A16694F42}"/>
              </a:ext>
            </a:extLst>
          </p:cNvPr>
          <p:cNvSpPr txBox="1"/>
          <p:nvPr/>
        </p:nvSpPr>
        <p:spPr>
          <a:xfrm>
            <a:off x="3004956" y="2247573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72620C-E600-4E43-92D4-C16976FBEF47}"/>
              </a:ext>
            </a:extLst>
          </p:cNvPr>
          <p:cNvSpPr txBox="1"/>
          <p:nvPr/>
        </p:nvSpPr>
        <p:spPr>
          <a:xfrm>
            <a:off x="5326473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meta data</a:t>
            </a:r>
          </a:p>
          <a:p>
            <a:pPr algn="ctr"/>
            <a:r>
              <a:rPr lang="en-US" altLang="ko-KR" sz="900">
                <a:solidFill>
                  <a:srgbClr val="FF0000"/>
                </a:solidFill>
              </a:rPr>
              <a:t>(weight)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47A52-D139-4C5D-8906-68D3FE168810}"/>
              </a:ext>
            </a:extLst>
          </p:cNvPr>
          <p:cNvSpPr txBox="1"/>
          <p:nvPr/>
        </p:nvSpPr>
        <p:spPr>
          <a:xfrm>
            <a:off x="8915192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meta data</a:t>
            </a:r>
          </a:p>
          <a:p>
            <a:pPr algn="ctr"/>
            <a:r>
              <a:rPr lang="en-US" altLang="ko-KR" sz="900">
                <a:solidFill>
                  <a:srgbClr val="FF0000"/>
                </a:solidFill>
              </a:rPr>
              <a:t>(weight)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0CE681-EEE6-4ABA-8D00-368CE7F820FD}"/>
              </a:ext>
            </a:extLst>
          </p:cNvPr>
          <p:cNvSpPr/>
          <p:nvPr/>
        </p:nvSpPr>
        <p:spPr>
          <a:xfrm>
            <a:off x="7351884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4A4A9BB-8398-441D-A63F-28ED6C44A443}"/>
              </a:ext>
            </a:extLst>
          </p:cNvPr>
          <p:cNvSpPr/>
          <p:nvPr/>
        </p:nvSpPr>
        <p:spPr>
          <a:xfrm>
            <a:off x="10416987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2F2E0E-8339-431A-A501-2A9BFBD32B19}"/>
              </a:ext>
            </a:extLst>
          </p:cNvPr>
          <p:cNvSpPr/>
          <p:nvPr/>
        </p:nvSpPr>
        <p:spPr>
          <a:xfrm>
            <a:off x="6828264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E8CDBB-9B70-47C3-879D-C4CEEF0B23DA}"/>
              </a:ext>
            </a:extLst>
          </p:cNvPr>
          <p:cNvSpPr/>
          <p:nvPr/>
        </p:nvSpPr>
        <p:spPr>
          <a:xfrm>
            <a:off x="10416987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8AFA1F9-FA83-430D-9DCF-B2C0DC5E44D3}"/>
              </a:ext>
            </a:extLst>
          </p:cNvPr>
          <p:cNvCxnSpPr/>
          <p:nvPr/>
        </p:nvCxnSpPr>
        <p:spPr>
          <a:xfrm>
            <a:off x="6918960" y="1982256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A396177-FBA9-435D-91E4-B0E65BE65B0B}"/>
              </a:ext>
            </a:extLst>
          </p:cNvPr>
          <p:cNvCxnSpPr/>
          <p:nvPr/>
        </p:nvCxnSpPr>
        <p:spPr>
          <a:xfrm>
            <a:off x="10507980" y="1982256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167510B-A068-498D-8C2F-298B83D3C11D}"/>
              </a:ext>
            </a:extLst>
          </p:cNvPr>
          <p:cNvSpPr txBox="1"/>
          <p:nvPr/>
        </p:nvSpPr>
        <p:spPr>
          <a:xfrm>
            <a:off x="245543" y="418696"/>
            <a:ext cx="45945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NPU</a:t>
            </a:r>
            <a:r>
              <a:rPr lang="ko-KR" altLang="en-US" sz="900"/>
              <a:t> 시작</a:t>
            </a:r>
            <a:endParaRPr lang="en-US" altLang="ko-KR" sz="900"/>
          </a:p>
          <a:p>
            <a:r>
              <a:rPr lang="en-US" altLang="ko-KR" sz="900"/>
              <a:t>input</a:t>
            </a:r>
            <a:r>
              <a:rPr lang="ko-KR" altLang="en-US" sz="900"/>
              <a:t>을 입력하는 </a:t>
            </a:r>
            <a:r>
              <a:rPr lang="en-US" altLang="ko-KR" sz="900"/>
              <a:t>thread</a:t>
            </a:r>
            <a:r>
              <a:rPr lang="ko-KR" altLang="en-US" sz="900"/>
              <a:t>와 </a:t>
            </a:r>
            <a:r>
              <a:rPr lang="en-US" altLang="ko-KR" sz="900"/>
              <a:t>output</a:t>
            </a:r>
            <a:r>
              <a:rPr lang="ko-KR" altLang="en-US" sz="900"/>
              <a:t>의 후처리를 하는 </a:t>
            </a:r>
            <a:r>
              <a:rPr lang="en-US" altLang="ko-KR" sz="900"/>
              <a:t>thread</a:t>
            </a:r>
            <a:r>
              <a:rPr lang="ko-KR" altLang="en-US" sz="900"/>
              <a:t>를 연다</a:t>
            </a:r>
            <a:r>
              <a:rPr lang="en-US" altLang="ko-KR" sz="900"/>
              <a:t>. </a:t>
            </a:r>
          </a:p>
          <a:p>
            <a:r>
              <a:rPr lang="en-US" altLang="ko-KR" sz="900"/>
              <a:t>(thread</a:t>
            </a:r>
            <a:r>
              <a:rPr lang="ko-KR" altLang="en-US" sz="900"/>
              <a:t>까지 계획하지는 않았겠지만</a:t>
            </a:r>
            <a:r>
              <a:rPr lang="en-US" altLang="ko-KR" sz="900"/>
              <a:t>, </a:t>
            </a:r>
            <a:r>
              <a:rPr lang="ko-KR" altLang="en-US" sz="900"/>
              <a:t>이 동작을 하려면 </a:t>
            </a:r>
            <a:r>
              <a:rPr lang="en-US" altLang="ko-KR" sz="900"/>
              <a:t>thread</a:t>
            </a:r>
            <a:r>
              <a:rPr lang="ko-KR" altLang="en-US" sz="900"/>
              <a:t>나 </a:t>
            </a:r>
            <a:r>
              <a:rPr lang="en-US" altLang="ko-KR" sz="900"/>
              <a:t>event</a:t>
            </a:r>
            <a:r>
              <a:rPr lang="ko-KR" altLang="en-US" sz="900"/>
              <a:t>처리가 필요</a:t>
            </a:r>
            <a:r>
              <a:rPr lang="en-US" altLang="ko-KR" sz="900"/>
              <a:t>)</a:t>
            </a:r>
          </a:p>
          <a:p>
            <a:r>
              <a:rPr lang="en-US" altLang="ko-KR" sz="900"/>
              <a:t>1. start thread</a:t>
            </a:r>
            <a:r>
              <a:rPr lang="ko-KR" altLang="en-US" sz="900"/>
              <a:t>는 </a:t>
            </a:r>
            <a:r>
              <a:rPr lang="en-US" altLang="ko-KR" sz="900"/>
              <a:t>Input Buffer Enable</a:t>
            </a:r>
            <a:r>
              <a:rPr lang="ko-KR" altLang="en-US" sz="900"/>
              <a:t> </a:t>
            </a:r>
            <a:r>
              <a:rPr lang="en-US" altLang="ko-KR" sz="900"/>
              <a:t>Register</a:t>
            </a:r>
            <a:r>
              <a:rPr lang="ko-KR" altLang="en-US" sz="900"/>
              <a:t>를 체크하고</a:t>
            </a:r>
            <a:r>
              <a:rPr lang="en-US" altLang="ko-KR" sz="900"/>
              <a:t>, 1</a:t>
            </a:r>
            <a:r>
              <a:rPr lang="ko-KR" altLang="en-US" sz="900"/>
              <a:t>이면 </a:t>
            </a:r>
            <a:r>
              <a:rPr lang="en-US" altLang="ko-KR" sz="900"/>
              <a:t>Input</a:t>
            </a:r>
            <a:r>
              <a:rPr lang="ko-KR" altLang="en-US" sz="900"/>
              <a:t>을 쓴다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2. Stop</a:t>
            </a:r>
            <a:r>
              <a:rPr lang="ko-KR" altLang="en-US" sz="900"/>
              <a:t> </a:t>
            </a:r>
            <a:r>
              <a:rPr lang="en-US" altLang="ko-KR" sz="900"/>
              <a:t>Register</a:t>
            </a:r>
            <a:r>
              <a:rPr lang="ko-KR" altLang="en-US" sz="900"/>
              <a:t>가 </a:t>
            </a:r>
            <a:r>
              <a:rPr lang="en-US" altLang="ko-KR" sz="900"/>
              <a:t>1</a:t>
            </a:r>
            <a:r>
              <a:rPr lang="ko-KR" altLang="en-US" sz="900"/>
              <a:t>인경우</a:t>
            </a:r>
            <a:r>
              <a:rPr lang="en-US" altLang="ko-KR" sz="900"/>
              <a:t>, 0</a:t>
            </a:r>
            <a:r>
              <a:rPr lang="ko-KR" altLang="en-US" sz="900"/>
              <a:t>으로 만들고 모든 </a:t>
            </a:r>
            <a:r>
              <a:rPr lang="en-US" altLang="ko-KR" sz="900"/>
              <a:t>queue</a:t>
            </a:r>
            <a:r>
              <a:rPr lang="ko-KR" altLang="en-US" sz="900"/>
              <a:t>의 </a:t>
            </a:r>
            <a:r>
              <a:rPr lang="en-US" altLang="ko-KR" sz="900"/>
              <a:t>pc</a:t>
            </a:r>
            <a:r>
              <a:rPr lang="ko-KR" altLang="en-US" sz="900"/>
              <a:t>를 </a:t>
            </a:r>
            <a:r>
              <a:rPr lang="en-US" altLang="ko-KR" sz="900"/>
              <a:t>loop_start_pc</a:t>
            </a:r>
            <a:r>
              <a:rPr lang="ko-KR" altLang="en-US" sz="900"/>
              <a:t>로 옮긴다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3. complete thread</a:t>
            </a:r>
            <a:r>
              <a:rPr lang="ko-KR" altLang="en-US" sz="900"/>
              <a:t>는 </a:t>
            </a:r>
            <a:r>
              <a:rPr lang="en-US" altLang="ko-KR" sz="900"/>
              <a:t>Output Buffer Enable Register</a:t>
            </a:r>
            <a:r>
              <a:rPr lang="ko-KR" altLang="en-US" sz="900"/>
              <a:t>를 체크하고</a:t>
            </a:r>
            <a:r>
              <a:rPr lang="en-US" altLang="ko-KR" sz="900"/>
              <a:t>, 1</a:t>
            </a:r>
            <a:r>
              <a:rPr lang="ko-KR" altLang="en-US" sz="900"/>
              <a:t>이면 이후 프로세스를 진행한다</a:t>
            </a:r>
            <a:r>
              <a:rPr lang="en-US" altLang="ko-KR" sz="900"/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36AFF-A76C-41D8-82B4-29964313DAF7}"/>
              </a:ext>
            </a:extLst>
          </p:cNvPr>
          <p:cNvSpPr txBox="1"/>
          <p:nvPr/>
        </p:nvSpPr>
        <p:spPr>
          <a:xfrm>
            <a:off x="106680" y="76200"/>
            <a:ext cx="124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2. </a:t>
            </a:r>
            <a:r>
              <a:rPr lang="ko-KR" altLang="en-US" b="1">
                <a:solidFill>
                  <a:srgbClr val="C00000"/>
                </a:solidFill>
              </a:rPr>
              <a:t>시작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4DC2C7-39CE-47A1-BFD0-36F71C5E6BCA}"/>
              </a:ext>
            </a:extLst>
          </p:cNvPr>
          <p:cNvSpPr/>
          <p:nvPr/>
        </p:nvSpPr>
        <p:spPr>
          <a:xfrm>
            <a:off x="10957113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8CF8557-2483-460E-9798-DC027B8A7518}"/>
              </a:ext>
            </a:extLst>
          </p:cNvPr>
          <p:cNvSpPr/>
          <p:nvPr/>
        </p:nvSpPr>
        <p:spPr>
          <a:xfrm>
            <a:off x="7351884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F76514E-180D-472E-BC8F-C5551B530D8E}"/>
              </a:ext>
            </a:extLst>
          </p:cNvPr>
          <p:cNvSpPr/>
          <p:nvPr/>
        </p:nvSpPr>
        <p:spPr>
          <a:xfrm>
            <a:off x="10957113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BC61AC-6042-43B8-9F74-B3E84CE0ABA4}"/>
              </a:ext>
            </a:extLst>
          </p:cNvPr>
          <p:cNvCxnSpPr/>
          <p:nvPr/>
        </p:nvCxnSpPr>
        <p:spPr>
          <a:xfrm>
            <a:off x="6918960" y="461279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C035BC4-D078-45D8-A844-1A2A8354CBD5}"/>
              </a:ext>
            </a:extLst>
          </p:cNvPr>
          <p:cNvCxnSpPr/>
          <p:nvPr/>
        </p:nvCxnSpPr>
        <p:spPr>
          <a:xfrm>
            <a:off x="10507980" y="462803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30097B5-C455-46DD-A41D-E138C305BD18}"/>
              </a:ext>
            </a:extLst>
          </p:cNvPr>
          <p:cNvSpPr/>
          <p:nvPr/>
        </p:nvSpPr>
        <p:spPr>
          <a:xfrm>
            <a:off x="731467" y="4503420"/>
            <a:ext cx="1195946" cy="1635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2 : NPU complete thread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rgbClr val="FF0000"/>
                </a:solidFill>
              </a:rPr>
              <a:t>register check : complete reg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post-process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A4958C0-D16F-4E3E-999B-0665750A5A10}"/>
              </a:ext>
            </a:extLst>
          </p:cNvPr>
          <p:cNvSpPr/>
          <p:nvPr/>
        </p:nvSpPr>
        <p:spPr>
          <a:xfrm>
            <a:off x="2367961" y="4233506"/>
            <a:ext cx="2490439" cy="26991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>
                <a:solidFill>
                  <a:srgbClr val="FFFF00"/>
                </a:solidFill>
              </a:rPr>
              <a:t>SemaPhore Entry</a:t>
            </a:r>
            <a:endParaRPr lang="ko-KR" altLang="en-US" sz="900" b="1">
              <a:solidFill>
                <a:srgbClr val="FFFF0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5761F76-56A4-465A-B80A-A156CCF643D6}"/>
              </a:ext>
            </a:extLst>
          </p:cNvPr>
          <p:cNvSpPr/>
          <p:nvPr/>
        </p:nvSpPr>
        <p:spPr>
          <a:xfrm>
            <a:off x="10251443" y="100760"/>
            <a:ext cx="906780" cy="64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Reg : Input Buffer Enable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B242185-1DD0-43E3-B8B5-11F417F729BC}"/>
              </a:ext>
            </a:extLst>
          </p:cNvPr>
          <p:cNvSpPr/>
          <p:nvPr/>
        </p:nvSpPr>
        <p:spPr>
          <a:xfrm>
            <a:off x="9297545" y="97273"/>
            <a:ext cx="906780" cy="64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Reg : Output Buffer Enable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037DDF-4190-48E2-BD91-CA956659D0BD}"/>
              </a:ext>
            </a:extLst>
          </p:cNvPr>
          <p:cNvSpPr txBox="1"/>
          <p:nvPr/>
        </p:nvSpPr>
        <p:spPr>
          <a:xfrm>
            <a:off x="4746686" y="43819"/>
            <a:ext cx="4594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상세</a:t>
            </a:r>
            <a:endParaRPr lang="en-US" altLang="ko-KR" sz="900"/>
          </a:p>
          <a:p>
            <a:r>
              <a:rPr lang="en-US" altLang="ko-KR" sz="900"/>
              <a:t>1.1 input</a:t>
            </a:r>
            <a:r>
              <a:rPr lang="ko-KR" altLang="en-US" sz="900"/>
              <a:t>을 </a:t>
            </a:r>
            <a:r>
              <a:rPr lang="en-US" altLang="ko-KR" sz="900"/>
              <a:t>SM</a:t>
            </a:r>
            <a:r>
              <a:rPr lang="ko-KR" altLang="en-US" sz="900"/>
              <a:t>에 </a:t>
            </a:r>
            <a:r>
              <a:rPr lang="en-US" altLang="ko-KR" sz="900"/>
              <a:t>load</a:t>
            </a:r>
            <a:r>
              <a:rPr lang="ko-KR" altLang="en-US" sz="900"/>
              <a:t>할 때</a:t>
            </a:r>
            <a:r>
              <a:rPr lang="en-US" altLang="ko-KR" sz="900"/>
              <a:t>, </a:t>
            </a:r>
            <a:r>
              <a:rPr lang="ko-KR" altLang="en-US" sz="900"/>
              <a:t>해당 주소에 </a:t>
            </a:r>
            <a:r>
              <a:rPr lang="en-US" altLang="ko-KR" sz="900"/>
              <a:t>SemaPhore Entry</a:t>
            </a:r>
            <a:r>
              <a:rPr lang="ko-KR" altLang="en-US" sz="900"/>
              <a:t>를 세팅한다</a:t>
            </a:r>
            <a:r>
              <a:rPr lang="en-US" altLang="ko-KR" sz="900"/>
              <a:t>. </a:t>
            </a:r>
          </a:p>
          <a:p>
            <a:r>
              <a:rPr lang="en-US" altLang="ko-KR" sz="900"/>
              <a:t>1.2 SemaPhore Entry</a:t>
            </a:r>
            <a:r>
              <a:rPr lang="ko-KR" altLang="en-US" sz="900"/>
              <a:t>에 읽기 참조 카운터를 설정한다</a:t>
            </a:r>
            <a:r>
              <a:rPr lang="en-US" altLang="ko-KR" sz="900"/>
              <a:t>. </a:t>
            </a:r>
            <a:r>
              <a:rPr lang="ko-KR" altLang="en-US" sz="900"/>
              <a:t>이 값은 컴파일타임에 결정된다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1.3 </a:t>
            </a:r>
            <a:r>
              <a:rPr lang="ko-KR" altLang="en-US" sz="900"/>
              <a:t>읽기 참조 카운터가 </a:t>
            </a:r>
            <a:r>
              <a:rPr lang="en-US" altLang="ko-KR" sz="900"/>
              <a:t>0</a:t>
            </a:r>
            <a:r>
              <a:rPr lang="ko-KR" altLang="en-US" sz="900"/>
              <a:t>이되면 </a:t>
            </a:r>
            <a:r>
              <a:rPr lang="en-US" altLang="ko-KR" sz="900"/>
              <a:t>Input Buffer Enable Register</a:t>
            </a:r>
            <a:r>
              <a:rPr lang="ko-KR" altLang="en-US" sz="900"/>
              <a:t>를 </a:t>
            </a:r>
            <a:r>
              <a:rPr lang="en-US" altLang="ko-KR" sz="900"/>
              <a:t>1</a:t>
            </a:r>
            <a:r>
              <a:rPr lang="ko-KR" altLang="en-US" sz="900"/>
              <a:t>로 만든다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2.1 loop_end_pc</a:t>
            </a:r>
            <a:r>
              <a:rPr lang="ko-KR" altLang="en-US" sz="900"/>
              <a:t>에서 </a:t>
            </a:r>
            <a:r>
              <a:rPr lang="en-US" altLang="ko-KR" sz="900"/>
              <a:t>Loop Counter Register</a:t>
            </a:r>
            <a:r>
              <a:rPr lang="ko-KR" altLang="en-US" sz="900"/>
              <a:t>와 </a:t>
            </a:r>
            <a:r>
              <a:rPr lang="en-US" altLang="ko-KR" sz="900"/>
              <a:t>loop_count</a:t>
            </a:r>
            <a:r>
              <a:rPr lang="ko-KR" altLang="en-US" sz="900"/>
              <a:t>를 비교하여 </a:t>
            </a:r>
            <a:r>
              <a:rPr lang="en-US" altLang="ko-KR" sz="900"/>
              <a:t>stop</a:t>
            </a:r>
            <a:r>
              <a:rPr lang="ko-KR" altLang="en-US" sz="900"/>
              <a:t>또는 </a:t>
            </a:r>
            <a:r>
              <a:rPr lang="en-US" altLang="ko-KR" sz="900"/>
              <a:t>loop_start_pc</a:t>
            </a:r>
            <a:r>
              <a:rPr lang="ko-KR" altLang="en-US" sz="900"/>
              <a:t>로 이동한다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3.1 </a:t>
            </a:r>
            <a:r>
              <a:rPr lang="ko-KR" altLang="en-US" sz="900"/>
              <a:t>각 </a:t>
            </a:r>
            <a:r>
              <a:rPr lang="en-US" altLang="ko-KR" sz="900"/>
              <a:t>core</a:t>
            </a:r>
            <a:r>
              <a:rPr lang="ko-KR" altLang="en-US" sz="900"/>
              <a:t>의 </a:t>
            </a:r>
            <a:r>
              <a:rPr lang="en-US" altLang="ko-KR" sz="900"/>
              <a:t>pc</a:t>
            </a:r>
            <a:r>
              <a:rPr lang="ko-KR" altLang="en-US" sz="900"/>
              <a:t>는 </a:t>
            </a:r>
            <a:r>
              <a:rPr lang="en-US" altLang="ko-KR" sz="900"/>
              <a:t>loop_end_pc</a:t>
            </a:r>
            <a:r>
              <a:rPr lang="ko-KR" altLang="en-US" sz="900"/>
              <a:t>에 도착하면 </a:t>
            </a:r>
            <a:r>
              <a:rPr lang="en-US" altLang="ko-KR" sz="900"/>
              <a:t>Queue Complete Counter Register</a:t>
            </a:r>
            <a:r>
              <a:rPr lang="ko-KR" altLang="en-US" sz="900"/>
              <a:t>를 </a:t>
            </a:r>
            <a:r>
              <a:rPr lang="en-US" altLang="ko-KR" sz="900"/>
              <a:t>1 </a:t>
            </a:r>
            <a:r>
              <a:rPr lang="ko-KR" altLang="en-US" sz="900"/>
              <a:t>증가시킨다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3.2 Queue Complete Counter Register</a:t>
            </a:r>
            <a:r>
              <a:rPr lang="ko-KR" altLang="en-US" sz="900"/>
              <a:t>가 코어 개수와 같아지면 </a:t>
            </a:r>
            <a:r>
              <a:rPr lang="en-US" altLang="ko-KR" sz="900"/>
              <a:t>0</a:t>
            </a:r>
            <a:r>
              <a:rPr lang="ko-KR" altLang="en-US" sz="900"/>
              <a:t>으로 초기화하고 </a:t>
            </a:r>
            <a:r>
              <a:rPr lang="en-US" altLang="ko-KR" sz="900"/>
              <a:t>Output Buffer Enable Register</a:t>
            </a:r>
            <a:r>
              <a:rPr lang="ko-KR" altLang="en-US" sz="900"/>
              <a:t>를 </a:t>
            </a:r>
            <a:r>
              <a:rPr lang="en-US" altLang="ko-KR" sz="900"/>
              <a:t>1</a:t>
            </a:r>
            <a:r>
              <a:rPr lang="ko-KR" altLang="en-US" sz="900"/>
              <a:t>로 만든다</a:t>
            </a:r>
            <a:r>
              <a:rPr lang="en-US" altLang="ko-KR" sz="900"/>
              <a:t>. Loop Counter Register</a:t>
            </a:r>
            <a:r>
              <a:rPr lang="ko-KR" altLang="en-US" sz="900"/>
              <a:t>를 </a:t>
            </a:r>
            <a:r>
              <a:rPr lang="en-US" altLang="ko-KR" sz="900"/>
              <a:t>1 </a:t>
            </a:r>
            <a:r>
              <a:rPr lang="ko-KR" altLang="en-US" sz="900"/>
              <a:t>증가시킨다</a:t>
            </a:r>
            <a:r>
              <a:rPr lang="en-US" altLang="ko-KR" sz="900"/>
              <a:t>.</a:t>
            </a:r>
            <a:endParaRPr lang="ko-KR" altLang="en-US" sz="90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E140E7A-6796-485A-A30E-0DB47F0F2F52}"/>
              </a:ext>
            </a:extLst>
          </p:cNvPr>
          <p:cNvSpPr/>
          <p:nvPr/>
        </p:nvSpPr>
        <p:spPr>
          <a:xfrm>
            <a:off x="9297544" y="790813"/>
            <a:ext cx="906780" cy="64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Reg : Queue Complete Counter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DDF8203-0C7F-4EE0-9C39-115761B4244D}"/>
              </a:ext>
            </a:extLst>
          </p:cNvPr>
          <p:cNvSpPr/>
          <p:nvPr/>
        </p:nvSpPr>
        <p:spPr>
          <a:xfrm>
            <a:off x="10251443" y="797092"/>
            <a:ext cx="906780" cy="64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Reg : Stop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69899F1-2A72-47B2-9250-4DA88C0A7B6B}"/>
              </a:ext>
            </a:extLst>
          </p:cNvPr>
          <p:cNvSpPr/>
          <p:nvPr/>
        </p:nvSpPr>
        <p:spPr>
          <a:xfrm>
            <a:off x="11205341" y="102197"/>
            <a:ext cx="906780" cy="64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Reg : Loop Counter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B0DFDEE-3002-4194-B1A7-70B179804994}"/>
              </a:ext>
            </a:extLst>
          </p:cNvPr>
          <p:cNvSpPr/>
          <p:nvPr/>
        </p:nvSpPr>
        <p:spPr>
          <a:xfrm>
            <a:off x="5203903" y="277271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38BA755-2A3E-4C3C-9288-C71113410A30}"/>
              </a:ext>
            </a:extLst>
          </p:cNvPr>
          <p:cNvSpPr/>
          <p:nvPr/>
        </p:nvSpPr>
        <p:spPr>
          <a:xfrm>
            <a:off x="5203910" y="4272048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94C2338-04B1-4FCB-ADC6-9781C1DE7F10}"/>
              </a:ext>
            </a:extLst>
          </p:cNvPr>
          <p:cNvSpPr/>
          <p:nvPr/>
        </p:nvSpPr>
        <p:spPr>
          <a:xfrm>
            <a:off x="8792622" y="277271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203B331-1A28-4A3D-9978-C09E5F0B9FC4}"/>
              </a:ext>
            </a:extLst>
          </p:cNvPr>
          <p:cNvSpPr/>
          <p:nvPr/>
        </p:nvSpPr>
        <p:spPr>
          <a:xfrm>
            <a:off x="8792626" y="4272048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20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38F189-B3E9-4CBA-A99E-707D5C372193}"/>
              </a:ext>
            </a:extLst>
          </p:cNvPr>
          <p:cNvSpPr txBox="1"/>
          <p:nvPr/>
        </p:nvSpPr>
        <p:spPr>
          <a:xfrm>
            <a:off x="106680" y="76200"/>
            <a:ext cx="230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### </a:t>
            </a:r>
            <a:r>
              <a:rPr lang="ko-KR" altLang="en-US" b="1">
                <a:solidFill>
                  <a:srgbClr val="C00000"/>
                </a:solidFill>
              </a:rPr>
              <a:t>제안</a:t>
            </a:r>
            <a:r>
              <a:rPr lang="en-US" altLang="ko-KR" b="1">
                <a:solidFill>
                  <a:srgbClr val="C00000"/>
                </a:solidFill>
              </a:rPr>
              <a:t>1</a:t>
            </a:r>
            <a:endParaRPr lang="ko-KR" altLang="en-US" b="1">
              <a:solidFill>
                <a:srgbClr val="C0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898AAB-05DD-425F-9636-A59BC868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" y="1163002"/>
            <a:ext cx="3928110" cy="1528419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CB60B73-E256-48CF-98BC-6F80DA3338D0}"/>
              </a:ext>
            </a:extLst>
          </p:cNvPr>
          <p:cNvCxnSpPr/>
          <p:nvPr/>
        </p:nvCxnSpPr>
        <p:spPr>
          <a:xfrm>
            <a:off x="4366260" y="1783080"/>
            <a:ext cx="830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FF3189-A774-4254-AB30-3E6085461A85}"/>
              </a:ext>
            </a:extLst>
          </p:cNvPr>
          <p:cNvSpPr txBox="1"/>
          <p:nvPr/>
        </p:nvSpPr>
        <p:spPr>
          <a:xfrm>
            <a:off x="5429252" y="1061085"/>
            <a:ext cx="313182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SM semaphore Entry</a:t>
            </a:r>
            <a:r>
              <a:rPr lang="ko-KR" altLang="en-US" sz="1000"/>
              <a:t>에 </a:t>
            </a:r>
            <a:r>
              <a:rPr lang="en-US" altLang="ko-KR" sz="1000"/>
              <a:t>counter</a:t>
            </a:r>
            <a:r>
              <a:rPr lang="ko-KR" altLang="en-US" sz="1000"/>
              <a:t>까지 추가</a:t>
            </a:r>
            <a:endParaRPr lang="en-US" altLang="ko-KR" sz="1000"/>
          </a:p>
          <a:p>
            <a:r>
              <a:rPr lang="en-US" altLang="ko-KR" sz="1000"/>
              <a:t>read_ptr,</a:t>
            </a:r>
            <a:r>
              <a:rPr lang="ko-KR" altLang="en-US" sz="1000"/>
              <a:t> </a:t>
            </a:r>
            <a:r>
              <a:rPr lang="en-US" altLang="ko-KR" sz="1000"/>
              <a:t>read_valid_size</a:t>
            </a:r>
            <a:r>
              <a:rPr lang="ko-KR" altLang="en-US" sz="1000"/>
              <a:t>는 필요없음 </a:t>
            </a:r>
            <a:r>
              <a:rPr lang="en-US" altLang="ko-KR" sz="1000"/>
              <a:t>-&gt; </a:t>
            </a:r>
            <a:r>
              <a:rPr lang="ko-KR" altLang="en-US" sz="1000"/>
              <a:t>동적 컴파일링에서 메모리를 아껴주는 효과가 있지만 정적컴파일러는 그 효과를 포기하고 참조 카운터와 스케줄링으로 해결</a:t>
            </a:r>
            <a:endParaRPr lang="en-US" altLang="ko-KR" sz="1000"/>
          </a:p>
          <a:p>
            <a:endParaRPr lang="en-US" altLang="ko-KR" sz="1000"/>
          </a:p>
          <a:p>
            <a:r>
              <a:rPr lang="en-US" altLang="ko-KR" sz="1000">
                <a:solidFill>
                  <a:srgbClr val="FF0000"/>
                </a:solidFill>
              </a:rPr>
              <a:t>(96bit)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write_ptr (32bit)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strike="sngStrike">
                <a:solidFill>
                  <a:srgbClr val="FF0000"/>
                </a:solidFill>
              </a:rPr>
              <a:t>read_ptr (32bit)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write_valid_size (16bit)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strike="sngStrike">
                <a:solidFill>
                  <a:srgbClr val="FF0000"/>
                </a:solidFill>
              </a:rPr>
              <a:t>read_valid_size (16bit)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data_position (32bit)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FF0000"/>
                </a:solidFill>
              </a:rPr>
              <a:t>write_reference_counter(4bit)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FF0000"/>
                </a:solidFill>
              </a:rPr>
              <a:t>read_reference_counter (4bit)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rgbClr val="FF0000"/>
                </a:solidFill>
              </a:rPr>
              <a:t>semaphore ID (8bit)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1C29E-0155-409B-BF33-C3E68F738235}"/>
              </a:ext>
            </a:extLst>
          </p:cNvPr>
          <p:cNvSpPr txBox="1"/>
          <p:nvPr/>
        </p:nvSpPr>
        <p:spPr>
          <a:xfrm>
            <a:off x="300990" y="445532"/>
            <a:ext cx="85610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하나의 데이터가 여러 번 참조될 수 있음</a:t>
            </a:r>
            <a:r>
              <a:rPr lang="en-US" altLang="ko-KR" sz="1000"/>
              <a:t>. (fan-out </a:t>
            </a:r>
            <a:r>
              <a:rPr lang="ko-KR" altLang="en-US" sz="1000"/>
              <a:t>문제를 여기로 가져온다 </a:t>
            </a:r>
            <a:r>
              <a:rPr lang="en-US" altLang="ko-KR" sz="1000"/>
              <a:t>: read_reference_coutner</a:t>
            </a:r>
            <a:r>
              <a:rPr lang="ko-KR" altLang="en-US" sz="1000"/>
              <a:t>를 이용하여 해결</a:t>
            </a:r>
            <a:r>
              <a:rPr lang="en-US" altLang="ko-KR" sz="1000"/>
              <a:t>)</a:t>
            </a:r>
          </a:p>
          <a:p>
            <a:r>
              <a:rPr lang="ko-KR" altLang="en-US" sz="1000"/>
              <a:t>하나의 데이터를 여러 코어가 제작할 수 있음</a:t>
            </a:r>
            <a:r>
              <a:rPr lang="en-US" altLang="ko-KR" sz="1000"/>
              <a:t>. (fan-in </a:t>
            </a:r>
            <a:r>
              <a:rPr lang="ko-KR" altLang="en-US" sz="1000"/>
              <a:t>문제를 여기로 가져온다 </a:t>
            </a:r>
            <a:r>
              <a:rPr lang="en-US" altLang="ko-KR" sz="1000"/>
              <a:t>: write_reference_coutner</a:t>
            </a:r>
            <a:r>
              <a:rPr lang="ko-KR" altLang="en-US" sz="1000"/>
              <a:t>를 이용하여 해결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 -&gt; write_reference_counter</a:t>
            </a:r>
            <a:r>
              <a:rPr lang="ko-KR" altLang="en-US" sz="1000"/>
              <a:t>에서 공간이 중복되지 않게</a:t>
            </a:r>
            <a:r>
              <a:rPr lang="en-US" altLang="ko-KR" sz="1000"/>
              <a:t>, </a:t>
            </a:r>
            <a:r>
              <a:rPr lang="ko-KR" altLang="en-US" sz="1000"/>
              <a:t>빠지지 않게 채우는 것은 컴파일러 책임으로 한다</a:t>
            </a:r>
            <a:r>
              <a:rPr lang="en-US" altLang="ko-KR" sz="1000"/>
              <a:t>.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EA34A7-0BDA-4703-963A-5D4F800B9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74" y="3068288"/>
            <a:ext cx="3703131" cy="3591591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E1618E0-27C2-4EF0-A63F-CD74AC738EF4}"/>
              </a:ext>
            </a:extLst>
          </p:cNvPr>
          <p:cNvCxnSpPr>
            <a:cxnSpLocks/>
          </p:cNvCxnSpPr>
          <p:nvPr/>
        </p:nvCxnSpPr>
        <p:spPr>
          <a:xfrm flipV="1">
            <a:off x="1935480" y="4922520"/>
            <a:ext cx="2750820" cy="1623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1500550-4AF9-407E-A306-710D200F116B}"/>
              </a:ext>
            </a:extLst>
          </p:cNvPr>
          <p:cNvSpPr txBox="1"/>
          <p:nvPr/>
        </p:nvSpPr>
        <p:spPr>
          <a:xfrm>
            <a:off x="4686300" y="4260800"/>
            <a:ext cx="31318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</a:rPr>
              <a:t>4</a:t>
            </a:r>
            <a:r>
              <a:rPr lang="ko-KR" altLang="en-US" sz="1000">
                <a:solidFill>
                  <a:srgbClr val="FF0000"/>
                </a:solidFill>
              </a:rPr>
              <a:t>개 비트는 </a:t>
            </a:r>
            <a:r>
              <a:rPr lang="en-US" altLang="ko-KR" sz="1000">
                <a:solidFill>
                  <a:srgbClr val="FF0000"/>
                </a:solidFill>
              </a:rPr>
              <a:t>write_reference_count</a:t>
            </a:r>
            <a:r>
              <a:rPr lang="ko-KR" altLang="en-US" sz="1000">
                <a:solidFill>
                  <a:srgbClr val="FF0000"/>
                </a:solidFill>
              </a:rPr>
              <a:t>로 사용 </a:t>
            </a:r>
            <a:r>
              <a:rPr lang="en-US" altLang="ko-KR" sz="1000">
                <a:solidFill>
                  <a:srgbClr val="FF0000"/>
                </a:solidFill>
              </a:rPr>
              <a:t>: SM</a:t>
            </a:r>
            <a:r>
              <a:rPr lang="ko-KR" altLang="en-US" sz="1000">
                <a:solidFill>
                  <a:srgbClr val="FF0000"/>
                </a:solidFill>
              </a:rPr>
              <a:t>에 데이터를 쓸 경우</a:t>
            </a:r>
            <a:r>
              <a:rPr lang="en-US" altLang="ko-KR" sz="1000">
                <a:solidFill>
                  <a:srgbClr val="FF0000"/>
                </a:solidFill>
              </a:rPr>
              <a:t>, write_reference_count</a:t>
            </a:r>
            <a:r>
              <a:rPr lang="ko-KR" altLang="en-US" sz="1000">
                <a:solidFill>
                  <a:srgbClr val="FF0000"/>
                </a:solidFill>
              </a:rPr>
              <a:t>가 설정한 값보다 작다면 </a:t>
            </a:r>
            <a:r>
              <a:rPr lang="en-US" altLang="ko-KR" sz="1000">
                <a:solidFill>
                  <a:srgbClr val="FF0000"/>
                </a:solidFill>
              </a:rPr>
              <a:t>1</a:t>
            </a:r>
            <a:r>
              <a:rPr lang="ko-KR" altLang="en-US" sz="1000">
                <a:solidFill>
                  <a:srgbClr val="FF0000"/>
                </a:solidFill>
              </a:rPr>
              <a:t>증가</a:t>
            </a:r>
            <a:r>
              <a:rPr lang="en-US" altLang="ko-KR" sz="1000">
                <a:solidFill>
                  <a:srgbClr val="FF0000"/>
                </a:solidFill>
              </a:rPr>
              <a:t>, </a:t>
            </a:r>
            <a:r>
              <a:rPr lang="ko-KR" altLang="en-US" sz="1000">
                <a:solidFill>
                  <a:srgbClr val="FF0000"/>
                </a:solidFill>
              </a:rPr>
              <a:t>설정한 값과 같다면 </a:t>
            </a:r>
            <a:r>
              <a:rPr lang="en-US" altLang="ko-KR" sz="1000">
                <a:solidFill>
                  <a:srgbClr val="FF0000"/>
                </a:solidFill>
              </a:rPr>
              <a:t>0</a:t>
            </a:r>
            <a:r>
              <a:rPr lang="ko-KR" altLang="en-US" sz="1000">
                <a:solidFill>
                  <a:srgbClr val="FF0000"/>
                </a:solidFill>
              </a:rPr>
              <a:t>으로 만든다</a:t>
            </a:r>
            <a:r>
              <a:rPr lang="en-US" altLang="ko-KR" sz="1000">
                <a:solidFill>
                  <a:srgbClr val="FF0000"/>
                </a:solidFill>
              </a:rPr>
              <a:t>.</a:t>
            </a:r>
          </a:p>
          <a:p>
            <a:endParaRPr lang="en-US" altLang="ko-KR" sz="1000">
              <a:solidFill>
                <a:srgbClr val="FF0000"/>
              </a:solidFill>
            </a:endParaRPr>
          </a:p>
          <a:p>
            <a:r>
              <a:rPr lang="en-US" altLang="ko-KR" sz="1000">
                <a:solidFill>
                  <a:srgbClr val="FF0000"/>
                </a:solidFill>
              </a:rPr>
              <a:t>4</a:t>
            </a:r>
            <a:r>
              <a:rPr lang="ko-KR" altLang="en-US" sz="1000">
                <a:solidFill>
                  <a:srgbClr val="FF0000"/>
                </a:solidFill>
              </a:rPr>
              <a:t>개 비트는 </a:t>
            </a:r>
            <a:r>
              <a:rPr lang="en-US" altLang="ko-KR" sz="1000">
                <a:solidFill>
                  <a:srgbClr val="FF0000"/>
                </a:solidFill>
              </a:rPr>
              <a:t>read_reference_count</a:t>
            </a:r>
            <a:r>
              <a:rPr lang="ko-KR" altLang="en-US" sz="1000">
                <a:solidFill>
                  <a:srgbClr val="FF0000"/>
                </a:solidFill>
              </a:rPr>
              <a:t>로 사용 </a:t>
            </a:r>
            <a:r>
              <a:rPr lang="en-US" altLang="ko-KR" sz="1000">
                <a:solidFill>
                  <a:srgbClr val="FF0000"/>
                </a:solidFill>
              </a:rPr>
              <a:t>: SM</a:t>
            </a:r>
            <a:r>
              <a:rPr lang="ko-KR" altLang="en-US" sz="1000">
                <a:solidFill>
                  <a:srgbClr val="FF0000"/>
                </a:solidFill>
              </a:rPr>
              <a:t>에 데이터를 쓸 경우</a:t>
            </a:r>
            <a:r>
              <a:rPr lang="en-US" altLang="ko-KR" sz="1000">
                <a:solidFill>
                  <a:srgbClr val="FF0000"/>
                </a:solidFill>
              </a:rPr>
              <a:t>, read_reference_counter</a:t>
            </a:r>
            <a:r>
              <a:rPr lang="ko-KR" altLang="en-US" sz="1000">
                <a:solidFill>
                  <a:srgbClr val="FF0000"/>
                </a:solidFill>
              </a:rPr>
              <a:t>에 몇 번 참조되어야 해제되는지 기록</a:t>
            </a:r>
            <a:r>
              <a:rPr lang="en-US" altLang="ko-KR" sz="1000">
                <a:solidFill>
                  <a:srgbClr val="FF0000"/>
                </a:solidFill>
              </a:rPr>
              <a:t>. </a:t>
            </a:r>
          </a:p>
          <a:p>
            <a:endParaRPr lang="en-US" altLang="ko-KR" sz="1000">
              <a:solidFill>
                <a:srgbClr val="FF0000"/>
              </a:solidFill>
            </a:endParaRPr>
          </a:p>
          <a:p>
            <a:r>
              <a:rPr lang="ko-KR" altLang="en-US" sz="1000">
                <a:solidFill>
                  <a:srgbClr val="FF0000"/>
                </a:solidFill>
              </a:rPr>
              <a:t>데이터를 읽어갈 경우</a:t>
            </a:r>
            <a:r>
              <a:rPr lang="en-US" altLang="ko-KR" sz="1000">
                <a:solidFill>
                  <a:srgbClr val="FF0000"/>
                </a:solidFill>
              </a:rPr>
              <a:t>, write_reference_counter</a:t>
            </a:r>
            <a:r>
              <a:rPr lang="ko-KR" altLang="en-US" sz="1000">
                <a:solidFill>
                  <a:srgbClr val="FF0000"/>
                </a:solidFill>
              </a:rPr>
              <a:t>가 </a:t>
            </a:r>
            <a:r>
              <a:rPr lang="en-US" altLang="ko-KR" sz="1000">
                <a:solidFill>
                  <a:srgbClr val="FF0000"/>
                </a:solidFill>
              </a:rPr>
              <a:t>0</a:t>
            </a:r>
            <a:r>
              <a:rPr lang="ko-KR" altLang="en-US" sz="1000">
                <a:solidFill>
                  <a:srgbClr val="FF0000"/>
                </a:solidFill>
              </a:rPr>
              <a:t>인 것을 확인한다</a:t>
            </a:r>
            <a:r>
              <a:rPr lang="en-US" altLang="ko-KR" sz="1000">
                <a:solidFill>
                  <a:srgbClr val="FF0000"/>
                </a:solidFill>
              </a:rPr>
              <a:t>. </a:t>
            </a:r>
            <a:r>
              <a:rPr lang="ko-KR" altLang="en-US" sz="1000">
                <a:solidFill>
                  <a:srgbClr val="FF0000"/>
                </a:solidFill>
              </a:rPr>
              <a:t>하드웨어가 읽기 참조 카운터를 </a:t>
            </a:r>
            <a:r>
              <a:rPr lang="en-US" altLang="ko-KR" sz="1000">
                <a:solidFill>
                  <a:srgbClr val="FF0000"/>
                </a:solidFill>
              </a:rPr>
              <a:t>1</a:t>
            </a:r>
            <a:r>
              <a:rPr lang="ko-KR" altLang="en-US" sz="1000">
                <a:solidFill>
                  <a:srgbClr val="FF0000"/>
                </a:solidFill>
              </a:rPr>
              <a:t>감소</a:t>
            </a:r>
            <a:endParaRPr lang="en-US" altLang="ko-KR" sz="1000">
              <a:solidFill>
                <a:srgbClr val="FF0000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B5449FE-626C-4200-B23F-F8B56D9AFDB1}"/>
              </a:ext>
            </a:extLst>
          </p:cNvPr>
          <p:cNvCxnSpPr/>
          <p:nvPr/>
        </p:nvCxnSpPr>
        <p:spPr>
          <a:xfrm>
            <a:off x="7597140" y="3068288"/>
            <a:ext cx="830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1E71058-F263-4E46-AF0A-D1937AE5686F}"/>
              </a:ext>
            </a:extLst>
          </p:cNvPr>
          <p:cNvSpPr txBox="1"/>
          <p:nvPr/>
        </p:nvSpPr>
        <p:spPr>
          <a:xfrm>
            <a:off x="8435344" y="2721114"/>
            <a:ext cx="3131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</a:rPr>
              <a:t>SM semaphore Entry</a:t>
            </a:r>
            <a:r>
              <a:rPr lang="ko-KR" altLang="en-US" sz="1000">
                <a:solidFill>
                  <a:srgbClr val="FF0000"/>
                </a:solidFill>
              </a:rPr>
              <a:t>에 대해 동작에 레이턴시가 우려된다면 레지스터로 구현해도 괜찮은데</a:t>
            </a:r>
            <a:r>
              <a:rPr lang="en-US" altLang="ko-KR" sz="1000">
                <a:solidFill>
                  <a:srgbClr val="FF0000"/>
                </a:solidFill>
              </a:rPr>
              <a:t>, </a:t>
            </a:r>
            <a:r>
              <a:rPr lang="ko-KR" altLang="en-US" sz="1000">
                <a:solidFill>
                  <a:srgbClr val="FF0000"/>
                </a:solidFill>
              </a:rPr>
              <a:t>그 개수에 대해서 논의해봐야 함</a:t>
            </a:r>
            <a:r>
              <a:rPr lang="en-US" altLang="ko-KR" sz="1000">
                <a:solidFill>
                  <a:srgbClr val="FF0000"/>
                </a:solidFill>
              </a:rPr>
              <a:t>. + </a:t>
            </a:r>
            <a:r>
              <a:rPr lang="ko-KR" altLang="en-US" sz="1000">
                <a:solidFill>
                  <a:srgbClr val="FF0000"/>
                </a:solidFill>
              </a:rPr>
              <a:t>드라이버가 값을 변경할 수 있어야 함</a:t>
            </a:r>
            <a:r>
              <a:rPr lang="en-US" altLang="ko-KR" sz="1000">
                <a:solidFill>
                  <a:srgbClr val="FF0000"/>
                </a:solidFill>
              </a:rPr>
              <a:t>. (</a:t>
            </a:r>
            <a:r>
              <a:rPr lang="ko-KR" altLang="en-US" sz="1000">
                <a:solidFill>
                  <a:srgbClr val="FF0000"/>
                </a:solidFill>
              </a:rPr>
              <a:t>초기설정에 필요</a:t>
            </a:r>
            <a:r>
              <a:rPr lang="en-US" altLang="ko-KR" sz="100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1970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C32627-FEDA-43C9-A518-79B722A54B15}"/>
              </a:ext>
            </a:extLst>
          </p:cNvPr>
          <p:cNvSpPr/>
          <p:nvPr/>
        </p:nvSpPr>
        <p:spPr>
          <a:xfrm>
            <a:off x="379142" y="1500629"/>
            <a:ext cx="1821366" cy="5056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Runtime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1CE950-8866-45D2-9D1C-5F7A9F2DDEFE}"/>
              </a:ext>
            </a:extLst>
          </p:cNvPr>
          <p:cNvSpPr/>
          <p:nvPr/>
        </p:nvSpPr>
        <p:spPr>
          <a:xfrm>
            <a:off x="2373147" y="1500629"/>
            <a:ext cx="2490439" cy="17247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SM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B3EFAE-A2C2-443B-B649-7639AC77A8AE}"/>
              </a:ext>
            </a:extLst>
          </p:cNvPr>
          <p:cNvSpPr/>
          <p:nvPr/>
        </p:nvSpPr>
        <p:spPr>
          <a:xfrm>
            <a:off x="2373471" y="3225351"/>
            <a:ext cx="2490439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Output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A1D956-DC96-48FD-8EBE-51D6578F1D4A}"/>
              </a:ext>
            </a:extLst>
          </p:cNvPr>
          <p:cNvSpPr/>
          <p:nvPr/>
        </p:nvSpPr>
        <p:spPr>
          <a:xfrm>
            <a:off x="2373471" y="4503420"/>
            <a:ext cx="2490439" cy="7382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Input Buffer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0264E6-A8A7-4673-A69A-812B0BDBC3CC}"/>
              </a:ext>
            </a:extLst>
          </p:cNvPr>
          <p:cNvSpPr/>
          <p:nvPr/>
        </p:nvSpPr>
        <p:spPr>
          <a:xfrm>
            <a:off x="2373472" y="5241664"/>
            <a:ext cx="2490439" cy="1315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Temp Buffer</a:t>
            </a:r>
            <a:r>
              <a:rPr lang="ko-KR" altLang="en-US" sz="900">
                <a:solidFill>
                  <a:schemeClr val="tx1"/>
                </a:solidFill>
              </a:rPr>
              <a:t>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3BDC3-91AF-4E7D-A0FD-4D4D6B5195F9}"/>
              </a:ext>
            </a:extLst>
          </p:cNvPr>
          <p:cNvSpPr/>
          <p:nvPr/>
        </p:nvSpPr>
        <p:spPr>
          <a:xfrm>
            <a:off x="6828264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020291-90E0-4B27-9C12-0B12C468B90A}"/>
              </a:ext>
            </a:extLst>
          </p:cNvPr>
          <p:cNvSpPr/>
          <p:nvPr/>
        </p:nvSpPr>
        <p:spPr>
          <a:xfrm>
            <a:off x="5203903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4F342-3CFB-4905-8673-542548CE6D84}"/>
              </a:ext>
            </a:extLst>
          </p:cNvPr>
          <p:cNvSpPr/>
          <p:nvPr/>
        </p:nvSpPr>
        <p:spPr>
          <a:xfrm>
            <a:off x="5203907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9E5938-A150-42DE-8163-F89797E386A2}"/>
              </a:ext>
            </a:extLst>
          </p:cNvPr>
          <p:cNvSpPr/>
          <p:nvPr/>
        </p:nvSpPr>
        <p:spPr>
          <a:xfrm>
            <a:off x="5003181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F9A1E0-F683-4370-AF0A-D9DC5E6FE64E}"/>
              </a:ext>
            </a:extLst>
          </p:cNvPr>
          <p:cNvSpPr/>
          <p:nvPr/>
        </p:nvSpPr>
        <p:spPr>
          <a:xfrm>
            <a:off x="8792622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878BCE-A57F-4DEE-A99A-AA7F4D8CD1EA}"/>
              </a:ext>
            </a:extLst>
          </p:cNvPr>
          <p:cNvSpPr/>
          <p:nvPr/>
        </p:nvSpPr>
        <p:spPr>
          <a:xfrm>
            <a:off x="8591900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27E8A3-35B9-4239-B0D3-C537852664FE}"/>
              </a:ext>
            </a:extLst>
          </p:cNvPr>
          <p:cNvSpPr/>
          <p:nvPr/>
        </p:nvSpPr>
        <p:spPr>
          <a:xfrm>
            <a:off x="5003184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546872-AC0F-49BA-AE4B-36BA7DED375A}"/>
              </a:ext>
            </a:extLst>
          </p:cNvPr>
          <p:cNvSpPr/>
          <p:nvPr/>
        </p:nvSpPr>
        <p:spPr>
          <a:xfrm>
            <a:off x="8792623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8003CEC-2135-4EA2-9E22-969FF8BE7EE3}"/>
              </a:ext>
            </a:extLst>
          </p:cNvPr>
          <p:cNvSpPr/>
          <p:nvPr/>
        </p:nvSpPr>
        <p:spPr>
          <a:xfrm>
            <a:off x="8591900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3D9A22-9CE6-46B0-93D8-CD14B4ADAFA3}"/>
              </a:ext>
            </a:extLst>
          </p:cNvPr>
          <p:cNvSpPr/>
          <p:nvPr/>
        </p:nvSpPr>
        <p:spPr>
          <a:xfrm>
            <a:off x="734720" y="2706731"/>
            <a:ext cx="1192693" cy="1526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1 : NPU Start thread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pre-process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register check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Input Write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C70A57-B378-401E-9162-8F5A16694F42}"/>
              </a:ext>
            </a:extLst>
          </p:cNvPr>
          <p:cNvSpPr txBox="1"/>
          <p:nvPr/>
        </p:nvSpPr>
        <p:spPr>
          <a:xfrm>
            <a:off x="3004956" y="2247573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72620C-E600-4E43-92D4-C16976FBEF47}"/>
              </a:ext>
            </a:extLst>
          </p:cNvPr>
          <p:cNvSpPr txBox="1"/>
          <p:nvPr/>
        </p:nvSpPr>
        <p:spPr>
          <a:xfrm>
            <a:off x="5326473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47A52-D139-4C5D-8906-68D3FE168810}"/>
              </a:ext>
            </a:extLst>
          </p:cNvPr>
          <p:cNvSpPr txBox="1"/>
          <p:nvPr/>
        </p:nvSpPr>
        <p:spPr>
          <a:xfrm>
            <a:off x="8915192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0CE681-EEE6-4ABA-8D00-368CE7F820FD}"/>
              </a:ext>
            </a:extLst>
          </p:cNvPr>
          <p:cNvSpPr/>
          <p:nvPr/>
        </p:nvSpPr>
        <p:spPr>
          <a:xfrm>
            <a:off x="7351884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4A4A9BB-8398-441D-A63F-28ED6C44A443}"/>
              </a:ext>
            </a:extLst>
          </p:cNvPr>
          <p:cNvSpPr/>
          <p:nvPr/>
        </p:nvSpPr>
        <p:spPr>
          <a:xfrm>
            <a:off x="10416987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2F2E0E-8339-431A-A501-2A9BFBD32B19}"/>
              </a:ext>
            </a:extLst>
          </p:cNvPr>
          <p:cNvSpPr/>
          <p:nvPr/>
        </p:nvSpPr>
        <p:spPr>
          <a:xfrm>
            <a:off x="6828264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E8CDBB-9B70-47C3-879D-C4CEEF0B23DA}"/>
              </a:ext>
            </a:extLst>
          </p:cNvPr>
          <p:cNvSpPr/>
          <p:nvPr/>
        </p:nvSpPr>
        <p:spPr>
          <a:xfrm>
            <a:off x="10416987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8AFA1F9-FA83-430D-9DCF-B2C0DC5E44D3}"/>
              </a:ext>
            </a:extLst>
          </p:cNvPr>
          <p:cNvCxnSpPr/>
          <p:nvPr/>
        </p:nvCxnSpPr>
        <p:spPr>
          <a:xfrm>
            <a:off x="6918960" y="2088936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A396177-FBA9-435D-91E4-B0E65BE65B0B}"/>
              </a:ext>
            </a:extLst>
          </p:cNvPr>
          <p:cNvCxnSpPr/>
          <p:nvPr/>
        </p:nvCxnSpPr>
        <p:spPr>
          <a:xfrm>
            <a:off x="10507980" y="2088936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167510B-A068-498D-8C2F-298B83D3C11D}"/>
              </a:ext>
            </a:extLst>
          </p:cNvPr>
          <p:cNvSpPr txBox="1"/>
          <p:nvPr/>
        </p:nvSpPr>
        <p:spPr>
          <a:xfrm>
            <a:off x="245543" y="418696"/>
            <a:ext cx="459456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Layer Start</a:t>
            </a:r>
          </a:p>
          <a:p>
            <a:r>
              <a:rPr lang="en-US" altLang="ko-KR" sz="900"/>
              <a:t>0. queue</a:t>
            </a:r>
            <a:r>
              <a:rPr lang="ko-KR" altLang="en-US" sz="900"/>
              <a:t>에서 </a:t>
            </a:r>
            <a:r>
              <a:rPr lang="en-US" altLang="ko-KR" sz="900"/>
              <a:t>pc</a:t>
            </a:r>
            <a:r>
              <a:rPr lang="ko-KR" altLang="en-US" sz="900"/>
              <a:t>를 옮기는 것은 </a:t>
            </a:r>
            <a:r>
              <a:rPr lang="en-US" altLang="ko-KR" sz="900"/>
              <a:t>queue-engine</a:t>
            </a:r>
            <a:r>
              <a:rPr lang="ko-KR" altLang="en-US" sz="900"/>
              <a:t>이 옮긴다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1. Layer Start </a:t>
            </a:r>
            <a:r>
              <a:rPr lang="ko-KR" altLang="en-US" sz="900"/>
              <a:t>지점에서 필요한 데이터들을 가져온다</a:t>
            </a:r>
            <a:r>
              <a:rPr lang="en-US" altLang="ko-KR" sz="900"/>
              <a:t>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36AFF-A76C-41D8-82B4-29964313DAF7}"/>
              </a:ext>
            </a:extLst>
          </p:cNvPr>
          <p:cNvSpPr txBox="1"/>
          <p:nvPr/>
        </p:nvSpPr>
        <p:spPr>
          <a:xfrm>
            <a:off x="106680" y="76200"/>
            <a:ext cx="296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3. Core</a:t>
            </a:r>
            <a:r>
              <a:rPr lang="ko-KR" altLang="en-US" b="1">
                <a:solidFill>
                  <a:srgbClr val="C00000"/>
                </a:solidFill>
              </a:rPr>
              <a:t> </a:t>
            </a:r>
            <a:r>
              <a:rPr lang="en-US" altLang="ko-KR" b="1">
                <a:solidFill>
                  <a:srgbClr val="C00000"/>
                </a:solidFill>
              </a:rPr>
              <a:t>:</a:t>
            </a:r>
            <a:r>
              <a:rPr lang="ko-KR" altLang="en-US" b="1">
                <a:solidFill>
                  <a:srgbClr val="C00000"/>
                </a:solidFill>
              </a:rPr>
              <a:t> </a:t>
            </a:r>
            <a:r>
              <a:rPr lang="en-US" altLang="ko-KR" b="1">
                <a:solidFill>
                  <a:srgbClr val="C00000"/>
                </a:solidFill>
              </a:rPr>
              <a:t>Layer Start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4DC2C7-39CE-47A1-BFD0-36F71C5E6BCA}"/>
              </a:ext>
            </a:extLst>
          </p:cNvPr>
          <p:cNvSpPr/>
          <p:nvPr/>
        </p:nvSpPr>
        <p:spPr>
          <a:xfrm>
            <a:off x="10957113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8CF8557-2483-460E-9798-DC027B8A7518}"/>
              </a:ext>
            </a:extLst>
          </p:cNvPr>
          <p:cNvSpPr/>
          <p:nvPr/>
        </p:nvSpPr>
        <p:spPr>
          <a:xfrm>
            <a:off x="7351884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F76514E-180D-472E-BC8F-C5551B530D8E}"/>
              </a:ext>
            </a:extLst>
          </p:cNvPr>
          <p:cNvSpPr/>
          <p:nvPr/>
        </p:nvSpPr>
        <p:spPr>
          <a:xfrm>
            <a:off x="10957113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BC61AC-6042-43B8-9F74-B3E84CE0ABA4}"/>
              </a:ext>
            </a:extLst>
          </p:cNvPr>
          <p:cNvCxnSpPr/>
          <p:nvPr/>
        </p:nvCxnSpPr>
        <p:spPr>
          <a:xfrm>
            <a:off x="6918960" y="471947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C035BC4-D078-45D8-A844-1A2A8354CBD5}"/>
              </a:ext>
            </a:extLst>
          </p:cNvPr>
          <p:cNvCxnSpPr/>
          <p:nvPr/>
        </p:nvCxnSpPr>
        <p:spPr>
          <a:xfrm>
            <a:off x="10507980" y="471947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30097B5-C455-46DD-A41D-E138C305BD18}"/>
              </a:ext>
            </a:extLst>
          </p:cNvPr>
          <p:cNvSpPr/>
          <p:nvPr/>
        </p:nvSpPr>
        <p:spPr>
          <a:xfrm>
            <a:off x="731467" y="4503420"/>
            <a:ext cx="1195946" cy="16350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2 : NPU complete thread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register check : complete reg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post-process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A4958C0-D16F-4E3E-999B-0665750A5A10}"/>
              </a:ext>
            </a:extLst>
          </p:cNvPr>
          <p:cNvSpPr/>
          <p:nvPr/>
        </p:nvSpPr>
        <p:spPr>
          <a:xfrm>
            <a:off x="2367961" y="4233506"/>
            <a:ext cx="2490439" cy="26991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>
                <a:solidFill>
                  <a:srgbClr val="FFFF00"/>
                </a:solidFill>
              </a:rPr>
              <a:t>SemaPhore Entry</a:t>
            </a:r>
            <a:endParaRPr lang="ko-KR" altLang="en-US" sz="900" b="1">
              <a:solidFill>
                <a:srgbClr val="FFFF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037DDF-4190-48E2-BD91-CA956659D0BD}"/>
              </a:ext>
            </a:extLst>
          </p:cNvPr>
          <p:cNvSpPr txBox="1"/>
          <p:nvPr/>
        </p:nvSpPr>
        <p:spPr>
          <a:xfrm>
            <a:off x="4746686" y="43819"/>
            <a:ext cx="459456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상세</a:t>
            </a:r>
            <a:endParaRPr lang="en-US" altLang="ko-KR" sz="900"/>
          </a:p>
          <a:p>
            <a:r>
              <a:rPr lang="en-US" altLang="ko-KR" sz="900"/>
              <a:t>1.1 SM</a:t>
            </a:r>
            <a:r>
              <a:rPr lang="ko-KR" altLang="en-US" sz="900"/>
              <a:t>에서 읽어올 때는 </a:t>
            </a:r>
            <a:r>
              <a:rPr lang="en-US" altLang="ko-KR" sz="900"/>
              <a:t>SemaPhore Entry</a:t>
            </a:r>
            <a:r>
              <a:rPr lang="ko-KR" altLang="en-US" sz="900"/>
              <a:t>를 먼저 확인한다</a:t>
            </a:r>
            <a:r>
              <a:rPr lang="en-US" altLang="ko-KR" sz="900"/>
              <a:t>. </a:t>
            </a:r>
            <a:r>
              <a:rPr lang="ko-KR" altLang="en-US" sz="900"/>
              <a:t>해당 영역 정보가 없거나</a:t>
            </a:r>
            <a:r>
              <a:rPr lang="en-US" altLang="ko-KR" sz="900"/>
              <a:t>, write reference counter</a:t>
            </a:r>
            <a:r>
              <a:rPr lang="ko-KR" altLang="en-US" sz="900"/>
              <a:t>가 </a:t>
            </a:r>
            <a:r>
              <a:rPr lang="en-US" altLang="ko-KR" sz="900"/>
              <a:t>0</a:t>
            </a:r>
            <a:r>
              <a:rPr lang="ko-KR" altLang="en-US" sz="900"/>
              <a:t>인 경우에 가져갈 수 있다</a:t>
            </a:r>
            <a:r>
              <a:rPr lang="en-US" altLang="ko-KR" sz="900"/>
              <a:t>. SemaPhore Entry</a:t>
            </a:r>
            <a:r>
              <a:rPr lang="ko-KR" altLang="en-US" sz="900"/>
              <a:t>가 있는 경우 데이터 전송을 완료한 후에 </a:t>
            </a:r>
            <a:r>
              <a:rPr lang="en-US" altLang="ko-KR" sz="900"/>
              <a:t>read reference</a:t>
            </a:r>
            <a:r>
              <a:rPr lang="ko-KR" altLang="en-US" sz="900"/>
              <a:t> </a:t>
            </a:r>
            <a:r>
              <a:rPr lang="en-US" altLang="ko-KR" sz="900"/>
              <a:t>counter</a:t>
            </a:r>
            <a:r>
              <a:rPr lang="ko-KR" altLang="en-US" sz="900"/>
              <a:t>를 </a:t>
            </a:r>
            <a:r>
              <a:rPr lang="en-US" altLang="ko-KR" sz="900"/>
              <a:t>1</a:t>
            </a:r>
            <a:r>
              <a:rPr lang="ko-KR" altLang="en-US" sz="900"/>
              <a:t>감소시킨다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1.2 syncop wait ge</a:t>
            </a:r>
          </a:p>
          <a:p>
            <a:r>
              <a:rPr lang="en-US" altLang="ko-KR" sz="900"/>
              <a:t>1.3 UB</a:t>
            </a:r>
            <a:r>
              <a:rPr lang="ko-KR" altLang="en-US" sz="900"/>
              <a:t>에서 읽어올 때는 </a:t>
            </a:r>
            <a:r>
              <a:rPr lang="en-US" altLang="ko-KR" sz="900"/>
              <a:t>handshake</a:t>
            </a:r>
            <a:r>
              <a:rPr lang="ko-KR" altLang="en-US" sz="900"/>
              <a:t>가 성립이 되어야 읽어올 수 있다</a:t>
            </a:r>
            <a:r>
              <a:rPr lang="en-US" altLang="ko-KR" sz="900"/>
              <a:t>. (</a:t>
            </a:r>
            <a:r>
              <a:rPr lang="ko-KR" altLang="en-US" sz="900"/>
              <a:t>보내는 쪽에서 </a:t>
            </a:r>
            <a:r>
              <a:rPr lang="en-US" altLang="ko-KR" sz="900"/>
              <a:t>DMA TX </a:t>
            </a:r>
            <a:r>
              <a:rPr lang="ko-KR" altLang="en-US" sz="900"/>
              <a:t>설정이 되어야 읽을 수 있음</a:t>
            </a:r>
            <a:r>
              <a:rPr lang="en-US" altLang="ko-KR" sz="900"/>
              <a:t>) : stream</a:t>
            </a:r>
            <a:r>
              <a:rPr lang="ko-KR" altLang="en-US" sz="900"/>
              <a:t>에서 </a:t>
            </a:r>
            <a:r>
              <a:rPr lang="en-US" altLang="ko-KR" sz="900"/>
              <a:t>handshake</a:t>
            </a:r>
            <a:r>
              <a:rPr lang="ko-KR" altLang="en-US" sz="900"/>
              <a:t>를 결정짓는다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1.4 SyncOp</a:t>
            </a:r>
            <a:r>
              <a:rPr lang="ko-KR" altLang="en-US" sz="900"/>
              <a:t>의 </a:t>
            </a:r>
            <a:r>
              <a:rPr lang="en-US" altLang="ko-KR" sz="900"/>
              <a:t>stream tx,rx</a:t>
            </a:r>
            <a:r>
              <a:rPr lang="ko-KR" altLang="en-US" sz="900"/>
              <a:t>를 통해 전송이 완료된 후</a:t>
            </a:r>
            <a:r>
              <a:rPr lang="en-US" altLang="ko-KR" sz="900"/>
              <a:t>, </a:t>
            </a:r>
            <a:r>
              <a:rPr lang="ko-KR" altLang="en-US" sz="900"/>
              <a:t>명령어 실행을 보장함으로써 </a:t>
            </a:r>
            <a:r>
              <a:rPr lang="en-US" altLang="ko-KR" sz="900"/>
              <a:t>RAW, WAR hazard</a:t>
            </a:r>
            <a:r>
              <a:rPr lang="ko-KR" altLang="en-US" sz="900"/>
              <a:t>를 해결한다</a:t>
            </a:r>
            <a:r>
              <a:rPr lang="en-US" altLang="ko-KR" sz="900"/>
              <a:t>.</a:t>
            </a:r>
            <a:endParaRPr lang="ko-KR" altLang="en-US" sz="9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430A2B3-003E-4062-A474-F6C99159FFDA}"/>
              </a:ext>
            </a:extLst>
          </p:cNvPr>
          <p:cNvSpPr/>
          <p:nvPr/>
        </p:nvSpPr>
        <p:spPr>
          <a:xfrm>
            <a:off x="5203903" y="2772714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1B685C4-BF26-4137-9A4C-6C07D8C85166}"/>
              </a:ext>
            </a:extLst>
          </p:cNvPr>
          <p:cNvSpPr/>
          <p:nvPr/>
        </p:nvSpPr>
        <p:spPr>
          <a:xfrm>
            <a:off x="5203910" y="4272048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96BAE00-776F-4BBD-8D2A-08E535AE0B8F}"/>
              </a:ext>
            </a:extLst>
          </p:cNvPr>
          <p:cNvSpPr/>
          <p:nvPr/>
        </p:nvSpPr>
        <p:spPr>
          <a:xfrm>
            <a:off x="8792622" y="2772714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6CD9DF4-7D6F-45CC-8A21-E4236FFAD921}"/>
              </a:ext>
            </a:extLst>
          </p:cNvPr>
          <p:cNvSpPr/>
          <p:nvPr/>
        </p:nvSpPr>
        <p:spPr>
          <a:xfrm>
            <a:off x="8792626" y="4272048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7624B5-2688-4AD6-A71E-FBA4F8FA9C12}"/>
              </a:ext>
            </a:extLst>
          </p:cNvPr>
          <p:cNvSpPr txBox="1"/>
          <p:nvPr/>
        </p:nvSpPr>
        <p:spPr>
          <a:xfrm>
            <a:off x="5299469" y="3169731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meta data + tensor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9BF426-FAAA-4F8D-AC3E-4F27FF932F05}"/>
              </a:ext>
            </a:extLst>
          </p:cNvPr>
          <p:cNvSpPr txBox="1"/>
          <p:nvPr/>
        </p:nvSpPr>
        <p:spPr>
          <a:xfrm>
            <a:off x="8915192" y="3169731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meta data + tensor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9423C02-3B6F-4679-BD22-20127EE94C04}"/>
              </a:ext>
            </a:extLst>
          </p:cNvPr>
          <p:cNvSpPr txBox="1"/>
          <p:nvPr/>
        </p:nvSpPr>
        <p:spPr>
          <a:xfrm>
            <a:off x="5334069" y="4708887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tensor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30A1B1-52A4-4CBE-B2F5-6B9CE1F2ADC7}"/>
              </a:ext>
            </a:extLst>
          </p:cNvPr>
          <p:cNvSpPr txBox="1"/>
          <p:nvPr/>
        </p:nvSpPr>
        <p:spPr>
          <a:xfrm>
            <a:off x="8891034" y="4708887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tensor</a:t>
            </a:r>
          </a:p>
        </p:txBody>
      </p:sp>
    </p:spTree>
    <p:extLst>
      <p:ext uri="{BB962C8B-B14F-4D97-AF65-F5344CB8AC3E}">
        <p14:creationId xmlns:p14="http://schemas.microsoft.com/office/powerpoint/2010/main" val="4241716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38F189-B3E9-4CBA-A99E-707D5C372193}"/>
              </a:ext>
            </a:extLst>
          </p:cNvPr>
          <p:cNvSpPr txBox="1"/>
          <p:nvPr/>
        </p:nvSpPr>
        <p:spPr>
          <a:xfrm>
            <a:off x="106680" y="76200"/>
            <a:ext cx="2308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### </a:t>
            </a:r>
            <a:r>
              <a:rPr lang="ko-KR" altLang="en-US" b="1">
                <a:solidFill>
                  <a:srgbClr val="C00000"/>
                </a:solidFill>
              </a:rPr>
              <a:t>제안</a:t>
            </a:r>
            <a:r>
              <a:rPr lang="en-US" altLang="ko-KR" b="1">
                <a:solidFill>
                  <a:srgbClr val="C00000"/>
                </a:solidFill>
              </a:rPr>
              <a:t>2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1C29E-0155-409B-BF33-C3E68F738235}"/>
              </a:ext>
            </a:extLst>
          </p:cNvPr>
          <p:cNvSpPr txBox="1"/>
          <p:nvPr/>
        </p:nvSpPr>
        <p:spPr>
          <a:xfrm>
            <a:off x="300990" y="445532"/>
            <a:ext cx="856107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기존 방식의 </a:t>
            </a:r>
            <a:r>
              <a:rPr lang="en-US" altLang="ko-KR" sz="1000"/>
              <a:t>sync</a:t>
            </a:r>
            <a:r>
              <a:rPr lang="ko-KR" altLang="en-US" sz="1000"/>
              <a:t>는 일반 </a:t>
            </a:r>
            <a:r>
              <a:rPr lang="en-US" altLang="ko-KR" sz="1000"/>
              <a:t>semaphore </a:t>
            </a:r>
            <a:r>
              <a:rPr lang="ko-KR" altLang="en-US" sz="1000"/>
              <a:t>기반으로</a:t>
            </a:r>
            <a:r>
              <a:rPr lang="en-US" altLang="ko-KR" sz="1000"/>
              <a:t>, 1:1 </a:t>
            </a:r>
            <a:r>
              <a:rPr lang="ko-KR" altLang="en-US" sz="1000"/>
              <a:t>동작방식이었다</a:t>
            </a:r>
            <a:r>
              <a:rPr lang="en-US" altLang="ko-KR" sz="1000"/>
              <a:t>. </a:t>
            </a:r>
            <a:r>
              <a:rPr lang="ko-KR" altLang="en-US" sz="1000"/>
              <a:t>하지만 </a:t>
            </a:r>
            <a:r>
              <a:rPr lang="en-US" altLang="ko-KR" sz="1000"/>
              <a:t>SM</a:t>
            </a:r>
            <a:r>
              <a:rPr lang="ko-KR" altLang="en-US" sz="1000"/>
              <a:t>의 경우 </a:t>
            </a:r>
            <a:r>
              <a:rPr lang="en-US" altLang="ko-KR" sz="1000"/>
              <a:t>1:N </a:t>
            </a:r>
            <a:r>
              <a:rPr lang="ko-KR" altLang="en-US" sz="1000"/>
              <a:t>동작이라고 봐야하며</a:t>
            </a:r>
            <a:r>
              <a:rPr lang="en-US" altLang="ko-KR" sz="1000"/>
              <a:t>, </a:t>
            </a:r>
            <a:r>
              <a:rPr lang="ko-KR" altLang="en-US" sz="1000" b="1">
                <a:solidFill>
                  <a:srgbClr val="C00000"/>
                </a:solidFill>
              </a:rPr>
              <a:t>제안</a:t>
            </a:r>
            <a:r>
              <a:rPr lang="en-US" altLang="ko-KR" sz="1000" b="1">
                <a:solidFill>
                  <a:srgbClr val="C00000"/>
                </a:solidFill>
              </a:rPr>
              <a:t>1</a:t>
            </a:r>
            <a:r>
              <a:rPr lang="ko-KR" altLang="en-US" sz="1000"/>
              <a:t>과 더불어 수정할 것을 제안 </a:t>
            </a:r>
            <a:endParaRPr lang="en-US" altLang="ko-KR" sz="1000"/>
          </a:p>
          <a:p>
            <a:r>
              <a:rPr lang="en-US" altLang="ko-KR" sz="1000"/>
              <a:t>SM_WAIT_GE</a:t>
            </a:r>
            <a:r>
              <a:rPr lang="ko-KR" altLang="en-US" sz="1000"/>
              <a:t>와 </a:t>
            </a:r>
            <a:r>
              <a:rPr lang="en-US" altLang="ko-KR" sz="1000"/>
              <a:t>SM_POST</a:t>
            </a:r>
            <a:r>
              <a:rPr lang="ko-KR" altLang="en-US" sz="1000"/>
              <a:t>를 제거하고</a:t>
            </a:r>
            <a:r>
              <a:rPr lang="en-US" altLang="ko-KR" sz="1000"/>
              <a:t>, </a:t>
            </a:r>
            <a:r>
              <a:rPr lang="ko-KR" altLang="en-US" sz="1000"/>
              <a:t>그 동작을 </a:t>
            </a:r>
            <a:r>
              <a:rPr lang="en-US" altLang="ko-KR" sz="1000"/>
              <a:t>SM semaphore Entry</a:t>
            </a:r>
            <a:r>
              <a:rPr lang="ko-KR" altLang="en-US" sz="1000"/>
              <a:t>의 </a:t>
            </a:r>
            <a:r>
              <a:rPr lang="en-US" altLang="ko-KR" sz="1000"/>
              <a:t>reference_counter</a:t>
            </a:r>
            <a:r>
              <a:rPr lang="ko-KR" altLang="en-US" sz="1000"/>
              <a:t>를 이용한 상호 동작으로 수정</a:t>
            </a:r>
            <a:r>
              <a:rPr lang="en-US" altLang="ko-KR" sz="1000"/>
              <a:t>.</a:t>
            </a:r>
          </a:p>
          <a:p>
            <a:r>
              <a:rPr lang="en-US" altLang="ko-KR" sz="1000"/>
              <a:t>1. (SM) </a:t>
            </a:r>
            <a:r>
              <a:rPr lang="ko-KR" altLang="en-US" sz="1000"/>
              <a:t>데이터를 읽을 때</a:t>
            </a:r>
            <a:r>
              <a:rPr lang="en-US" altLang="ko-KR" sz="1000"/>
              <a:t>, </a:t>
            </a:r>
            <a:r>
              <a:rPr lang="ko-KR" altLang="en-US" sz="1000"/>
              <a:t>읽는 주소의 </a:t>
            </a:r>
            <a:r>
              <a:rPr lang="en-US" altLang="ko-KR" sz="1000"/>
              <a:t>semaphore Entry</a:t>
            </a:r>
            <a:r>
              <a:rPr lang="ko-KR" altLang="en-US" sz="1000"/>
              <a:t>설정이 되어있지 않다면 오류</a:t>
            </a:r>
            <a:endParaRPr lang="en-US" altLang="ko-KR" sz="1000"/>
          </a:p>
          <a:p>
            <a:r>
              <a:rPr lang="en-US" altLang="ko-KR" sz="1000"/>
              <a:t>2. (SM) </a:t>
            </a:r>
            <a:r>
              <a:rPr lang="ko-KR" altLang="en-US" sz="1000"/>
              <a:t>데이터를 쓸 때</a:t>
            </a:r>
            <a:r>
              <a:rPr lang="en-US" altLang="ko-KR" sz="1000"/>
              <a:t>, </a:t>
            </a:r>
            <a:r>
              <a:rPr lang="ko-KR" altLang="en-US" sz="1000"/>
              <a:t>반드시 </a:t>
            </a:r>
            <a:r>
              <a:rPr lang="en-US" altLang="ko-KR" sz="1000"/>
              <a:t>semaphore Entry </a:t>
            </a:r>
            <a:r>
              <a:rPr lang="ko-KR" altLang="en-US" sz="1000"/>
              <a:t>설정을 해야 함</a:t>
            </a:r>
            <a:r>
              <a:rPr lang="en-US" altLang="ko-KR" sz="1000"/>
              <a:t>.</a:t>
            </a:r>
          </a:p>
          <a:p>
            <a:r>
              <a:rPr lang="en-US" altLang="ko-KR" sz="1000"/>
              <a:t>3. (SM) </a:t>
            </a:r>
            <a:r>
              <a:rPr lang="ko-KR" altLang="en-US" sz="1000"/>
              <a:t>데이터를 읽을 때</a:t>
            </a:r>
            <a:r>
              <a:rPr lang="en-US" altLang="ko-KR" sz="1000"/>
              <a:t>, write_reference_counter</a:t>
            </a:r>
            <a:r>
              <a:rPr lang="ko-KR" altLang="en-US" sz="1000"/>
              <a:t>가 </a:t>
            </a:r>
            <a:r>
              <a:rPr lang="en-US" altLang="ko-KR" sz="1000"/>
              <a:t>0</a:t>
            </a:r>
            <a:r>
              <a:rPr lang="ko-KR" altLang="en-US" sz="1000"/>
              <a:t>일 때만 읽을 수 있음</a:t>
            </a:r>
            <a:r>
              <a:rPr lang="en-US" altLang="ko-KR" sz="1000"/>
              <a:t>. </a:t>
            </a:r>
            <a:r>
              <a:rPr lang="ko-KR" altLang="en-US" sz="1000"/>
              <a:t>아닐 경우 대기</a:t>
            </a:r>
            <a:endParaRPr lang="en-US" altLang="ko-KR" sz="1000"/>
          </a:p>
          <a:p>
            <a:r>
              <a:rPr lang="en-US" altLang="ko-KR" sz="1000"/>
              <a:t>4. (SM) </a:t>
            </a:r>
            <a:r>
              <a:rPr lang="ko-KR" altLang="en-US" sz="1000"/>
              <a:t>데이터 읽기를 완료하면</a:t>
            </a:r>
            <a:r>
              <a:rPr lang="en-US" altLang="ko-KR" sz="1000"/>
              <a:t>, read_reference_counter</a:t>
            </a:r>
            <a:r>
              <a:rPr lang="ko-KR" altLang="en-US" sz="1000"/>
              <a:t>를 </a:t>
            </a:r>
            <a:r>
              <a:rPr lang="en-US" altLang="ko-KR" sz="1000"/>
              <a:t>1</a:t>
            </a:r>
            <a:r>
              <a:rPr lang="ko-KR" altLang="en-US" sz="1000"/>
              <a:t>감소</a:t>
            </a:r>
            <a:endParaRPr lang="en-US" altLang="ko-KR" sz="1000"/>
          </a:p>
          <a:p>
            <a:r>
              <a:rPr lang="en-US" altLang="ko-KR" sz="1000"/>
              <a:t>5. (SM) </a:t>
            </a:r>
            <a:r>
              <a:rPr lang="ko-KR" altLang="en-US" sz="1000"/>
              <a:t>데이터 쓰기를 완료하면</a:t>
            </a:r>
            <a:r>
              <a:rPr lang="en-US" altLang="ko-KR" sz="1000"/>
              <a:t>, write_reference_counter</a:t>
            </a:r>
            <a:r>
              <a:rPr lang="ko-KR" altLang="en-US" sz="1000"/>
              <a:t>를 </a:t>
            </a:r>
            <a:r>
              <a:rPr lang="en-US" altLang="ko-KR" sz="1000"/>
              <a:t>1</a:t>
            </a:r>
            <a:r>
              <a:rPr lang="ko-KR" altLang="en-US" sz="1000"/>
              <a:t>증가하고 </a:t>
            </a:r>
            <a:r>
              <a:rPr lang="en-US" altLang="ko-KR" sz="1000"/>
              <a:t>ISA</a:t>
            </a:r>
            <a:r>
              <a:rPr lang="ko-KR" altLang="en-US" sz="1000"/>
              <a:t>에 기록된 </a:t>
            </a:r>
            <a:r>
              <a:rPr lang="en-US" altLang="ko-KR" sz="1000"/>
              <a:t>write_reference_count</a:t>
            </a:r>
            <a:r>
              <a:rPr lang="ko-KR" altLang="en-US" sz="1000"/>
              <a:t>와 값이 같으면 </a:t>
            </a:r>
            <a:r>
              <a:rPr lang="en-US" altLang="ko-KR" sz="1000"/>
              <a:t>0</a:t>
            </a:r>
            <a:r>
              <a:rPr lang="ko-KR" altLang="en-US" sz="1000"/>
              <a:t>으로 만듬</a:t>
            </a:r>
            <a:endParaRPr lang="en-US" altLang="ko-KR" sz="1000"/>
          </a:p>
          <a:p>
            <a:r>
              <a:rPr lang="en-US" altLang="ko-KR" sz="1000"/>
              <a:t>6. (SM) </a:t>
            </a:r>
            <a:r>
              <a:rPr lang="ko-KR" altLang="en-US" sz="1000"/>
              <a:t>데이터 쓰기를 완료하면</a:t>
            </a:r>
            <a:r>
              <a:rPr lang="en-US" altLang="ko-KR" sz="1000"/>
              <a:t>, read_reference_counter</a:t>
            </a:r>
            <a:r>
              <a:rPr lang="ko-KR" altLang="en-US" sz="1000"/>
              <a:t>를 </a:t>
            </a:r>
            <a:r>
              <a:rPr lang="en-US" altLang="ko-KR" sz="1000"/>
              <a:t>ISA</a:t>
            </a:r>
            <a:r>
              <a:rPr lang="ko-KR" altLang="en-US" sz="1000"/>
              <a:t>에 기록된 </a:t>
            </a:r>
            <a:r>
              <a:rPr lang="en-US" altLang="ko-KR" sz="1000"/>
              <a:t>read_reference_count</a:t>
            </a:r>
            <a:r>
              <a:rPr lang="ko-KR" altLang="en-US" sz="1000"/>
              <a:t>로 세팅</a:t>
            </a:r>
            <a:endParaRPr lang="en-US" altLang="ko-KR" sz="1000"/>
          </a:p>
          <a:p>
            <a:r>
              <a:rPr lang="en-US" altLang="ko-KR" sz="1000"/>
              <a:t>7. (SM)</a:t>
            </a:r>
            <a:r>
              <a:rPr lang="ko-KR" altLang="en-US" sz="1000"/>
              <a:t> 데이터를 읽을 때</a:t>
            </a:r>
            <a:r>
              <a:rPr lang="en-US" altLang="ko-KR" sz="1000"/>
              <a:t>, semaphore id</a:t>
            </a:r>
            <a:r>
              <a:rPr lang="ko-KR" altLang="en-US" sz="1000"/>
              <a:t>가 일치해야 읽을 수 있다</a:t>
            </a:r>
            <a:r>
              <a:rPr lang="en-US" altLang="ko-KR" sz="1000"/>
              <a:t>.</a:t>
            </a:r>
          </a:p>
          <a:p>
            <a:r>
              <a:rPr lang="en-US" altLang="ko-KR" sz="1000"/>
              <a:t>8. (SM) </a:t>
            </a:r>
            <a:r>
              <a:rPr lang="ko-KR" altLang="en-US" sz="1000"/>
              <a:t>데이터 쓰기를 완료하면 </a:t>
            </a:r>
            <a:r>
              <a:rPr lang="en-US" altLang="ko-KR" sz="1000"/>
              <a:t>semaphore id</a:t>
            </a:r>
            <a:r>
              <a:rPr lang="ko-KR" altLang="en-US" sz="1000"/>
              <a:t>를 세팅한다</a:t>
            </a:r>
            <a:r>
              <a:rPr lang="en-US" altLang="ko-KR" sz="1000"/>
              <a:t>. </a:t>
            </a:r>
          </a:p>
          <a:p>
            <a:r>
              <a:rPr lang="en-US" altLang="ko-KR" sz="1000"/>
              <a:t>9. (SM) </a:t>
            </a:r>
            <a:r>
              <a:rPr lang="ko-KR" altLang="en-US" sz="1000"/>
              <a:t>주소할당은 남는 주소가 있어도 컴파일 타임이 결정한 정적할당 주소로 고정한다</a:t>
            </a:r>
            <a:r>
              <a:rPr lang="en-US" altLang="ko-KR" sz="1000"/>
              <a:t>.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57E776-7766-4794-A787-7775B428B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30" y="2284468"/>
            <a:ext cx="4388095" cy="407466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CB60B73-E256-48CF-98BC-6F80DA3338D0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3329941" y="2599968"/>
            <a:ext cx="0" cy="1469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54961F9D-6157-447E-9E05-9FA097D01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3009425"/>
            <a:ext cx="3238500" cy="36936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FF3189-A774-4254-AB30-3E6085461A85}"/>
              </a:ext>
            </a:extLst>
          </p:cNvPr>
          <p:cNvSpPr txBox="1"/>
          <p:nvPr/>
        </p:nvSpPr>
        <p:spPr>
          <a:xfrm>
            <a:off x="3329941" y="2399913"/>
            <a:ext cx="3131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제거하고</a:t>
            </a:r>
            <a:r>
              <a:rPr lang="en-US" altLang="ko-KR" sz="1000">
                <a:solidFill>
                  <a:srgbClr val="FF0000"/>
                </a:solidFill>
              </a:rPr>
              <a:t>, </a:t>
            </a:r>
            <a:r>
              <a:rPr lang="ko-KR" altLang="en-US" sz="1000">
                <a:solidFill>
                  <a:srgbClr val="FF0000"/>
                </a:solidFill>
              </a:rPr>
              <a:t>그 동작을 </a:t>
            </a:r>
            <a:r>
              <a:rPr lang="en-US" altLang="ko-KR" sz="1000">
                <a:solidFill>
                  <a:srgbClr val="FF0000"/>
                </a:solidFill>
              </a:rPr>
              <a:t>semaphore Entry</a:t>
            </a:r>
            <a:r>
              <a:rPr lang="ko-KR" altLang="en-US" sz="1000">
                <a:solidFill>
                  <a:srgbClr val="FF0000"/>
                </a:solidFill>
              </a:rPr>
              <a:t>의 참조 카운터가 수행</a:t>
            </a:r>
            <a:r>
              <a:rPr lang="en-US" altLang="ko-KR" sz="10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2840CB-2F94-4F93-A3D4-E7A1EF6B682C}"/>
              </a:ext>
            </a:extLst>
          </p:cNvPr>
          <p:cNvSpPr txBox="1"/>
          <p:nvPr/>
        </p:nvSpPr>
        <p:spPr>
          <a:xfrm>
            <a:off x="8382000" y="4859756"/>
            <a:ext cx="31318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</a:rPr>
              <a:t>sync slot</a:t>
            </a:r>
            <a:r>
              <a:rPr lang="ko-KR" altLang="en-US" sz="1000">
                <a:solidFill>
                  <a:srgbClr val="FF0000"/>
                </a:solidFill>
              </a:rPr>
              <a:t>의 </a:t>
            </a:r>
            <a:r>
              <a:rPr lang="en-US" altLang="ko-KR" sz="1000">
                <a:solidFill>
                  <a:srgbClr val="FF0000"/>
                </a:solidFill>
              </a:rPr>
              <a:t>reserved</a:t>
            </a:r>
            <a:r>
              <a:rPr lang="ko-KR" altLang="en-US" sz="1000">
                <a:solidFill>
                  <a:srgbClr val="FF0000"/>
                </a:solidFill>
              </a:rPr>
              <a:t>에 </a:t>
            </a:r>
            <a:r>
              <a:rPr lang="en-US" altLang="ko-KR" sz="1000">
                <a:solidFill>
                  <a:srgbClr val="FF0000"/>
                </a:solidFill>
              </a:rPr>
              <a:t>8bit</a:t>
            </a:r>
            <a:r>
              <a:rPr lang="ko-KR" altLang="en-US" sz="1000">
                <a:solidFill>
                  <a:srgbClr val="FF0000"/>
                </a:solidFill>
              </a:rPr>
              <a:t>을 </a:t>
            </a:r>
            <a:r>
              <a:rPr lang="en-US" altLang="ko-KR" sz="1000">
                <a:solidFill>
                  <a:srgbClr val="FF0000"/>
                </a:solidFill>
              </a:rPr>
              <a:t>semaphore id</a:t>
            </a:r>
            <a:r>
              <a:rPr lang="ko-KR" altLang="en-US" sz="1000">
                <a:solidFill>
                  <a:srgbClr val="FF0000"/>
                </a:solidFill>
              </a:rPr>
              <a:t>로 한다</a:t>
            </a:r>
            <a:r>
              <a:rPr lang="en-US" altLang="ko-KR" sz="1000">
                <a:solidFill>
                  <a:srgbClr val="FF0000"/>
                </a:solidFill>
              </a:rPr>
              <a:t>. semaphore id</a:t>
            </a:r>
            <a:r>
              <a:rPr lang="ko-KR" altLang="en-US" sz="1000">
                <a:solidFill>
                  <a:srgbClr val="FF0000"/>
                </a:solidFill>
              </a:rPr>
              <a:t>는 </a:t>
            </a:r>
            <a:r>
              <a:rPr lang="en-US" altLang="ko-KR" sz="1000">
                <a:solidFill>
                  <a:srgbClr val="FF0000"/>
                </a:solidFill>
              </a:rPr>
              <a:t>255</a:t>
            </a:r>
            <a:r>
              <a:rPr lang="ko-KR" altLang="en-US" sz="1000">
                <a:solidFill>
                  <a:srgbClr val="FF0000"/>
                </a:solidFill>
              </a:rPr>
              <a:t>값을 넘으면 오버플로우하여 사용한다</a:t>
            </a:r>
            <a:r>
              <a:rPr lang="en-US" altLang="ko-KR" sz="100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2ECF8F5-BE2A-4C48-A331-58B8696C61C1}"/>
              </a:ext>
            </a:extLst>
          </p:cNvPr>
          <p:cNvCxnSpPr>
            <a:cxnSpLocks/>
          </p:cNvCxnSpPr>
          <p:nvPr/>
        </p:nvCxnSpPr>
        <p:spPr>
          <a:xfrm flipV="1">
            <a:off x="6096001" y="5136755"/>
            <a:ext cx="2202179" cy="98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115827-6409-48C8-9B55-6A9EE505F440}"/>
              </a:ext>
            </a:extLst>
          </p:cNvPr>
          <p:cNvSpPr txBox="1"/>
          <p:nvPr/>
        </p:nvSpPr>
        <p:spPr>
          <a:xfrm>
            <a:off x="8382000" y="5617565"/>
            <a:ext cx="31318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</a:rPr>
              <a:t>SM</a:t>
            </a:r>
            <a:r>
              <a:rPr lang="ko-KR" altLang="en-US" sz="1000">
                <a:solidFill>
                  <a:srgbClr val="FF0000"/>
                </a:solidFill>
              </a:rPr>
              <a:t>의 </a:t>
            </a:r>
            <a:r>
              <a:rPr lang="en-US" altLang="ko-KR" sz="1000">
                <a:solidFill>
                  <a:srgbClr val="FF0000"/>
                </a:solidFill>
              </a:rPr>
              <a:t>sync op</a:t>
            </a:r>
            <a:r>
              <a:rPr lang="ko-KR" altLang="en-US" sz="1000">
                <a:solidFill>
                  <a:srgbClr val="FF0000"/>
                </a:solidFill>
              </a:rPr>
              <a:t>는 제거한다</a:t>
            </a:r>
            <a:r>
              <a:rPr lang="en-US" altLang="ko-KR" sz="100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3D2959A-B8DE-4B21-A4F7-00B82F53FED5}"/>
              </a:ext>
            </a:extLst>
          </p:cNvPr>
          <p:cNvCxnSpPr>
            <a:cxnSpLocks/>
          </p:cNvCxnSpPr>
          <p:nvPr/>
        </p:nvCxnSpPr>
        <p:spPr>
          <a:xfrm flipV="1">
            <a:off x="6164580" y="5781438"/>
            <a:ext cx="213360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974B4F8-3A89-43C8-AB61-476A064CE3DF}"/>
              </a:ext>
            </a:extLst>
          </p:cNvPr>
          <p:cNvCxnSpPr>
            <a:cxnSpLocks/>
          </p:cNvCxnSpPr>
          <p:nvPr/>
        </p:nvCxnSpPr>
        <p:spPr>
          <a:xfrm flipV="1">
            <a:off x="6096000" y="6359128"/>
            <a:ext cx="2286000" cy="46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E765427-8E1E-466A-B16D-28568FFB8392}"/>
              </a:ext>
            </a:extLst>
          </p:cNvPr>
          <p:cNvSpPr txBox="1"/>
          <p:nvPr/>
        </p:nvSpPr>
        <p:spPr>
          <a:xfrm>
            <a:off x="8450580" y="6236017"/>
            <a:ext cx="3131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</a:rPr>
              <a:t>Event</a:t>
            </a:r>
            <a:r>
              <a:rPr lang="ko-KR" altLang="en-US" sz="1000">
                <a:solidFill>
                  <a:srgbClr val="FF0000"/>
                </a:solidFill>
              </a:rPr>
              <a:t>에 대한 정의가 제대로 되어있지 않아</a:t>
            </a:r>
            <a:r>
              <a:rPr lang="en-US" altLang="ko-KR" sz="1000">
                <a:solidFill>
                  <a:srgbClr val="FF0000"/>
                </a:solidFill>
              </a:rPr>
              <a:t>, reserved</a:t>
            </a:r>
            <a:r>
              <a:rPr lang="ko-KR" altLang="en-US" sz="1000">
                <a:solidFill>
                  <a:srgbClr val="FF0000"/>
                </a:solidFill>
              </a:rPr>
              <a:t>로 두길 추천</a:t>
            </a:r>
            <a:endParaRPr lang="en-US" altLang="ko-KR" sz="1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373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C32627-FEDA-43C9-A518-79B722A54B15}"/>
              </a:ext>
            </a:extLst>
          </p:cNvPr>
          <p:cNvSpPr/>
          <p:nvPr/>
        </p:nvSpPr>
        <p:spPr>
          <a:xfrm>
            <a:off x="379142" y="1500629"/>
            <a:ext cx="1821366" cy="5056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Runtime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1CE950-8866-45D2-9D1C-5F7A9F2DDEFE}"/>
              </a:ext>
            </a:extLst>
          </p:cNvPr>
          <p:cNvSpPr/>
          <p:nvPr/>
        </p:nvSpPr>
        <p:spPr>
          <a:xfrm>
            <a:off x="2373147" y="1500629"/>
            <a:ext cx="2490439" cy="17247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SM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B3EFAE-A2C2-443B-B649-7639AC77A8AE}"/>
              </a:ext>
            </a:extLst>
          </p:cNvPr>
          <p:cNvSpPr/>
          <p:nvPr/>
        </p:nvSpPr>
        <p:spPr>
          <a:xfrm>
            <a:off x="2373471" y="3225351"/>
            <a:ext cx="2490439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Output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A1D956-DC96-48FD-8EBE-51D6578F1D4A}"/>
              </a:ext>
            </a:extLst>
          </p:cNvPr>
          <p:cNvSpPr/>
          <p:nvPr/>
        </p:nvSpPr>
        <p:spPr>
          <a:xfrm>
            <a:off x="2373471" y="4503420"/>
            <a:ext cx="2490439" cy="7382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Input 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0264E6-A8A7-4673-A69A-812B0BDBC3CC}"/>
              </a:ext>
            </a:extLst>
          </p:cNvPr>
          <p:cNvSpPr/>
          <p:nvPr/>
        </p:nvSpPr>
        <p:spPr>
          <a:xfrm>
            <a:off x="2373472" y="5241664"/>
            <a:ext cx="2490439" cy="1315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Temp Buffer</a:t>
            </a:r>
            <a:r>
              <a:rPr lang="ko-KR" altLang="en-US" sz="900">
                <a:solidFill>
                  <a:schemeClr val="tx1"/>
                </a:solidFill>
              </a:rPr>
              <a:t>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3BDC3-91AF-4E7D-A0FD-4D4D6B5195F9}"/>
              </a:ext>
            </a:extLst>
          </p:cNvPr>
          <p:cNvSpPr/>
          <p:nvPr/>
        </p:nvSpPr>
        <p:spPr>
          <a:xfrm>
            <a:off x="6828264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020291-90E0-4B27-9C12-0B12C468B90A}"/>
              </a:ext>
            </a:extLst>
          </p:cNvPr>
          <p:cNvSpPr/>
          <p:nvPr/>
        </p:nvSpPr>
        <p:spPr>
          <a:xfrm>
            <a:off x="5203903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4F342-3CFB-4905-8673-542548CE6D84}"/>
              </a:ext>
            </a:extLst>
          </p:cNvPr>
          <p:cNvSpPr/>
          <p:nvPr/>
        </p:nvSpPr>
        <p:spPr>
          <a:xfrm>
            <a:off x="5203907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9E5938-A150-42DE-8163-F89797E386A2}"/>
              </a:ext>
            </a:extLst>
          </p:cNvPr>
          <p:cNvSpPr/>
          <p:nvPr/>
        </p:nvSpPr>
        <p:spPr>
          <a:xfrm>
            <a:off x="5003181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F9A1E0-F683-4370-AF0A-D9DC5E6FE64E}"/>
              </a:ext>
            </a:extLst>
          </p:cNvPr>
          <p:cNvSpPr/>
          <p:nvPr/>
        </p:nvSpPr>
        <p:spPr>
          <a:xfrm>
            <a:off x="8792622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878BCE-A57F-4DEE-A99A-AA7F4D8CD1EA}"/>
              </a:ext>
            </a:extLst>
          </p:cNvPr>
          <p:cNvSpPr/>
          <p:nvPr/>
        </p:nvSpPr>
        <p:spPr>
          <a:xfrm>
            <a:off x="8591900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27E8A3-35B9-4239-B0D3-C537852664FE}"/>
              </a:ext>
            </a:extLst>
          </p:cNvPr>
          <p:cNvSpPr/>
          <p:nvPr/>
        </p:nvSpPr>
        <p:spPr>
          <a:xfrm>
            <a:off x="5003184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546872-AC0F-49BA-AE4B-36BA7DED375A}"/>
              </a:ext>
            </a:extLst>
          </p:cNvPr>
          <p:cNvSpPr/>
          <p:nvPr/>
        </p:nvSpPr>
        <p:spPr>
          <a:xfrm>
            <a:off x="8792623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8003CEC-2135-4EA2-9E22-969FF8BE7EE3}"/>
              </a:ext>
            </a:extLst>
          </p:cNvPr>
          <p:cNvSpPr/>
          <p:nvPr/>
        </p:nvSpPr>
        <p:spPr>
          <a:xfrm>
            <a:off x="8591900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3D9A22-9CE6-46B0-93D8-CD14B4ADAFA3}"/>
              </a:ext>
            </a:extLst>
          </p:cNvPr>
          <p:cNvSpPr/>
          <p:nvPr/>
        </p:nvSpPr>
        <p:spPr>
          <a:xfrm>
            <a:off x="734720" y="2706731"/>
            <a:ext cx="1192693" cy="1526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1 : NPU Start thread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pre-process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register check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Input Write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C70A57-B378-401E-9162-8F5A16694F42}"/>
              </a:ext>
            </a:extLst>
          </p:cNvPr>
          <p:cNvSpPr txBox="1"/>
          <p:nvPr/>
        </p:nvSpPr>
        <p:spPr>
          <a:xfrm>
            <a:off x="3004956" y="2247573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72620C-E600-4E43-92D4-C16976FBEF47}"/>
              </a:ext>
            </a:extLst>
          </p:cNvPr>
          <p:cNvSpPr txBox="1"/>
          <p:nvPr/>
        </p:nvSpPr>
        <p:spPr>
          <a:xfrm>
            <a:off x="5326473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47A52-D139-4C5D-8906-68D3FE168810}"/>
              </a:ext>
            </a:extLst>
          </p:cNvPr>
          <p:cNvSpPr txBox="1"/>
          <p:nvPr/>
        </p:nvSpPr>
        <p:spPr>
          <a:xfrm>
            <a:off x="8915192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0CE681-EEE6-4ABA-8D00-368CE7F820FD}"/>
              </a:ext>
            </a:extLst>
          </p:cNvPr>
          <p:cNvSpPr/>
          <p:nvPr/>
        </p:nvSpPr>
        <p:spPr>
          <a:xfrm>
            <a:off x="7351884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4A4A9BB-8398-441D-A63F-28ED6C44A443}"/>
              </a:ext>
            </a:extLst>
          </p:cNvPr>
          <p:cNvSpPr/>
          <p:nvPr/>
        </p:nvSpPr>
        <p:spPr>
          <a:xfrm>
            <a:off x="10416987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2F2E0E-8339-431A-A501-2A9BFBD32B19}"/>
              </a:ext>
            </a:extLst>
          </p:cNvPr>
          <p:cNvSpPr/>
          <p:nvPr/>
        </p:nvSpPr>
        <p:spPr>
          <a:xfrm>
            <a:off x="6828264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E8CDBB-9B70-47C3-879D-C4CEEF0B23DA}"/>
              </a:ext>
            </a:extLst>
          </p:cNvPr>
          <p:cNvSpPr/>
          <p:nvPr/>
        </p:nvSpPr>
        <p:spPr>
          <a:xfrm>
            <a:off x="10416987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8AFA1F9-FA83-430D-9DCF-B2C0DC5E44D3}"/>
              </a:ext>
            </a:extLst>
          </p:cNvPr>
          <p:cNvCxnSpPr/>
          <p:nvPr/>
        </p:nvCxnSpPr>
        <p:spPr>
          <a:xfrm>
            <a:off x="6918960" y="2256249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A396177-FBA9-435D-91E4-B0E65BE65B0B}"/>
              </a:ext>
            </a:extLst>
          </p:cNvPr>
          <p:cNvCxnSpPr/>
          <p:nvPr/>
        </p:nvCxnSpPr>
        <p:spPr>
          <a:xfrm>
            <a:off x="10507980" y="2247573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167510B-A068-498D-8C2F-298B83D3C11D}"/>
              </a:ext>
            </a:extLst>
          </p:cNvPr>
          <p:cNvSpPr txBox="1"/>
          <p:nvPr/>
        </p:nvSpPr>
        <p:spPr>
          <a:xfrm>
            <a:off x="245543" y="418696"/>
            <a:ext cx="4594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Layer Run</a:t>
            </a:r>
          </a:p>
          <a:p>
            <a:r>
              <a:rPr lang="en-US" altLang="ko-KR" sz="900"/>
              <a:t>1. Layer Run</a:t>
            </a:r>
            <a:r>
              <a:rPr lang="ko-KR" altLang="en-US" sz="900"/>
              <a:t>을 실행한다</a:t>
            </a:r>
            <a:r>
              <a:rPr lang="en-US" altLang="ko-KR" sz="900"/>
              <a:t>. </a:t>
            </a:r>
            <a:r>
              <a:rPr lang="ko-KR" altLang="en-US" sz="900"/>
              <a:t>컴파일러는 최대한 이 </a:t>
            </a:r>
            <a:r>
              <a:rPr lang="en-US" altLang="ko-KR" sz="900"/>
              <a:t>Run</a:t>
            </a:r>
            <a:r>
              <a:rPr lang="ko-KR" altLang="en-US" sz="900"/>
              <a:t>에서 </a:t>
            </a:r>
            <a:r>
              <a:rPr lang="en-US" altLang="ko-KR" sz="900"/>
              <a:t>UB </a:t>
            </a:r>
            <a:r>
              <a:rPr lang="ko-KR" altLang="en-US" sz="900"/>
              <a:t>밖으로 데이터 이동을 최소화한다</a:t>
            </a:r>
            <a:r>
              <a:rPr lang="en-US" altLang="ko-KR" sz="900"/>
              <a:t>. (</a:t>
            </a:r>
            <a:r>
              <a:rPr lang="ko-KR" altLang="en-US" sz="900"/>
              <a:t>자세한 동작은 하드웨어 몫</a:t>
            </a:r>
            <a:r>
              <a:rPr lang="en-US" altLang="ko-KR" sz="900"/>
              <a:t>)</a:t>
            </a:r>
          </a:p>
          <a:p>
            <a:endParaRPr lang="en-US" altLang="ko-KR" sz="9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36AFF-A76C-41D8-82B4-29964313DAF7}"/>
              </a:ext>
            </a:extLst>
          </p:cNvPr>
          <p:cNvSpPr txBox="1"/>
          <p:nvPr/>
        </p:nvSpPr>
        <p:spPr>
          <a:xfrm>
            <a:off x="106680" y="76200"/>
            <a:ext cx="296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4. Core</a:t>
            </a:r>
            <a:r>
              <a:rPr lang="ko-KR" altLang="en-US" b="1">
                <a:solidFill>
                  <a:srgbClr val="C00000"/>
                </a:solidFill>
              </a:rPr>
              <a:t> </a:t>
            </a:r>
            <a:r>
              <a:rPr lang="en-US" altLang="ko-KR" b="1">
                <a:solidFill>
                  <a:srgbClr val="C00000"/>
                </a:solidFill>
              </a:rPr>
              <a:t>:</a:t>
            </a:r>
            <a:r>
              <a:rPr lang="ko-KR" altLang="en-US" b="1">
                <a:solidFill>
                  <a:srgbClr val="C00000"/>
                </a:solidFill>
              </a:rPr>
              <a:t> </a:t>
            </a:r>
            <a:r>
              <a:rPr lang="en-US" altLang="ko-KR" b="1">
                <a:solidFill>
                  <a:srgbClr val="C00000"/>
                </a:solidFill>
              </a:rPr>
              <a:t>Layer Run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4DC2C7-39CE-47A1-BFD0-36F71C5E6BCA}"/>
              </a:ext>
            </a:extLst>
          </p:cNvPr>
          <p:cNvSpPr/>
          <p:nvPr/>
        </p:nvSpPr>
        <p:spPr>
          <a:xfrm>
            <a:off x="10957113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8CF8557-2483-460E-9798-DC027B8A7518}"/>
              </a:ext>
            </a:extLst>
          </p:cNvPr>
          <p:cNvSpPr/>
          <p:nvPr/>
        </p:nvSpPr>
        <p:spPr>
          <a:xfrm>
            <a:off x="7351884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F76514E-180D-472E-BC8F-C5551B530D8E}"/>
              </a:ext>
            </a:extLst>
          </p:cNvPr>
          <p:cNvSpPr/>
          <p:nvPr/>
        </p:nvSpPr>
        <p:spPr>
          <a:xfrm>
            <a:off x="10957113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BC61AC-6042-43B8-9F74-B3E84CE0ABA4}"/>
              </a:ext>
            </a:extLst>
          </p:cNvPr>
          <p:cNvCxnSpPr/>
          <p:nvPr/>
        </p:nvCxnSpPr>
        <p:spPr>
          <a:xfrm>
            <a:off x="6918960" y="487187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C035BC4-D078-45D8-A844-1A2A8354CBD5}"/>
              </a:ext>
            </a:extLst>
          </p:cNvPr>
          <p:cNvCxnSpPr/>
          <p:nvPr/>
        </p:nvCxnSpPr>
        <p:spPr>
          <a:xfrm>
            <a:off x="10507980" y="485170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30097B5-C455-46DD-A41D-E138C305BD18}"/>
              </a:ext>
            </a:extLst>
          </p:cNvPr>
          <p:cNvSpPr/>
          <p:nvPr/>
        </p:nvSpPr>
        <p:spPr>
          <a:xfrm>
            <a:off x="731467" y="4503420"/>
            <a:ext cx="1195946" cy="16350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2 : NPU complete thread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register check : complete reg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post-process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A4958C0-D16F-4E3E-999B-0665750A5A10}"/>
              </a:ext>
            </a:extLst>
          </p:cNvPr>
          <p:cNvSpPr/>
          <p:nvPr/>
        </p:nvSpPr>
        <p:spPr>
          <a:xfrm>
            <a:off x="2367961" y="4233506"/>
            <a:ext cx="2490439" cy="26991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>
                <a:solidFill>
                  <a:srgbClr val="FFFF00"/>
                </a:solidFill>
              </a:rPr>
              <a:t>SemaPhore Entry</a:t>
            </a:r>
            <a:endParaRPr lang="ko-KR" altLang="en-US" sz="900" b="1">
              <a:solidFill>
                <a:srgbClr val="FFFF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D1A7D8E-F2E0-49F8-9DB2-BC05387393F5}"/>
              </a:ext>
            </a:extLst>
          </p:cNvPr>
          <p:cNvSpPr/>
          <p:nvPr/>
        </p:nvSpPr>
        <p:spPr>
          <a:xfrm>
            <a:off x="5203903" y="2772714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C1D4966-1BF0-4B24-9D89-CCC1B8EE4B09}"/>
              </a:ext>
            </a:extLst>
          </p:cNvPr>
          <p:cNvSpPr/>
          <p:nvPr/>
        </p:nvSpPr>
        <p:spPr>
          <a:xfrm>
            <a:off x="5203910" y="4272048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62F485-0469-4925-AB08-D52300F7411E}"/>
              </a:ext>
            </a:extLst>
          </p:cNvPr>
          <p:cNvSpPr/>
          <p:nvPr/>
        </p:nvSpPr>
        <p:spPr>
          <a:xfrm>
            <a:off x="8792622" y="2772714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C8ADEAE-B021-4907-B2F5-5432DDA4A662}"/>
              </a:ext>
            </a:extLst>
          </p:cNvPr>
          <p:cNvSpPr/>
          <p:nvPr/>
        </p:nvSpPr>
        <p:spPr>
          <a:xfrm>
            <a:off x="8792626" y="4272048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F1696E-5BB9-468E-B995-262698152284}"/>
              </a:ext>
            </a:extLst>
          </p:cNvPr>
          <p:cNvSpPr txBox="1"/>
          <p:nvPr/>
        </p:nvSpPr>
        <p:spPr>
          <a:xfrm>
            <a:off x="5299469" y="3169731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 + tensor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7EDB7B-E853-4540-84A0-776F19153794}"/>
              </a:ext>
            </a:extLst>
          </p:cNvPr>
          <p:cNvSpPr txBox="1"/>
          <p:nvPr/>
        </p:nvSpPr>
        <p:spPr>
          <a:xfrm>
            <a:off x="8915192" y="3169731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 + tensor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032D21-6643-47DD-A754-809CC504FE81}"/>
              </a:ext>
            </a:extLst>
          </p:cNvPr>
          <p:cNvSpPr txBox="1"/>
          <p:nvPr/>
        </p:nvSpPr>
        <p:spPr>
          <a:xfrm>
            <a:off x="5334069" y="4708887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tensor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270146-56FF-4F0B-8D13-AC6582954613}"/>
              </a:ext>
            </a:extLst>
          </p:cNvPr>
          <p:cNvSpPr txBox="1"/>
          <p:nvPr/>
        </p:nvSpPr>
        <p:spPr>
          <a:xfrm>
            <a:off x="8891034" y="4708887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tensor</a:t>
            </a:r>
          </a:p>
        </p:txBody>
      </p:sp>
    </p:spTree>
    <p:extLst>
      <p:ext uri="{BB962C8B-B14F-4D97-AF65-F5344CB8AC3E}">
        <p14:creationId xmlns:p14="http://schemas.microsoft.com/office/powerpoint/2010/main" val="1556658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C32627-FEDA-43C9-A518-79B722A54B15}"/>
              </a:ext>
            </a:extLst>
          </p:cNvPr>
          <p:cNvSpPr/>
          <p:nvPr/>
        </p:nvSpPr>
        <p:spPr>
          <a:xfrm>
            <a:off x="379142" y="1500629"/>
            <a:ext cx="1821366" cy="5056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Runtime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1CE950-8866-45D2-9D1C-5F7A9F2DDEFE}"/>
              </a:ext>
            </a:extLst>
          </p:cNvPr>
          <p:cNvSpPr/>
          <p:nvPr/>
        </p:nvSpPr>
        <p:spPr>
          <a:xfrm>
            <a:off x="2373147" y="1500629"/>
            <a:ext cx="2490439" cy="17247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SM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B3EFAE-A2C2-443B-B649-7639AC77A8AE}"/>
              </a:ext>
            </a:extLst>
          </p:cNvPr>
          <p:cNvSpPr/>
          <p:nvPr/>
        </p:nvSpPr>
        <p:spPr>
          <a:xfrm>
            <a:off x="2373471" y="3225351"/>
            <a:ext cx="2490439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Output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A1D956-DC96-48FD-8EBE-51D6578F1D4A}"/>
              </a:ext>
            </a:extLst>
          </p:cNvPr>
          <p:cNvSpPr/>
          <p:nvPr/>
        </p:nvSpPr>
        <p:spPr>
          <a:xfrm>
            <a:off x="2373471" y="4503420"/>
            <a:ext cx="2490439" cy="7382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Input 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0264E6-A8A7-4673-A69A-812B0BDBC3CC}"/>
              </a:ext>
            </a:extLst>
          </p:cNvPr>
          <p:cNvSpPr/>
          <p:nvPr/>
        </p:nvSpPr>
        <p:spPr>
          <a:xfrm>
            <a:off x="2373472" y="5241664"/>
            <a:ext cx="2490439" cy="1315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Temp Buffer</a:t>
            </a:r>
            <a:r>
              <a:rPr lang="ko-KR" altLang="en-US" sz="900">
                <a:solidFill>
                  <a:schemeClr val="tx1"/>
                </a:solidFill>
              </a:rPr>
              <a:t>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3BDC3-91AF-4E7D-A0FD-4D4D6B5195F9}"/>
              </a:ext>
            </a:extLst>
          </p:cNvPr>
          <p:cNvSpPr/>
          <p:nvPr/>
        </p:nvSpPr>
        <p:spPr>
          <a:xfrm>
            <a:off x="6828264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020291-90E0-4B27-9C12-0B12C468B90A}"/>
              </a:ext>
            </a:extLst>
          </p:cNvPr>
          <p:cNvSpPr/>
          <p:nvPr/>
        </p:nvSpPr>
        <p:spPr>
          <a:xfrm>
            <a:off x="5203903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4F342-3CFB-4905-8673-542548CE6D84}"/>
              </a:ext>
            </a:extLst>
          </p:cNvPr>
          <p:cNvSpPr/>
          <p:nvPr/>
        </p:nvSpPr>
        <p:spPr>
          <a:xfrm>
            <a:off x="5203907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9E5938-A150-42DE-8163-F89797E386A2}"/>
              </a:ext>
            </a:extLst>
          </p:cNvPr>
          <p:cNvSpPr/>
          <p:nvPr/>
        </p:nvSpPr>
        <p:spPr>
          <a:xfrm>
            <a:off x="5003181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F9A1E0-F683-4370-AF0A-D9DC5E6FE64E}"/>
              </a:ext>
            </a:extLst>
          </p:cNvPr>
          <p:cNvSpPr/>
          <p:nvPr/>
        </p:nvSpPr>
        <p:spPr>
          <a:xfrm>
            <a:off x="8792622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878BCE-A57F-4DEE-A99A-AA7F4D8CD1EA}"/>
              </a:ext>
            </a:extLst>
          </p:cNvPr>
          <p:cNvSpPr/>
          <p:nvPr/>
        </p:nvSpPr>
        <p:spPr>
          <a:xfrm>
            <a:off x="8591900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27E8A3-35B9-4239-B0D3-C537852664FE}"/>
              </a:ext>
            </a:extLst>
          </p:cNvPr>
          <p:cNvSpPr/>
          <p:nvPr/>
        </p:nvSpPr>
        <p:spPr>
          <a:xfrm>
            <a:off x="5003184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546872-AC0F-49BA-AE4B-36BA7DED375A}"/>
              </a:ext>
            </a:extLst>
          </p:cNvPr>
          <p:cNvSpPr/>
          <p:nvPr/>
        </p:nvSpPr>
        <p:spPr>
          <a:xfrm>
            <a:off x="8792623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8003CEC-2135-4EA2-9E22-969FF8BE7EE3}"/>
              </a:ext>
            </a:extLst>
          </p:cNvPr>
          <p:cNvSpPr/>
          <p:nvPr/>
        </p:nvSpPr>
        <p:spPr>
          <a:xfrm>
            <a:off x="8591900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3D9A22-9CE6-46B0-93D8-CD14B4ADAFA3}"/>
              </a:ext>
            </a:extLst>
          </p:cNvPr>
          <p:cNvSpPr/>
          <p:nvPr/>
        </p:nvSpPr>
        <p:spPr>
          <a:xfrm>
            <a:off x="734720" y="2706731"/>
            <a:ext cx="1192693" cy="1526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1 : NPU Start thread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pre-process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register check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Input Write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C70A57-B378-401E-9162-8F5A16694F42}"/>
              </a:ext>
            </a:extLst>
          </p:cNvPr>
          <p:cNvSpPr txBox="1"/>
          <p:nvPr/>
        </p:nvSpPr>
        <p:spPr>
          <a:xfrm>
            <a:off x="3004956" y="2247573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72620C-E600-4E43-92D4-C16976FBEF47}"/>
              </a:ext>
            </a:extLst>
          </p:cNvPr>
          <p:cNvSpPr txBox="1"/>
          <p:nvPr/>
        </p:nvSpPr>
        <p:spPr>
          <a:xfrm>
            <a:off x="5326473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47A52-D139-4C5D-8906-68D3FE168810}"/>
              </a:ext>
            </a:extLst>
          </p:cNvPr>
          <p:cNvSpPr txBox="1"/>
          <p:nvPr/>
        </p:nvSpPr>
        <p:spPr>
          <a:xfrm>
            <a:off x="8915192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0CE681-EEE6-4ABA-8D00-368CE7F820FD}"/>
              </a:ext>
            </a:extLst>
          </p:cNvPr>
          <p:cNvSpPr/>
          <p:nvPr/>
        </p:nvSpPr>
        <p:spPr>
          <a:xfrm>
            <a:off x="7351884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4A4A9BB-8398-441D-A63F-28ED6C44A443}"/>
              </a:ext>
            </a:extLst>
          </p:cNvPr>
          <p:cNvSpPr/>
          <p:nvPr/>
        </p:nvSpPr>
        <p:spPr>
          <a:xfrm>
            <a:off x="10416987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2F2E0E-8339-431A-A501-2A9BFBD32B19}"/>
              </a:ext>
            </a:extLst>
          </p:cNvPr>
          <p:cNvSpPr/>
          <p:nvPr/>
        </p:nvSpPr>
        <p:spPr>
          <a:xfrm>
            <a:off x="6828264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E8CDBB-9B70-47C3-879D-C4CEEF0B23DA}"/>
              </a:ext>
            </a:extLst>
          </p:cNvPr>
          <p:cNvSpPr/>
          <p:nvPr/>
        </p:nvSpPr>
        <p:spPr>
          <a:xfrm>
            <a:off x="10416987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8AFA1F9-FA83-430D-9DCF-B2C0DC5E44D3}"/>
              </a:ext>
            </a:extLst>
          </p:cNvPr>
          <p:cNvCxnSpPr/>
          <p:nvPr/>
        </p:nvCxnSpPr>
        <p:spPr>
          <a:xfrm>
            <a:off x="6918960" y="2515329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A396177-FBA9-435D-91E4-B0E65BE65B0B}"/>
              </a:ext>
            </a:extLst>
          </p:cNvPr>
          <p:cNvCxnSpPr/>
          <p:nvPr/>
        </p:nvCxnSpPr>
        <p:spPr>
          <a:xfrm>
            <a:off x="10507980" y="2247573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167510B-A068-498D-8C2F-298B83D3C11D}"/>
              </a:ext>
            </a:extLst>
          </p:cNvPr>
          <p:cNvSpPr txBox="1"/>
          <p:nvPr/>
        </p:nvSpPr>
        <p:spPr>
          <a:xfrm>
            <a:off x="245543" y="418696"/>
            <a:ext cx="459456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Layer End</a:t>
            </a:r>
          </a:p>
          <a:p>
            <a:r>
              <a:rPr lang="en-US" altLang="ko-KR" sz="900"/>
              <a:t>1. </a:t>
            </a:r>
            <a:r>
              <a:rPr lang="ko-KR" altLang="en-US" sz="900"/>
              <a:t>먼저끝난 코어부터 결과 데이터를 </a:t>
            </a:r>
            <a:r>
              <a:rPr lang="en-US" altLang="ko-KR" sz="900"/>
              <a:t>broadcasting</a:t>
            </a:r>
            <a:r>
              <a:rPr lang="ko-KR" altLang="en-US" sz="900"/>
              <a:t>한다</a:t>
            </a:r>
            <a:r>
              <a:rPr lang="en-US" altLang="ko-KR" sz="900"/>
              <a:t>. </a:t>
            </a:r>
          </a:p>
          <a:p>
            <a:r>
              <a:rPr lang="en-US" altLang="ko-KR" sz="900"/>
              <a:t>2. double buffering</a:t>
            </a:r>
            <a:r>
              <a:rPr lang="ko-KR" altLang="en-US" sz="900"/>
              <a:t>으로</a:t>
            </a:r>
            <a:r>
              <a:rPr lang="en-US" altLang="ko-KR" sz="900"/>
              <a:t>, </a:t>
            </a:r>
            <a:r>
              <a:rPr lang="ko-KR" altLang="en-US" sz="900"/>
              <a:t>다른 영역을 사용하여 </a:t>
            </a:r>
            <a:r>
              <a:rPr lang="en-US" altLang="ko-KR" sz="900"/>
              <a:t>layer_start</a:t>
            </a:r>
            <a:r>
              <a:rPr lang="ko-KR" altLang="en-US" sz="900"/>
              <a:t>에 먼저 진입한다</a:t>
            </a:r>
            <a:r>
              <a:rPr lang="en-US" altLang="ko-KR" sz="900"/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36AFF-A76C-41D8-82B4-29964313DAF7}"/>
              </a:ext>
            </a:extLst>
          </p:cNvPr>
          <p:cNvSpPr txBox="1"/>
          <p:nvPr/>
        </p:nvSpPr>
        <p:spPr>
          <a:xfrm>
            <a:off x="106680" y="76200"/>
            <a:ext cx="296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5. Core</a:t>
            </a:r>
            <a:r>
              <a:rPr lang="ko-KR" altLang="en-US" b="1">
                <a:solidFill>
                  <a:srgbClr val="C00000"/>
                </a:solidFill>
              </a:rPr>
              <a:t> </a:t>
            </a:r>
            <a:r>
              <a:rPr lang="en-US" altLang="ko-KR" b="1">
                <a:solidFill>
                  <a:srgbClr val="C00000"/>
                </a:solidFill>
              </a:rPr>
              <a:t>:</a:t>
            </a:r>
            <a:r>
              <a:rPr lang="ko-KR" altLang="en-US" b="1">
                <a:solidFill>
                  <a:srgbClr val="C00000"/>
                </a:solidFill>
              </a:rPr>
              <a:t> </a:t>
            </a:r>
            <a:r>
              <a:rPr lang="en-US" altLang="ko-KR" b="1">
                <a:solidFill>
                  <a:srgbClr val="C00000"/>
                </a:solidFill>
              </a:rPr>
              <a:t>Layer End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4DC2C7-39CE-47A1-BFD0-36F71C5E6BCA}"/>
              </a:ext>
            </a:extLst>
          </p:cNvPr>
          <p:cNvSpPr/>
          <p:nvPr/>
        </p:nvSpPr>
        <p:spPr>
          <a:xfrm>
            <a:off x="10957113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8CF8557-2483-460E-9798-DC027B8A7518}"/>
              </a:ext>
            </a:extLst>
          </p:cNvPr>
          <p:cNvSpPr/>
          <p:nvPr/>
        </p:nvSpPr>
        <p:spPr>
          <a:xfrm>
            <a:off x="7351884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F76514E-180D-472E-BC8F-C5551B530D8E}"/>
              </a:ext>
            </a:extLst>
          </p:cNvPr>
          <p:cNvSpPr/>
          <p:nvPr/>
        </p:nvSpPr>
        <p:spPr>
          <a:xfrm>
            <a:off x="10957113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BC61AC-6042-43B8-9F74-B3E84CE0ABA4}"/>
              </a:ext>
            </a:extLst>
          </p:cNvPr>
          <p:cNvCxnSpPr/>
          <p:nvPr/>
        </p:nvCxnSpPr>
        <p:spPr>
          <a:xfrm>
            <a:off x="6918960" y="487187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C035BC4-D078-45D8-A844-1A2A8354CBD5}"/>
              </a:ext>
            </a:extLst>
          </p:cNvPr>
          <p:cNvCxnSpPr/>
          <p:nvPr/>
        </p:nvCxnSpPr>
        <p:spPr>
          <a:xfrm>
            <a:off x="10507980" y="485170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30097B5-C455-46DD-A41D-E138C305BD18}"/>
              </a:ext>
            </a:extLst>
          </p:cNvPr>
          <p:cNvSpPr/>
          <p:nvPr/>
        </p:nvSpPr>
        <p:spPr>
          <a:xfrm>
            <a:off x="731467" y="4503420"/>
            <a:ext cx="1195946" cy="16350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2 : NPU complete thread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register check : complete reg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post-process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A4958C0-D16F-4E3E-999B-0665750A5A10}"/>
              </a:ext>
            </a:extLst>
          </p:cNvPr>
          <p:cNvSpPr/>
          <p:nvPr/>
        </p:nvSpPr>
        <p:spPr>
          <a:xfrm>
            <a:off x="2367961" y="4233506"/>
            <a:ext cx="2490439" cy="26991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>
                <a:solidFill>
                  <a:srgbClr val="FFFF00"/>
                </a:solidFill>
              </a:rPr>
              <a:t>SemaPhore Entry</a:t>
            </a:r>
            <a:endParaRPr lang="ko-KR" altLang="en-US" sz="900" b="1">
              <a:solidFill>
                <a:srgbClr val="FFFF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D1A7D8E-F2E0-49F8-9DB2-BC05387393F5}"/>
              </a:ext>
            </a:extLst>
          </p:cNvPr>
          <p:cNvSpPr/>
          <p:nvPr/>
        </p:nvSpPr>
        <p:spPr>
          <a:xfrm>
            <a:off x="5203903" y="2772714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C1D4966-1BF0-4B24-9D89-CCC1B8EE4B09}"/>
              </a:ext>
            </a:extLst>
          </p:cNvPr>
          <p:cNvSpPr/>
          <p:nvPr/>
        </p:nvSpPr>
        <p:spPr>
          <a:xfrm>
            <a:off x="5203910" y="4272048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62F485-0469-4925-AB08-D52300F7411E}"/>
              </a:ext>
            </a:extLst>
          </p:cNvPr>
          <p:cNvSpPr/>
          <p:nvPr/>
        </p:nvSpPr>
        <p:spPr>
          <a:xfrm>
            <a:off x="8792622" y="2772714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C8ADEAE-B021-4907-B2F5-5432DDA4A662}"/>
              </a:ext>
            </a:extLst>
          </p:cNvPr>
          <p:cNvSpPr/>
          <p:nvPr/>
        </p:nvSpPr>
        <p:spPr>
          <a:xfrm>
            <a:off x="8792626" y="4272048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F1696E-5BB9-468E-B995-262698152284}"/>
              </a:ext>
            </a:extLst>
          </p:cNvPr>
          <p:cNvSpPr txBox="1"/>
          <p:nvPr/>
        </p:nvSpPr>
        <p:spPr>
          <a:xfrm>
            <a:off x="5299469" y="3169731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 + tensor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7EDB7B-E853-4540-84A0-776F19153794}"/>
              </a:ext>
            </a:extLst>
          </p:cNvPr>
          <p:cNvSpPr txBox="1"/>
          <p:nvPr/>
        </p:nvSpPr>
        <p:spPr>
          <a:xfrm>
            <a:off x="8915192" y="3169731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 + tensor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032D21-6643-47DD-A754-809CC504FE81}"/>
              </a:ext>
            </a:extLst>
          </p:cNvPr>
          <p:cNvSpPr txBox="1"/>
          <p:nvPr/>
        </p:nvSpPr>
        <p:spPr>
          <a:xfrm>
            <a:off x="5334069" y="4708887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tensor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270146-56FF-4F0B-8D13-AC6582954613}"/>
              </a:ext>
            </a:extLst>
          </p:cNvPr>
          <p:cNvSpPr txBox="1"/>
          <p:nvPr/>
        </p:nvSpPr>
        <p:spPr>
          <a:xfrm>
            <a:off x="8891034" y="4708887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tensor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1DFA1B-5F80-4964-BEB2-AAF96078656F}"/>
              </a:ext>
            </a:extLst>
          </p:cNvPr>
          <p:cNvSpPr txBox="1"/>
          <p:nvPr/>
        </p:nvSpPr>
        <p:spPr>
          <a:xfrm>
            <a:off x="5188455" y="441790"/>
            <a:ext cx="459456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상세</a:t>
            </a:r>
            <a:endParaRPr lang="en-US" altLang="ko-KR" sz="900"/>
          </a:p>
          <a:p>
            <a:r>
              <a:rPr lang="en-US" altLang="ko-KR" sz="900"/>
              <a:t>1.1 </a:t>
            </a:r>
            <a:r>
              <a:rPr lang="ko-KR" altLang="en-US" sz="900"/>
              <a:t>데이터를 다른 버퍼에 쓰는 과정에 앞서 설명한 부분과 같다</a:t>
            </a:r>
            <a:r>
              <a:rPr lang="en-US" altLang="ko-KR" sz="900"/>
              <a:t>. </a:t>
            </a:r>
          </a:p>
          <a:p>
            <a:r>
              <a:rPr lang="en-US" altLang="ko-KR" sz="900"/>
              <a:t>2.1 UB </a:t>
            </a:r>
            <a:r>
              <a:rPr lang="ko-KR" altLang="en-US" sz="900"/>
              <a:t>영역을 반으로 나누어 번갈아가며 사용한다</a:t>
            </a:r>
            <a:r>
              <a:rPr lang="en-US" altLang="ko-KR" sz="900"/>
              <a:t>. write</a:t>
            </a:r>
            <a:r>
              <a:rPr lang="ko-KR" altLang="en-US" sz="900"/>
              <a:t>해야하는 데이터는 누군가 읽어가기 전에 사용하지 못하므로 다음 </a:t>
            </a:r>
            <a:r>
              <a:rPr lang="en-US" altLang="ko-KR" sz="900"/>
              <a:t>layer</a:t>
            </a:r>
            <a:r>
              <a:rPr lang="ko-KR" altLang="en-US" sz="900"/>
              <a:t>를 위한 데이터를 읽어오지 못하지만</a:t>
            </a:r>
            <a:r>
              <a:rPr lang="en-US" altLang="ko-KR" sz="900"/>
              <a:t>, </a:t>
            </a:r>
            <a:r>
              <a:rPr lang="ko-KR" altLang="en-US" sz="900"/>
              <a:t>영역을 반으로 나누면 다른 영역에서 작업을 진행하면 된다</a:t>
            </a:r>
            <a:r>
              <a:rPr lang="en-US" altLang="ko-KR" sz="90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3014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C32627-FEDA-43C9-A518-79B722A54B15}"/>
              </a:ext>
            </a:extLst>
          </p:cNvPr>
          <p:cNvSpPr/>
          <p:nvPr/>
        </p:nvSpPr>
        <p:spPr>
          <a:xfrm>
            <a:off x="379142" y="1500629"/>
            <a:ext cx="1821366" cy="5056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Runtime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1CE950-8866-45D2-9D1C-5F7A9F2DDEFE}"/>
              </a:ext>
            </a:extLst>
          </p:cNvPr>
          <p:cNvSpPr/>
          <p:nvPr/>
        </p:nvSpPr>
        <p:spPr>
          <a:xfrm>
            <a:off x="2373147" y="1500629"/>
            <a:ext cx="2490439" cy="17247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SM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B3EFAE-A2C2-443B-B649-7639AC77A8AE}"/>
              </a:ext>
            </a:extLst>
          </p:cNvPr>
          <p:cNvSpPr/>
          <p:nvPr/>
        </p:nvSpPr>
        <p:spPr>
          <a:xfrm>
            <a:off x="2373471" y="3225351"/>
            <a:ext cx="2490439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Output</a:t>
            </a:r>
            <a:r>
              <a:rPr lang="ko-KR" altLang="en-US" sz="900">
                <a:solidFill>
                  <a:srgbClr val="FF0000"/>
                </a:solidFill>
              </a:rPr>
              <a:t> </a:t>
            </a:r>
            <a:r>
              <a:rPr lang="en-US" altLang="ko-KR" sz="900">
                <a:solidFill>
                  <a:srgbClr val="FF0000"/>
                </a:solidFill>
              </a:rPr>
              <a:t>Buffer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A1D956-DC96-48FD-8EBE-51D6578F1D4A}"/>
              </a:ext>
            </a:extLst>
          </p:cNvPr>
          <p:cNvSpPr/>
          <p:nvPr/>
        </p:nvSpPr>
        <p:spPr>
          <a:xfrm>
            <a:off x="2373471" y="4503420"/>
            <a:ext cx="2490439" cy="7382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Input Buffer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0264E6-A8A7-4673-A69A-812B0BDBC3CC}"/>
              </a:ext>
            </a:extLst>
          </p:cNvPr>
          <p:cNvSpPr/>
          <p:nvPr/>
        </p:nvSpPr>
        <p:spPr>
          <a:xfrm>
            <a:off x="2373472" y="5241664"/>
            <a:ext cx="2490439" cy="1315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Temp Buffer</a:t>
            </a:r>
            <a:r>
              <a:rPr lang="ko-KR" altLang="en-US" sz="900">
                <a:solidFill>
                  <a:schemeClr val="tx1"/>
                </a:solidFill>
              </a:rPr>
              <a:t>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3BDC3-91AF-4E7D-A0FD-4D4D6B5195F9}"/>
              </a:ext>
            </a:extLst>
          </p:cNvPr>
          <p:cNvSpPr/>
          <p:nvPr/>
        </p:nvSpPr>
        <p:spPr>
          <a:xfrm>
            <a:off x="6828264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8020291-90E0-4B27-9C12-0B12C468B90A}"/>
              </a:ext>
            </a:extLst>
          </p:cNvPr>
          <p:cNvSpPr/>
          <p:nvPr/>
        </p:nvSpPr>
        <p:spPr>
          <a:xfrm>
            <a:off x="5203903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B4F342-3CFB-4905-8673-542548CE6D84}"/>
              </a:ext>
            </a:extLst>
          </p:cNvPr>
          <p:cNvSpPr/>
          <p:nvPr/>
        </p:nvSpPr>
        <p:spPr>
          <a:xfrm>
            <a:off x="5203907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9E5938-A150-42DE-8163-F89797E386A2}"/>
              </a:ext>
            </a:extLst>
          </p:cNvPr>
          <p:cNvSpPr/>
          <p:nvPr/>
        </p:nvSpPr>
        <p:spPr>
          <a:xfrm>
            <a:off x="5003181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F9A1E0-F683-4370-AF0A-D9DC5E6FE64E}"/>
              </a:ext>
            </a:extLst>
          </p:cNvPr>
          <p:cNvSpPr/>
          <p:nvPr/>
        </p:nvSpPr>
        <p:spPr>
          <a:xfrm>
            <a:off x="8792622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878BCE-A57F-4DEE-A99A-AA7F4D8CD1EA}"/>
              </a:ext>
            </a:extLst>
          </p:cNvPr>
          <p:cNvSpPr/>
          <p:nvPr/>
        </p:nvSpPr>
        <p:spPr>
          <a:xfrm>
            <a:off x="8591900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27E8A3-35B9-4239-B0D3-C537852664FE}"/>
              </a:ext>
            </a:extLst>
          </p:cNvPr>
          <p:cNvSpPr/>
          <p:nvPr/>
        </p:nvSpPr>
        <p:spPr>
          <a:xfrm>
            <a:off x="5003184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546872-AC0F-49BA-AE4B-36BA7DED375A}"/>
              </a:ext>
            </a:extLst>
          </p:cNvPr>
          <p:cNvSpPr/>
          <p:nvPr/>
        </p:nvSpPr>
        <p:spPr>
          <a:xfrm>
            <a:off x="8792623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8003CEC-2135-4EA2-9E22-969FF8BE7EE3}"/>
              </a:ext>
            </a:extLst>
          </p:cNvPr>
          <p:cNvSpPr/>
          <p:nvPr/>
        </p:nvSpPr>
        <p:spPr>
          <a:xfrm>
            <a:off x="8591900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03D9A22-9CE6-46B0-93D8-CD14B4ADAFA3}"/>
              </a:ext>
            </a:extLst>
          </p:cNvPr>
          <p:cNvSpPr/>
          <p:nvPr/>
        </p:nvSpPr>
        <p:spPr>
          <a:xfrm>
            <a:off x="734720" y="2706731"/>
            <a:ext cx="1192693" cy="1526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1 : NPU Start thread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pre-process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register check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Input Write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C70A57-B378-401E-9162-8F5A16694F42}"/>
              </a:ext>
            </a:extLst>
          </p:cNvPr>
          <p:cNvSpPr txBox="1"/>
          <p:nvPr/>
        </p:nvSpPr>
        <p:spPr>
          <a:xfrm>
            <a:off x="3004956" y="2247573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72620C-E600-4E43-92D4-C16976FBEF47}"/>
              </a:ext>
            </a:extLst>
          </p:cNvPr>
          <p:cNvSpPr txBox="1"/>
          <p:nvPr/>
        </p:nvSpPr>
        <p:spPr>
          <a:xfrm>
            <a:off x="5326473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47A52-D139-4C5D-8906-68D3FE168810}"/>
              </a:ext>
            </a:extLst>
          </p:cNvPr>
          <p:cNvSpPr txBox="1"/>
          <p:nvPr/>
        </p:nvSpPr>
        <p:spPr>
          <a:xfrm>
            <a:off x="8915192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0CE681-EEE6-4ABA-8D00-368CE7F820FD}"/>
              </a:ext>
            </a:extLst>
          </p:cNvPr>
          <p:cNvSpPr/>
          <p:nvPr/>
        </p:nvSpPr>
        <p:spPr>
          <a:xfrm>
            <a:off x="7351884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rgbClr val="FF0000"/>
                </a:solidFill>
              </a:rPr>
              <a:t>stop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(loop_end_pc)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4A4A9BB-8398-441D-A63F-28ED6C44A443}"/>
              </a:ext>
            </a:extLst>
          </p:cNvPr>
          <p:cNvSpPr/>
          <p:nvPr/>
        </p:nvSpPr>
        <p:spPr>
          <a:xfrm>
            <a:off x="10416987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2F2E0E-8339-431A-A501-2A9BFBD32B19}"/>
              </a:ext>
            </a:extLst>
          </p:cNvPr>
          <p:cNvSpPr/>
          <p:nvPr/>
        </p:nvSpPr>
        <p:spPr>
          <a:xfrm>
            <a:off x="6828264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E8CDBB-9B70-47C3-879D-C4CEEF0B23DA}"/>
              </a:ext>
            </a:extLst>
          </p:cNvPr>
          <p:cNvSpPr/>
          <p:nvPr/>
        </p:nvSpPr>
        <p:spPr>
          <a:xfrm>
            <a:off x="10416987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8AFA1F9-FA83-430D-9DCF-B2C0DC5E44D3}"/>
              </a:ext>
            </a:extLst>
          </p:cNvPr>
          <p:cNvCxnSpPr/>
          <p:nvPr/>
        </p:nvCxnSpPr>
        <p:spPr>
          <a:xfrm>
            <a:off x="6918960" y="3490689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A396177-FBA9-435D-91E4-B0E65BE65B0B}"/>
              </a:ext>
            </a:extLst>
          </p:cNvPr>
          <p:cNvCxnSpPr/>
          <p:nvPr/>
        </p:nvCxnSpPr>
        <p:spPr>
          <a:xfrm>
            <a:off x="10507980" y="2247573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167510B-A068-498D-8C2F-298B83D3C11D}"/>
              </a:ext>
            </a:extLst>
          </p:cNvPr>
          <p:cNvSpPr txBox="1"/>
          <p:nvPr/>
        </p:nvSpPr>
        <p:spPr>
          <a:xfrm>
            <a:off x="245543" y="418696"/>
            <a:ext cx="45945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loop_jump or stop</a:t>
            </a:r>
          </a:p>
          <a:p>
            <a:r>
              <a:rPr lang="en-US" altLang="ko-KR" sz="900"/>
              <a:t>1. loop_end_pc</a:t>
            </a:r>
            <a:r>
              <a:rPr lang="ko-KR" altLang="en-US" sz="900"/>
              <a:t>에 도착하면 </a:t>
            </a:r>
            <a:r>
              <a:rPr lang="en-US" altLang="ko-KR" sz="900"/>
              <a:t>queue complete counter</a:t>
            </a:r>
            <a:r>
              <a:rPr lang="ko-KR" altLang="en-US" sz="900"/>
              <a:t>를 </a:t>
            </a:r>
            <a:r>
              <a:rPr lang="en-US" altLang="ko-KR" sz="900"/>
              <a:t>1 </a:t>
            </a:r>
            <a:r>
              <a:rPr lang="ko-KR" altLang="en-US" sz="900"/>
              <a:t>증가시킨다</a:t>
            </a:r>
            <a:r>
              <a:rPr lang="en-US" altLang="ko-KR" sz="900"/>
              <a:t>. </a:t>
            </a:r>
          </a:p>
          <a:p>
            <a:r>
              <a:rPr lang="en-US" altLang="ko-KR" sz="900"/>
              <a:t>2.1 ISA</a:t>
            </a:r>
            <a:r>
              <a:rPr lang="ko-KR" altLang="en-US" sz="900"/>
              <a:t>에 설정된 </a:t>
            </a:r>
            <a:r>
              <a:rPr lang="en-US" altLang="ko-KR" sz="900"/>
              <a:t>layer_count</a:t>
            </a:r>
            <a:r>
              <a:rPr lang="ko-KR" altLang="en-US" sz="900"/>
              <a:t>와 </a:t>
            </a:r>
            <a:r>
              <a:rPr lang="en-US" altLang="ko-KR" sz="900"/>
              <a:t>layer_count register</a:t>
            </a:r>
            <a:r>
              <a:rPr lang="ko-KR" altLang="en-US" sz="900"/>
              <a:t>를 비교하여 값이 같거나 </a:t>
            </a:r>
            <a:r>
              <a:rPr lang="en-US" altLang="ko-KR" sz="900"/>
              <a:t>layer_count</a:t>
            </a:r>
            <a:r>
              <a:rPr lang="ko-KR" altLang="en-US" sz="900"/>
              <a:t>가 더 크면 </a:t>
            </a:r>
            <a:r>
              <a:rPr lang="en-US" altLang="ko-KR" sz="900"/>
              <a:t>pc</a:t>
            </a:r>
            <a:r>
              <a:rPr lang="ko-KR" altLang="en-US" sz="900"/>
              <a:t>를 </a:t>
            </a:r>
            <a:r>
              <a:rPr lang="en-US" altLang="ko-KR" sz="900"/>
              <a:t>stop</a:t>
            </a:r>
            <a:r>
              <a:rPr lang="ko-KR" altLang="en-US" sz="900"/>
              <a:t>으로 옮긴다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2.2 layer_count</a:t>
            </a:r>
            <a:r>
              <a:rPr lang="ko-KR" altLang="en-US" sz="900"/>
              <a:t>가 더 작으면 </a:t>
            </a:r>
            <a:r>
              <a:rPr lang="en-US" altLang="ko-KR" sz="900"/>
              <a:t>pc</a:t>
            </a:r>
            <a:r>
              <a:rPr lang="ko-KR" altLang="en-US" sz="900"/>
              <a:t>를 </a:t>
            </a:r>
            <a:r>
              <a:rPr lang="en-US" altLang="ko-KR" sz="900"/>
              <a:t>loop_jump</a:t>
            </a:r>
            <a:r>
              <a:rPr lang="ko-KR" altLang="en-US" sz="900"/>
              <a:t>로 옮긴다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2.3 queue complete counter</a:t>
            </a:r>
            <a:r>
              <a:rPr lang="ko-KR" altLang="en-US" sz="900"/>
              <a:t>가 코어 개수와 값이 같다면 </a:t>
            </a:r>
            <a:r>
              <a:rPr lang="en-US" altLang="ko-KR" sz="900"/>
              <a:t>0</a:t>
            </a:r>
            <a:r>
              <a:rPr lang="ko-KR" altLang="en-US" sz="900"/>
              <a:t>으로 만들고</a:t>
            </a:r>
            <a:r>
              <a:rPr lang="en-US" altLang="ko-KR" sz="900"/>
              <a:t>, loop count register </a:t>
            </a:r>
            <a:r>
              <a:rPr lang="ko-KR" altLang="en-US" sz="900"/>
              <a:t>값도 </a:t>
            </a:r>
            <a:r>
              <a:rPr lang="en-US" altLang="ko-KR" sz="900"/>
              <a:t>1 </a:t>
            </a:r>
            <a:r>
              <a:rPr lang="ko-KR" altLang="en-US" sz="900"/>
              <a:t>증가한다</a:t>
            </a:r>
            <a:r>
              <a:rPr lang="en-US" altLang="ko-KR" sz="900"/>
              <a:t>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36AFF-A76C-41D8-82B4-29964313DAF7}"/>
              </a:ext>
            </a:extLst>
          </p:cNvPr>
          <p:cNvSpPr txBox="1"/>
          <p:nvPr/>
        </p:nvSpPr>
        <p:spPr>
          <a:xfrm>
            <a:off x="106680" y="76200"/>
            <a:ext cx="296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6. loop_jump</a:t>
            </a:r>
            <a:r>
              <a:rPr lang="ko-KR" altLang="en-US" b="1">
                <a:solidFill>
                  <a:srgbClr val="C00000"/>
                </a:solidFill>
              </a:rPr>
              <a:t> </a:t>
            </a:r>
            <a:r>
              <a:rPr lang="en-US" altLang="ko-KR" b="1">
                <a:solidFill>
                  <a:srgbClr val="C00000"/>
                </a:solidFill>
              </a:rPr>
              <a:t>or</a:t>
            </a:r>
            <a:r>
              <a:rPr lang="ko-KR" altLang="en-US" b="1">
                <a:solidFill>
                  <a:srgbClr val="C00000"/>
                </a:solidFill>
              </a:rPr>
              <a:t> </a:t>
            </a:r>
            <a:r>
              <a:rPr lang="en-US" altLang="ko-KR" b="1">
                <a:solidFill>
                  <a:srgbClr val="C00000"/>
                </a:solidFill>
              </a:rPr>
              <a:t>stop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4DC2C7-39CE-47A1-BFD0-36F71C5E6BCA}"/>
              </a:ext>
            </a:extLst>
          </p:cNvPr>
          <p:cNvSpPr/>
          <p:nvPr/>
        </p:nvSpPr>
        <p:spPr>
          <a:xfrm>
            <a:off x="10957113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8CF8557-2483-460E-9798-DC027B8A7518}"/>
              </a:ext>
            </a:extLst>
          </p:cNvPr>
          <p:cNvSpPr/>
          <p:nvPr/>
        </p:nvSpPr>
        <p:spPr>
          <a:xfrm>
            <a:off x="7351884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F76514E-180D-472E-BC8F-C5551B530D8E}"/>
              </a:ext>
            </a:extLst>
          </p:cNvPr>
          <p:cNvSpPr/>
          <p:nvPr/>
        </p:nvSpPr>
        <p:spPr>
          <a:xfrm>
            <a:off x="10957113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8BC61AC-6042-43B8-9F74-B3E84CE0ABA4}"/>
              </a:ext>
            </a:extLst>
          </p:cNvPr>
          <p:cNvCxnSpPr/>
          <p:nvPr/>
        </p:nvCxnSpPr>
        <p:spPr>
          <a:xfrm>
            <a:off x="6918960" y="487187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C035BC4-D078-45D8-A844-1A2A8354CBD5}"/>
              </a:ext>
            </a:extLst>
          </p:cNvPr>
          <p:cNvCxnSpPr/>
          <p:nvPr/>
        </p:nvCxnSpPr>
        <p:spPr>
          <a:xfrm>
            <a:off x="10507980" y="4851700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30097B5-C455-46DD-A41D-E138C305BD18}"/>
              </a:ext>
            </a:extLst>
          </p:cNvPr>
          <p:cNvSpPr/>
          <p:nvPr/>
        </p:nvSpPr>
        <p:spPr>
          <a:xfrm>
            <a:off x="731467" y="4503420"/>
            <a:ext cx="1195946" cy="16350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 b="1">
                <a:solidFill>
                  <a:schemeClr val="tx1"/>
                </a:solidFill>
              </a:rPr>
              <a:t>thread</a:t>
            </a:r>
            <a:r>
              <a:rPr lang="ko-KR" altLang="en-US" sz="900" b="1">
                <a:solidFill>
                  <a:schemeClr val="tx1"/>
                </a:solidFill>
              </a:rPr>
              <a:t> </a:t>
            </a:r>
            <a:r>
              <a:rPr lang="en-US" altLang="ko-KR" sz="900" b="1">
                <a:solidFill>
                  <a:schemeClr val="tx1"/>
                </a:solidFill>
              </a:rPr>
              <a:t>2 : NPU complete thread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while{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register check : complete reg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read output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post-process ...</a:t>
            </a:r>
          </a:p>
          <a:p>
            <a:endParaRPr lang="en-US" altLang="ko-KR" sz="900">
              <a:solidFill>
                <a:schemeClr val="tx1"/>
              </a:solidFill>
            </a:endParaRPr>
          </a:p>
          <a:p>
            <a:r>
              <a:rPr lang="en-US" altLang="ko-KR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A4958C0-D16F-4E3E-999B-0665750A5A10}"/>
              </a:ext>
            </a:extLst>
          </p:cNvPr>
          <p:cNvSpPr/>
          <p:nvPr/>
        </p:nvSpPr>
        <p:spPr>
          <a:xfrm>
            <a:off x="2367961" y="4233506"/>
            <a:ext cx="2490439" cy="26991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>
                <a:solidFill>
                  <a:srgbClr val="FFFF00"/>
                </a:solidFill>
              </a:rPr>
              <a:t>SemaPhore Entry</a:t>
            </a:r>
            <a:endParaRPr lang="ko-KR" altLang="en-US" sz="900" b="1">
              <a:solidFill>
                <a:srgbClr val="FFFF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D1A7D8E-F2E0-49F8-9DB2-BC05387393F5}"/>
              </a:ext>
            </a:extLst>
          </p:cNvPr>
          <p:cNvSpPr/>
          <p:nvPr/>
        </p:nvSpPr>
        <p:spPr>
          <a:xfrm>
            <a:off x="5203903" y="2772714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C1D4966-1BF0-4B24-9D89-CCC1B8EE4B09}"/>
              </a:ext>
            </a:extLst>
          </p:cNvPr>
          <p:cNvSpPr/>
          <p:nvPr/>
        </p:nvSpPr>
        <p:spPr>
          <a:xfrm>
            <a:off x="5203910" y="4272048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62F485-0469-4925-AB08-D52300F7411E}"/>
              </a:ext>
            </a:extLst>
          </p:cNvPr>
          <p:cNvSpPr/>
          <p:nvPr/>
        </p:nvSpPr>
        <p:spPr>
          <a:xfrm>
            <a:off x="8792622" y="2772714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C8ADEAE-B021-4907-B2F5-5432DDA4A662}"/>
              </a:ext>
            </a:extLst>
          </p:cNvPr>
          <p:cNvSpPr/>
          <p:nvPr/>
        </p:nvSpPr>
        <p:spPr>
          <a:xfrm>
            <a:off x="8792626" y="4272048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F1696E-5BB9-468E-B995-262698152284}"/>
              </a:ext>
            </a:extLst>
          </p:cNvPr>
          <p:cNvSpPr txBox="1"/>
          <p:nvPr/>
        </p:nvSpPr>
        <p:spPr>
          <a:xfrm>
            <a:off x="5299469" y="3169731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 + tensor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7EDB7B-E853-4540-84A0-776F19153794}"/>
              </a:ext>
            </a:extLst>
          </p:cNvPr>
          <p:cNvSpPr txBox="1"/>
          <p:nvPr/>
        </p:nvSpPr>
        <p:spPr>
          <a:xfrm>
            <a:off x="8915192" y="3169731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 + tensor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032D21-6643-47DD-A754-809CC504FE81}"/>
              </a:ext>
            </a:extLst>
          </p:cNvPr>
          <p:cNvSpPr txBox="1"/>
          <p:nvPr/>
        </p:nvSpPr>
        <p:spPr>
          <a:xfrm>
            <a:off x="5334069" y="4708887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tensor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270146-56FF-4F0B-8D13-AC6582954613}"/>
              </a:ext>
            </a:extLst>
          </p:cNvPr>
          <p:cNvSpPr txBox="1"/>
          <p:nvPr/>
        </p:nvSpPr>
        <p:spPr>
          <a:xfrm>
            <a:off x="8891034" y="4708887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tensor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1061438-5AAA-4A1C-9B33-170DEAFFC608}"/>
              </a:ext>
            </a:extLst>
          </p:cNvPr>
          <p:cNvSpPr/>
          <p:nvPr/>
        </p:nvSpPr>
        <p:spPr>
          <a:xfrm>
            <a:off x="9297544" y="790813"/>
            <a:ext cx="906780" cy="64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Reg : Queue Complete Counter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02AF1B-18B2-4089-A990-40853A4FA665}"/>
              </a:ext>
            </a:extLst>
          </p:cNvPr>
          <p:cNvSpPr txBox="1"/>
          <p:nvPr/>
        </p:nvSpPr>
        <p:spPr>
          <a:xfrm>
            <a:off x="4861182" y="472402"/>
            <a:ext cx="35914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3. loop_jump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pc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loop_start_pc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 옮긴다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다른 코어가 아직 이전 </a:t>
            </a:r>
            <a:r>
              <a:rPr lang="ko-KR" altLang="en-US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추론을 수행하고 있더라도 먼저 다음 추론을 계산하고 있는다</a:t>
            </a:r>
            <a:r>
              <a:rPr lang="en-US" altLang="ko-KR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90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2.4. queue complete </a:t>
            </a:r>
            <a:r>
              <a:rPr lang="en-US" altLang="ko-KR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counter</a:t>
            </a:r>
            <a:r>
              <a:rPr lang="ko-KR" altLang="en-US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가 </a:t>
            </a:r>
            <a:r>
              <a:rPr lang="en-US" altLang="ko-KR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0</a:t>
            </a:r>
            <a:r>
              <a:rPr lang="ko-KR" altLang="en-US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으로 되면 </a:t>
            </a:r>
            <a:r>
              <a:rPr lang="en-US" altLang="ko-KR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output buffer enable register</a:t>
            </a:r>
            <a:r>
              <a:rPr lang="ko-KR" altLang="en-US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를 </a:t>
            </a:r>
            <a:r>
              <a:rPr lang="en-US" altLang="ko-KR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1</a:t>
            </a:r>
            <a:r>
              <a:rPr lang="ko-KR" altLang="en-US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로 만들고</a:t>
            </a:r>
            <a:r>
              <a:rPr lang="en-US" altLang="ko-KR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complete thread</a:t>
            </a:r>
            <a:r>
              <a:rPr lang="ko-KR" altLang="en-US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가 </a:t>
            </a:r>
            <a:r>
              <a:rPr lang="en-US" altLang="ko-KR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post-process</a:t>
            </a:r>
            <a:r>
              <a:rPr lang="ko-KR" altLang="en-US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를 수행한다</a:t>
            </a:r>
            <a:r>
              <a:rPr lang="en-US" altLang="ko-KR" sz="90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0CA83B9-3356-4FF4-B332-0F35F3E89805}"/>
              </a:ext>
            </a:extLst>
          </p:cNvPr>
          <p:cNvSpPr/>
          <p:nvPr/>
        </p:nvSpPr>
        <p:spPr>
          <a:xfrm>
            <a:off x="11205341" y="102197"/>
            <a:ext cx="906780" cy="64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Reg : Loop Counter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A692DE6-391A-457D-8EDA-9C4DC6E6A5BF}"/>
              </a:ext>
            </a:extLst>
          </p:cNvPr>
          <p:cNvSpPr/>
          <p:nvPr/>
        </p:nvSpPr>
        <p:spPr>
          <a:xfrm>
            <a:off x="9297545" y="97273"/>
            <a:ext cx="906780" cy="64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rgbClr val="FF0000"/>
                </a:solidFill>
              </a:rPr>
              <a:t>Reg : Output Buffer Enable</a:t>
            </a:r>
            <a:endParaRPr lang="ko-KR" altLang="en-US" sz="9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F9A1E0-F683-4370-AF0A-D9DC5E6FE64E}"/>
              </a:ext>
            </a:extLst>
          </p:cNvPr>
          <p:cNvSpPr/>
          <p:nvPr/>
        </p:nvSpPr>
        <p:spPr>
          <a:xfrm>
            <a:off x="8792622" y="1632594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p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D878BCE-A57F-4DEE-A99A-AA7F4D8CD1EA}"/>
              </a:ext>
            </a:extLst>
          </p:cNvPr>
          <p:cNvSpPr/>
          <p:nvPr/>
        </p:nvSpPr>
        <p:spPr>
          <a:xfrm>
            <a:off x="8591900" y="150062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546872-AC0F-49BA-AE4B-36BA7DED375A}"/>
              </a:ext>
            </a:extLst>
          </p:cNvPr>
          <p:cNvSpPr/>
          <p:nvPr/>
        </p:nvSpPr>
        <p:spPr>
          <a:xfrm>
            <a:off x="8792623" y="5420523"/>
            <a:ext cx="1471961" cy="10081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A core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8003CEC-2135-4EA2-9E22-969FF8BE7EE3}"/>
              </a:ext>
            </a:extLst>
          </p:cNvPr>
          <p:cNvSpPr/>
          <p:nvPr/>
        </p:nvSpPr>
        <p:spPr>
          <a:xfrm>
            <a:off x="8591900" y="4112199"/>
            <a:ext cx="3449445" cy="2456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D47A52-D139-4C5D-8906-68D3FE168810}"/>
              </a:ext>
            </a:extLst>
          </p:cNvPr>
          <p:cNvSpPr txBox="1"/>
          <p:nvPr/>
        </p:nvSpPr>
        <p:spPr>
          <a:xfrm>
            <a:off x="8915192" y="6003924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</a:t>
            </a:r>
          </a:p>
          <a:p>
            <a:pPr algn="ctr"/>
            <a:r>
              <a:rPr lang="en-US" altLang="ko-KR" sz="900"/>
              <a:t>(weight)</a:t>
            </a:r>
            <a:endParaRPr lang="ko-KR" altLang="en-US" sz="9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4A4A9BB-8398-441D-A63F-28ED6C44A443}"/>
              </a:ext>
            </a:extLst>
          </p:cNvPr>
          <p:cNvSpPr/>
          <p:nvPr/>
        </p:nvSpPr>
        <p:spPr>
          <a:xfrm>
            <a:off x="10416987" y="163259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E8CDBB-9B70-47C3-879D-C4CEEF0B23DA}"/>
              </a:ext>
            </a:extLst>
          </p:cNvPr>
          <p:cNvSpPr/>
          <p:nvPr/>
        </p:nvSpPr>
        <p:spPr>
          <a:xfrm>
            <a:off x="10416987" y="4267934"/>
            <a:ext cx="1471961" cy="2148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queue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A396177-FBA9-435D-91E4-B0E65BE65B0B}"/>
              </a:ext>
            </a:extLst>
          </p:cNvPr>
          <p:cNvCxnSpPr/>
          <p:nvPr/>
        </p:nvCxnSpPr>
        <p:spPr>
          <a:xfrm>
            <a:off x="10507980" y="3370485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167510B-A068-498D-8C2F-298B83D3C11D}"/>
              </a:ext>
            </a:extLst>
          </p:cNvPr>
          <p:cNvSpPr txBox="1"/>
          <p:nvPr/>
        </p:nvSpPr>
        <p:spPr>
          <a:xfrm>
            <a:off x="245543" y="418696"/>
            <a:ext cx="4594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epoch_commit</a:t>
            </a:r>
          </a:p>
          <a:p>
            <a:r>
              <a:rPr lang="en-US" altLang="ko-KR" sz="900"/>
              <a:t>- </a:t>
            </a:r>
            <a:r>
              <a:rPr lang="ko-KR" altLang="en-US" sz="900"/>
              <a:t>이 방식으로 추론과 추론이 겹치게 되면 아래 왼쪽과 같은 상황이 발생한다</a:t>
            </a:r>
            <a:r>
              <a:rPr lang="en-US" altLang="ko-KR" sz="900"/>
              <a:t>. </a:t>
            </a:r>
          </a:p>
          <a:p>
            <a:r>
              <a:rPr lang="en-US" altLang="ko-KR" sz="900"/>
              <a:t>- </a:t>
            </a:r>
            <a:r>
              <a:rPr lang="ko-KR" altLang="en-US" sz="900"/>
              <a:t>이를 방지하기 위해 아래 우측과 같은 모양으로 </a:t>
            </a:r>
            <a:r>
              <a:rPr lang="en-US" altLang="ko-KR" sz="900"/>
              <a:t>epoch_commit</a:t>
            </a:r>
            <a:r>
              <a:rPr lang="ko-KR" altLang="en-US" sz="900"/>
              <a:t>으로 일정 루프 당 한 번 씩 다른 코어의 연산을 기다려준다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- epoch_commit</a:t>
            </a:r>
            <a:r>
              <a:rPr lang="ko-KR" altLang="en-US" sz="900"/>
              <a:t>을 발생시키는 </a:t>
            </a:r>
            <a:r>
              <a:rPr lang="en-US" altLang="ko-KR" sz="900"/>
              <a:t>epoch_interval </a:t>
            </a:r>
            <a:r>
              <a:rPr lang="ko-KR" altLang="en-US" sz="900"/>
              <a:t>값은 컴파일 옵션으로 받을 수 있게 하고</a:t>
            </a:r>
            <a:r>
              <a:rPr lang="en-US" altLang="ko-KR" sz="900"/>
              <a:t>, default</a:t>
            </a:r>
            <a:r>
              <a:rPr lang="ko-KR" altLang="en-US" sz="900"/>
              <a:t>는 </a:t>
            </a:r>
            <a:r>
              <a:rPr lang="en-US" altLang="ko-KR" sz="900"/>
              <a:t>1</a:t>
            </a:r>
            <a:r>
              <a:rPr lang="ko-KR" altLang="en-US" sz="900"/>
              <a:t>이다</a:t>
            </a:r>
            <a:r>
              <a:rPr lang="en-US" altLang="ko-KR" sz="900"/>
              <a:t>.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36AFF-A76C-41D8-82B4-29964313DAF7}"/>
              </a:ext>
            </a:extLst>
          </p:cNvPr>
          <p:cNvSpPr txBox="1"/>
          <p:nvPr/>
        </p:nvSpPr>
        <p:spPr>
          <a:xfrm>
            <a:off x="106680" y="76200"/>
            <a:ext cx="296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C00000"/>
                </a:solidFill>
              </a:rPr>
              <a:t>7. epoch_commit</a:t>
            </a:r>
            <a:endParaRPr lang="ko-KR" altLang="en-US" b="1">
              <a:solidFill>
                <a:srgbClr val="C0000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4DC2C7-39CE-47A1-BFD0-36F71C5E6BCA}"/>
              </a:ext>
            </a:extLst>
          </p:cNvPr>
          <p:cNvSpPr/>
          <p:nvPr/>
        </p:nvSpPr>
        <p:spPr>
          <a:xfrm>
            <a:off x="10957113" y="1752600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F76514E-180D-472E-BC8F-C5551B530D8E}"/>
              </a:ext>
            </a:extLst>
          </p:cNvPr>
          <p:cNvSpPr/>
          <p:nvPr/>
        </p:nvSpPr>
        <p:spPr>
          <a:xfrm>
            <a:off x="10957113" y="4385417"/>
            <a:ext cx="893585" cy="1976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stop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(loop_start_pc)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layer_start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layer_run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layer_end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...</a:t>
            </a:r>
          </a:p>
          <a:p>
            <a:r>
              <a:rPr lang="en-US" altLang="ko-KR" sz="900">
                <a:solidFill>
                  <a:srgbClr val="FF0000"/>
                </a:solidFill>
              </a:rPr>
              <a:t>epoch_commit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(loop_end_pc)</a:t>
            </a:r>
          </a:p>
          <a:p>
            <a:r>
              <a:rPr lang="en-US" altLang="ko-KR" sz="900">
                <a:solidFill>
                  <a:schemeClr val="tx1"/>
                </a:solidFill>
              </a:rPr>
              <a:t>loop_jump</a:t>
            </a:r>
          </a:p>
          <a:p>
            <a:endParaRPr lang="en-US" altLang="ko-KR" sz="900">
              <a:solidFill>
                <a:schemeClr val="tx1"/>
              </a:solidFill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C035BC4-D078-45D8-A844-1A2A8354CBD5}"/>
              </a:ext>
            </a:extLst>
          </p:cNvPr>
          <p:cNvCxnSpPr/>
          <p:nvPr/>
        </p:nvCxnSpPr>
        <p:spPr>
          <a:xfrm>
            <a:off x="10507980" y="5973894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62F485-0469-4925-AB08-D52300F7411E}"/>
              </a:ext>
            </a:extLst>
          </p:cNvPr>
          <p:cNvSpPr/>
          <p:nvPr/>
        </p:nvSpPr>
        <p:spPr>
          <a:xfrm>
            <a:off x="8792622" y="2772714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C8ADEAE-B021-4907-B2F5-5432DDA4A662}"/>
              </a:ext>
            </a:extLst>
          </p:cNvPr>
          <p:cNvSpPr/>
          <p:nvPr/>
        </p:nvSpPr>
        <p:spPr>
          <a:xfrm>
            <a:off x="8792626" y="4272048"/>
            <a:ext cx="1471961" cy="10081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900">
                <a:solidFill>
                  <a:schemeClr val="tx1"/>
                </a:solidFill>
              </a:rPr>
              <a:t>UB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87EDB7B-E853-4540-84A0-776F19153794}"/>
              </a:ext>
            </a:extLst>
          </p:cNvPr>
          <p:cNvSpPr txBox="1"/>
          <p:nvPr/>
        </p:nvSpPr>
        <p:spPr>
          <a:xfrm>
            <a:off x="8915192" y="3169731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meta data + tensor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7270146-56FF-4F0B-8D13-AC6582954613}"/>
              </a:ext>
            </a:extLst>
          </p:cNvPr>
          <p:cNvSpPr txBox="1"/>
          <p:nvPr/>
        </p:nvSpPr>
        <p:spPr>
          <a:xfrm>
            <a:off x="8891034" y="4708887"/>
            <a:ext cx="12268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/>
              <a:t>tensor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0107DE6-69C9-42B9-A62F-1ECA2BF2660D}"/>
              </a:ext>
            </a:extLst>
          </p:cNvPr>
          <p:cNvCxnSpPr/>
          <p:nvPr/>
        </p:nvCxnSpPr>
        <p:spPr>
          <a:xfrm>
            <a:off x="802888" y="2099474"/>
            <a:ext cx="0" cy="54915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0EC5D018-2FA5-4826-8811-E55BA31D41C6}"/>
              </a:ext>
            </a:extLst>
          </p:cNvPr>
          <p:cNvCxnSpPr/>
          <p:nvPr/>
        </p:nvCxnSpPr>
        <p:spPr>
          <a:xfrm>
            <a:off x="1100068" y="2099474"/>
            <a:ext cx="0" cy="54915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0B3AF9E-5161-4136-A267-C6A472A330E6}"/>
              </a:ext>
            </a:extLst>
          </p:cNvPr>
          <p:cNvCxnSpPr>
            <a:cxnSpLocks/>
          </p:cNvCxnSpPr>
          <p:nvPr/>
        </p:nvCxnSpPr>
        <p:spPr>
          <a:xfrm>
            <a:off x="1397248" y="2099474"/>
            <a:ext cx="0" cy="76251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66FCB25-A465-4B89-A394-542967983537}"/>
              </a:ext>
            </a:extLst>
          </p:cNvPr>
          <p:cNvCxnSpPr>
            <a:cxnSpLocks/>
          </p:cNvCxnSpPr>
          <p:nvPr/>
        </p:nvCxnSpPr>
        <p:spPr>
          <a:xfrm>
            <a:off x="1717288" y="2099474"/>
            <a:ext cx="0" cy="108255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E1A53706-C88B-492B-B9CA-F2B2D7E9CB50}"/>
              </a:ext>
            </a:extLst>
          </p:cNvPr>
          <p:cNvCxnSpPr>
            <a:cxnSpLocks/>
          </p:cNvCxnSpPr>
          <p:nvPr/>
        </p:nvCxnSpPr>
        <p:spPr>
          <a:xfrm>
            <a:off x="802888" y="2746208"/>
            <a:ext cx="0" cy="62535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B8AC5BD8-430A-4242-92F9-9BD4731D04C2}"/>
              </a:ext>
            </a:extLst>
          </p:cNvPr>
          <p:cNvCxnSpPr>
            <a:cxnSpLocks/>
          </p:cNvCxnSpPr>
          <p:nvPr/>
        </p:nvCxnSpPr>
        <p:spPr>
          <a:xfrm>
            <a:off x="1100068" y="2746208"/>
            <a:ext cx="0" cy="77871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3E13046-DE1E-42A3-BE36-0C43D8E2BA50}"/>
              </a:ext>
            </a:extLst>
          </p:cNvPr>
          <p:cNvCxnSpPr>
            <a:cxnSpLocks/>
          </p:cNvCxnSpPr>
          <p:nvPr/>
        </p:nvCxnSpPr>
        <p:spPr>
          <a:xfrm>
            <a:off x="1397248" y="2958602"/>
            <a:ext cx="0" cy="77871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FE1946B8-8210-4902-951C-B93F00E2B621}"/>
              </a:ext>
            </a:extLst>
          </p:cNvPr>
          <p:cNvCxnSpPr>
            <a:cxnSpLocks/>
          </p:cNvCxnSpPr>
          <p:nvPr/>
        </p:nvCxnSpPr>
        <p:spPr>
          <a:xfrm>
            <a:off x="1702048" y="3270833"/>
            <a:ext cx="7620" cy="110888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0B17960-D40E-4743-BA10-686EEA3D2FB6}"/>
              </a:ext>
            </a:extLst>
          </p:cNvPr>
          <p:cNvCxnSpPr>
            <a:cxnSpLocks/>
          </p:cNvCxnSpPr>
          <p:nvPr/>
        </p:nvCxnSpPr>
        <p:spPr>
          <a:xfrm>
            <a:off x="802888" y="3482519"/>
            <a:ext cx="0" cy="43581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70FBBD8-B48C-49C8-A347-7120F0992E08}"/>
              </a:ext>
            </a:extLst>
          </p:cNvPr>
          <p:cNvCxnSpPr>
            <a:cxnSpLocks/>
          </p:cNvCxnSpPr>
          <p:nvPr/>
        </p:nvCxnSpPr>
        <p:spPr>
          <a:xfrm>
            <a:off x="1100068" y="3700428"/>
            <a:ext cx="0" cy="77871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9027259A-8977-4C4E-8ABB-41BF35E5729B}"/>
              </a:ext>
            </a:extLst>
          </p:cNvPr>
          <p:cNvCxnSpPr>
            <a:cxnSpLocks/>
          </p:cNvCxnSpPr>
          <p:nvPr/>
        </p:nvCxnSpPr>
        <p:spPr>
          <a:xfrm>
            <a:off x="1397248" y="3846874"/>
            <a:ext cx="0" cy="53284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54D225F-A976-4C1E-8118-13775C9F8FFA}"/>
              </a:ext>
            </a:extLst>
          </p:cNvPr>
          <p:cNvCxnSpPr>
            <a:cxnSpLocks/>
          </p:cNvCxnSpPr>
          <p:nvPr/>
        </p:nvCxnSpPr>
        <p:spPr>
          <a:xfrm>
            <a:off x="1694428" y="4479145"/>
            <a:ext cx="7620" cy="110888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C22369B0-1166-478C-A3CB-6F55AF79A5EB}"/>
              </a:ext>
            </a:extLst>
          </p:cNvPr>
          <p:cNvSpPr/>
          <p:nvPr/>
        </p:nvSpPr>
        <p:spPr>
          <a:xfrm>
            <a:off x="749548" y="2709585"/>
            <a:ext cx="1143000" cy="541078"/>
          </a:xfrm>
          <a:custGeom>
            <a:avLst/>
            <a:gdLst>
              <a:gd name="connsiteX0" fmla="*/ 0 w 1143000"/>
              <a:gd name="connsiteY0" fmla="*/ 0 h 541078"/>
              <a:gd name="connsiteX1" fmla="*/ 403860 w 1143000"/>
              <a:gd name="connsiteY1" fmla="*/ 7620 h 541078"/>
              <a:gd name="connsiteX2" fmla="*/ 426720 w 1143000"/>
              <a:gd name="connsiteY2" fmla="*/ 22860 h 541078"/>
              <a:gd name="connsiteX3" fmla="*/ 472440 w 1143000"/>
              <a:gd name="connsiteY3" fmla="*/ 83820 h 541078"/>
              <a:gd name="connsiteX4" fmla="*/ 480060 w 1143000"/>
              <a:gd name="connsiteY4" fmla="*/ 106680 h 541078"/>
              <a:gd name="connsiteX5" fmla="*/ 487680 w 1143000"/>
              <a:gd name="connsiteY5" fmla="*/ 137160 h 541078"/>
              <a:gd name="connsiteX6" fmla="*/ 594360 w 1143000"/>
              <a:gd name="connsiteY6" fmla="*/ 198120 h 541078"/>
              <a:gd name="connsiteX7" fmla="*/ 632460 w 1143000"/>
              <a:gd name="connsiteY7" fmla="*/ 228600 h 541078"/>
              <a:gd name="connsiteX8" fmla="*/ 693420 w 1143000"/>
              <a:gd name="connsiteY8" fmla="*/ 266700 h 541078"/>
              <a:gd name="connsiteX9" fmla="*/ 739140 w 1143000"/>
              <a:gd name="connsiteY9" fmla="*/ 304800 h 541078"/>
              <a:gd name="connsiteX10" fmla="*/ 792480 w 1143000"/>
              <a:gd name="connsiteY10" fmla="*/ 373380 h 541078"/>
              <a:gd name="connsiteX11" fmla="*/ 822960 w 1143000"/>
              <a:gd name="connsiteY11" fmla="*/ 411480 h 541078"/>
              <a:gd name="connsiteX12" fmla="*/ 883920 w 1143000"/>
              <a:gd name="connsiteY12" fmla="*/ 472440 h 541078"/>
              <a:gd name="connsiteX13" fmla="*/ 937260 w 1143000"/>
              <a:gd name="connsiteY13" fmla="*/ 510540 h 541078"/>
              <a:gd name="connsiteX14" fmla="*/ 1051560 w 1143000"/>
              <a:gd name="connsiteY14" fmla="*/ 525780 h 541078"/>
              <a:gd name="connsiteX15" fmla="*/ 1097280 w 1143000"/>
              <a:gd name="connsiteY15" fmla="*/ 533400 h 541078"/>
              <a:gd name="connsiteX16" fmla="*/ 1143000 w 1143000"/>
              <a:gd name="connsiteY16" fmla="*/ 541020 h 54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000" h="541078">
                <a:moveTo>
                  <a:pt x="0" y="0"/>
                </a:moveTo>
                <a:cubicBezTo>
                  <a:pt x="134620" y="2540"/>
                  <a:pt x="269409" y="417"/>
                  <a:pt x="403860" y="7620"/>
                </a:cubicBezTo>
                <a:cubicBezTo>
                  <a:pt x="413005" y="8110"/>
                  <a:pt x="420594" y="16053"/>
                  <a:pt x="426720" y="22860"/>
                </a:cubicBezTo>
                <a:cubicBezTo>
                  <a:pt x="443712" y="41740"/>
                  <a:pt x="472440" y="83820"/>
                  <a:pt x="472440" y="83820"/>
                </a:cubicBezTo>
                <a:cubicBezTo>
                  <a:pt x="474980" y="91440"/>
                  <a:pt x="477853" y="98957"/>
                  <a:pt x="480060" y="106680"/>
                </a:cubicBezTo>
                <a:cubicBezTo>
                  <a:pt x="482937" y="116750"/>
                  <a:pt x="480784" y="129278"/>
                  <a:pt x="487680" y="137160"/>
                </a:cubicBezTo>
                <a:cubicBezTo>
                  <a:pt x="517110" y="170794"/>
                  <a:pt x="560669" y="171167"/>
                  <a:pt x="594360" y="198120"/>
                </a:cubicBezTo>
                <a:cubicBezTo>
                  <a:pt x="607060" y="208280"/>
                  <a:pt x="618928" y="219578"/>
                  <a:pt x="632460" y="228600"/>
                </a:cubicBezTo>
                <a:cubicBezTo>
                  <a:pt x="713327" y="282511"/>
                  <a:pt x="610218" y="200139"/>
                  <a:pt x="693420" y="266700"/>
                </a:cubicBezTo>
                <a:cubicBezTo>
                  <a:pt x="708911" y="279093"/>
                  <a:pt x="725641" y="290263"/>
                  <a:pt x="739140" y="304800"/>
                </a:cubicBezTo>
                <a:cubicBezTo>
                  <a:pt x="758846" y="326022"/>
                  <a:pt x="774588" y="350608"/>
                  <a:pt x="792480" y="373380"/>
                </a:cubicBezTo>
                <a:cubicBezTo>
                  <a:pt x="802528" y="386169"/>
                  <a:pt x="811460" y="399980"/>
                  <a:pt x="822960" y="411480"/>
                </a:cubicBezTo>
                <a:lnTo>
                  <a:pt x="883920" y="472440"/>
                </a:lnTo>
                <a:cubicBezTo>
                  <a:pt x="900857" y="489377"/>
                  <a:pt x="911852" y="505191"/>
                  <a:pt x="937260" y="510540"/>
                </a:cubicBezTo>
                <a:cubicBezTo>
                  <a:pt x="974873" y="518458"/>
                  <a:pt x="1013509" y="520344"/>
                  <a:pt x="1051560" y="525780"/>
                </a:cubicBezTo>
                <a:cubicBezTo>
                  <a:pt x="1066855" y="527965"/>
                  <a:pt x="1082130" y="530370"/>
                  <a:pt x="1097280" y="533400"/>
                </a:cubicBezTo>
                <a:cubicBezTo>
                  <a:pt x="1141540" y="542252"/>
                  <a:pt x="1112993" y="541020"/>
                  <a:pt x="1143000" y="541020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28EFCF-E613-4549-BBC6-33C1C44BA65F}"/>
              </a:ext>
            </a:extLst>
          </p:cNvPr>
          <p:cNvSpPr txBox="1"/>
          <p:nvPr/>
        </p:nvSpPr>
        <p:spPr>
          <a:xfrm>
            <a:off x="1892548" y="3105825"/>
            <a:ext cx="1809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queue</a:t>
            </a:r>
            <a:r>
              <a:rPr lang="ko-KR" altLang="en-US" sz="900" b="1"/>
              <a:t> </a:t>
            </a:r>
            <a:r>
              <a:rPr lang="en-US" altLang="ko-KR" sz="900" b="1"/>
              <a:t>complete</a:t>
            </a:r>
            <a:r>
              <a:rPr lang="ko-KR" altLang="en-US" sz="900" b="1"/>
              <a:t> </a:t>
            </a:r>
            <a:r>
              <a:rPr lang="en-US" altLang="ko-KR" sz="900" b="1"/>
              <a:t>cnt</a:t>
            </a:r>
            <a:r>
              <a:rPr lang="ko-KR" altLang="en-US" sz="900" b="1"/>
              <a:t> </a:t>
            </a:r>
            <a:r>
              <a:rPr lang="en-US" altLang="ko-KR" sz="900" b="1"/>
              <a:t>=</a:t>
            </a:r>
            <a:r>
              <a:rPr lang="ko-KR" altLang="en-US" sz="900" b="1"/>
              <a:t> </a:t>
            </a:r>
            <a:r>
              <a:rPr lang="en-US" altLang="ko-KR" sz="900" b="1"/>
              <a:t>core</a:t>
            </a:r>
            <a:r>
              <a:rPr lang="ko-KR" altLang="en-US" sz="900" b="1"/>
              <a:t> </a:t>
            </a:r>
            <a:r>
              <a:rPr lang="en-US" altLang="ko-KR" sz="900" b="1"/>
              <a:t>!!</a:t>
            </a:r>
            <a:endParaRPr lang="ko-KR" altLang="en-US" sz="900" b="1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D42A20F3-BB14-4198-8BE2-70B3DFD16D98}"/>
              </a:ext>
            </a:extLst>
          </p:cNvPr>
          <p:cNvSpPr/>
          <p:nvPr/>
        </p:nvSpPr>
        <p:spPr>
          <a:xfrm>
            <a:off x="787648" y="3410625"/>
            <a:ext cx="1021080" cy="998352"/>
          </a:xfrm>
          <a:custGeom>
            <a:avLst/>
            <a:gdLst>
              <a:gd name="connsiteX0" fmla="*/ 0 w 1021080"/>
              <a:gd name="connsiteY0" fmla="*/ 0 h 998352"/>
              <a:gd name="connsiteX1" fmla="*/ 38100 w 1021080"/>
              <a:gd name="connsiteY1" fmla="*/ 38100 h 998352"/>
              <a:gd name="connsiteX2" fmla="*/ 129540 w 1021080"/>
              <a:gd name="connsiteY2" fmla="*/ 91440 h 998352"/>
              <a:gd name="connsiteX3" fmla="*/ 160020 w 1021080"/>
              <a:gd name="connsiteY3" fmla="*/ 106680 h 998352"/>
              <a:gd name="connsiteX4" fmla="*/ 213360 w 1021080"/>
              <a:gd name="connsiteY4" fmla="*/ 144780 h 998352"/>
              <a:gd name="connsiteX5" fmla="*/ 259080 w 1021080"/>
              <a:gd name="connsiteY5" fmla="*/ 167640 h 998352"/>
              <a:gd name="connsiteX6" fmla="*/ 358140 w 1021080"/>
              <a:gd name="connsiteY6" fmla="*/ 236220 h 998352"/>
              <a:gd name="connsiteX7" fmla="*/ 396240 w 1021080"/>
              <a:gd name="connsiteY7" fmla="*/ 259080 h 998352"/>
              <a:gd name="connsiteX8" fmla="*/ 556260 w 1021080"/>
              <a:gd name="connsiteY8" fmla="*/ 373380 h 998352"/>
              <a:gd name="connsiteX9" fmla="*/ 609600 w 1021080"/>
              <a:gd name="connsiteY9" fmla="*/ 419100 h 998352"/>
              <a:gd name="connsiteX10" fmla="*/ 640080 w 1021080"/>
              <a:gd name="connsiteY10" fmla="*/ 480060 h 998352"/>
              <a:gd name="connsiteX11" fmla="*/ 647700 w 1021080"/>
              <a:gd name="connsiteY11" fmla="*/ 510540 h 998352"/>
              <a:gd name="connsiteX12" fmla="*/ 662940 w 1021080"/>
              <a:gd name="connsiteY12" fmla="*/ 548640 h 998352"/>
              <a:gd name="connsiteX13" fmla="*/ 685800 w 1021080"/>
              <a:gd name="connsiteY13" fmla="*/ 624840 h 998352"/>
              <a:gd name="connsiteX14" fmla="*/ 693420 w 1021080"/>
              <a:gd name="connsiteY14" fmla="*/ 685800 h 998352"/>
              <a:gd name="connsiteX15" fmla="*/ 739140 w 1021080"/>
              <a:gd name="connsiteY15" fmla="*/ 815340 h 998352"/>
              <a:gd name="connsiteX16" fmla="*/ 784860 w 1021080"/>
              <a:gd name="connsiteY16" fmla="*/ 929640 h 998352"/>
              <a:gd name="connsiteX17" fmla="*/ 807720 w 1021080"/>
              <a:gd name="connsiteY17" fmla="*/ 937260 h 998352"/>
              <a:gd name="connsiteX18" fmla="*/ 861060 w 1021080"/>
              <a:gd name="connsiteY18" fmla="*/ 967740 h 998352"/>
              <a:gd name="connsiteX19" fmla="*/ 891540 w 1021080"/>
              <a:gd name="connsiteY19" fmla="*/ 990600 h 998352"/>
              <a:gd name="connsiteX20" fmla="*/ 1021080 w 1021080"/>
              <a:gd name="connsiteY20" fmla="*/ 998220 h 998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21080" h="998352">
                <a:moveTo>
                  <a:pt x="0" y="0"/>
                </a:moveTo>
                <a:cubicBezTo>
                  <a:pt x="12700" y="12700"/>
                  <a:pt x="23427" y="27742"/>
                  <a:pt x="38100" y="38100"/>
                </a:cubicBezTo>
                <a:cubicBezTo>
                  <a:pt x="66928" y="58449"/>
                  <a:pt x="97979" y="75659"/>
                  <a:pt x="129540" y="91440"/>
                </a:cubicBezTo>
                <a:cubicBezTo>
                  <a:pt x="139700" y="96520"/>
                  <a:pt x="150437" y="100582"/>
                  <a:pt x="160020" y="106680"/>
                </a:cubicBezTo>
                <a:cubicBezTo>
                  <a:pt x="178454" y="118411"/>
                  <a:pt x="194751" y="133329"/>
                  <a:pt x="213360" y="144780"/>
                </a:cubicBezTo>
                <a:cubicBezTo>
                  <a:pt x="227871" y="153710"/>
                  <a:pt x="244674" y="158541"/>
                  <a:pt x="259080" y="167640"/>
                </a:cubicBezTo>
                <a:cubicBezTo>
                  <a:pt x="293036" y="189086"/>
                  <a:pt x="323702" y="215557"/>
                  <a:pt x="358140" y="236220"/>
                </a:cubicBezTo>
                <a:cubicBezTo>
                  <a:pt x="370840" y="243840"/>
                  <a:pt x="384063" y="250650"/>
                  <a:pt x="396240" y="259080"/>
                </a:cubicBezTo>
                <a:cubicBezTo>
                  <a:pt x="450134" y="296392"/>
                  <a:pt x="509909" y="327029"/>
                  <a:pt x="556260" y="373380"/>
                </a:cubicBezTo>
                <a:cubicBezTo>
                  <a:pt x="593216" y="410336"/>
                  <a:pt x="574785" y="395890"/>
                  <a:pt x="609600" y="419100"/>
                </a:cubicBezTo>
                <a:cubicBezTo>
                  <a:pt x="619760" y="439420"/>
                  <a:pt x="631342" y="459089"/>
                  <a:pt x="640080" y="480060"/>
                </a:cubicBezTo>
                <a:cubicBezTo>
                  <a:pt x="644108" y="489727"/>
                  <a:pt x="644388" y="500605"/>
                  <a:pt x="647700" y="510540"/>
                </a:cubicBezTo>
                <a:cubicBezTo>
                  <a:pt x="652025" y="523516"/>
                  <a:pt x="658615" y="535664"/>
                  <a:pt x="662940" y="548640"/>
                </a:cubicBezTo>
                <a:cubicBezTo>
                  <a:pt x="671326" y="573798"/>
                  <a:pt x="678180" y="599440"/>
                  <a:pt x="685800" y="624840"/>
                </a:cubicBezTo>
                <a:cubicBezTo>
                  <a:pt x="688340" y="645160"/>
                  <a:pt x="688730" y="665866"/>
                  <a:pt x="693420" y="685800"/>
                </a:cubicBezTo>
                <a:cubicBezTo>
                  <a:pt x="709437" y="753871"/>
                  <a:pt x="720163" y="750818"/>
                  <a:pt x="739140" y="815340"/>
                </a:cubicBezTo>
                <a:cubicBezTo>
                  <a:pt x="744102" y="832210"/>
                  <a:pt x="752537" y="918866"/>
                  <a:pt x="784860" y="929640"/>
                </a:cubicBezTo>
                <a:lnTo>
                  <a:pt x="807720" y="937260"/>
                </a:lnTo>
                <a:cubicBezTo>
                  <a:pt x="918219" y="1020134"/>
                  <a:pt x="779607" y="921196"/>
                  <a:pt x="861060" y="967740"/>
                </a:cubicBezTo>
                <a:cubicBezTo>
                  <a:pt x="872087" y="974041"/>
                  <a:pt x="879329" y="987111"/>
                  <a:pt x="891540" y="990600"/>
                </a:cubicBezTo>
                <a:cubicBezTo>
                  <a:pt x="924402" y="999989"/>
                  <a:pt x="984722" y="998220"/>
                  <a:pt x="1021080" y="998220"/>
                </a:cubicBezTo>
              </a:path>
            </a:pathLst>
          </a:cu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6F6CEF-9D00-44EF-A760-464C2D80697C}"/>
              </a:ext>
            </a:extLst>
          </p:cNvPr>
          <p:cNvSpPr txBox="1"/>
          <p:nvPr/>
        </p:nvSpPr>
        <p:spPr>
          <a:xfrm>
            <a:off x="1854452" y="4266867"/>
            <a:ext cx="1809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queue</a:t>
            </a:r>
            <a:r>
              <a:rPr lang="ko-KR" altLang="en-US" sz="900" b="1"/>
              <a:t> </a:t>
            </a:r>
            <a:r>
              <a:rPr lang="en-US" altLang="ko-KR" sz="900" b="1"/>
              <a:t>complete</a:t>
            </a:r>
            <a:r>
              <a:rPr lang="ko-KR" altLang="en-US" sz="900" b="1"/>
              <a:t> </a:t>
            </a:r>
            <a:r>
              <a:rPr lang="en-US" altLang="ko-KR" sz="900" b="1"/>
              <a:t>cnt</a:t>
            </a:r>
            <a:r>
              <a:rPr lang="ko-KR" altLang="en-US" sz="900" b="1"/>
              <a:t> </a:t>
            </a:r>
            <a:r>
              <a:rPr lang="en-US" altLang="ko-KR" sz="900" b="1"/>
              <a:t>=</a:t>
            </a:r>
            <a:r>
              <a:rPr lang="ko-KR" altLang="en-US" sz="900" b="1"/>
              <a:t> </a:t>
            </a:r>
            <a:r>
              <a:rPr lang="en-US" altLang="ko-KR" sz="900" b="1"/>
              <a:t>core</a:t>
            </a:r>
            <a:r>
              <a:rPr lang="ko-KR" altLang="en-US" sz="900" b="1"/>
              <a:t> </a:t>
            </a:r>
            <a:r>
              <a:rPr lang="en-US" altLang="ko-KR" sz="900" b="1"/>
              <a:t>!! </a:t>
            </a:r>
            <a:endParaRPr lang="ko-KR" altLang="en-US" sz="9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BD7EB8-E26C-4E38-A84C-AC23B3C293B3}"/>
              </a:ext>
            </a:extLst>
          </p:cNvPr>
          <p:cNvSpPr txBox="1"/>
          <p:nvPr/>
        </p:nvSpPr>
        <p:spPr>
          <a:xfrm>
            <a:off x="574288" y="3335731"/>
            <a:ext cx="289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ko-KR" altLang="en-US" sz="8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67A02C-036A-4A8C-9A8B-0593D8AFBF99}"/>
              </a:ext>
            </a:extLst>
          </p:cNvPr>
          <p:cNvSpPr txBox="1"/>
          <p:nvPr/>
        </p:nvSpPr>
        <p:spPr>
          <a:xfrm>
            <a:off x="901949" y="3525410"/>
            <a:ext cx="289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lang="ko-KR" altLang="en-US" sz="8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E082FB1-7179-43A0-AD80-4C0D8A4CCE6D}"/>
              </a:ext>
            </a:extLst>
          </p:cNvPr>
          <p:cNvSpPr txBox="1"/>
          <p:nvPr/>
        </p:nvSpPr>
        <p:spPr>
          <a:xfrm>
            <a:off x="1229610" y="3747917"/>
            <a:ext cx="289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>
                <a:solidFill>
                  <a:schemeClr val="accent6">
                    <a:lumMod val="75000"/>
                  </a:schemeClr>
                </a:solidFill>
              </a:rPr>
              <a:t>3</a:t>
            </a:r>
            <a:endParaRPr lang="ko-KR" altLang="en-US" sz="8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4D07A56-F48E-47A0-A533-4C120915487B}"/>
              </a:ext>
            </a:extLst>
          </p:cNvPr>
          <p:cNvSpPr txBox="1"/>
          <p:nvPr/>
        </p:nvSpPr>
        <p:spPr>
          <a:xfrm>
            <a:off x="566669" y="3891686"/>
            <a:ext cx="289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>
                <a:solidFill>
                  <a:schemeClr val="accent6">
                    <a:lumMod val="75000"/>
                  </a:schemeClr>
                </a:solidFill>
              </a:rPr>
              <a:t>4</a:t>
            </a:r>
            <a:endParaRPr lang="ko-KR" altLang="en-US" sz="8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B18FCBD-215F-4E1F-9137-23E73B6CA9FF}"/>
              </a:ext>
            </a:extLst>
          </p:cNvPr>
          <p:cNvSpPr txBox="1"/>
          <p:nvPr/>
        </p:nvSpPr>
        <p:spPr>
          <a:xfrm>
            <a:off x="1663948" y="4369966"/>
            <a:ext cx="289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>
                <a:solidFill>
                  <a:schemeClr val="accent5">
                    <a:lumMod val="75000"/>
                  </a:schemeClr>
                </a:solidFill>
              </a:rPr>
              <a:t>4</a:t>
            </a:r>
            <a:endParaRPr lang="ko-KR" altLang="en-US" sz="800" b="1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B4711816-61CC-4479-A774-E9868431A6AF}"/>
              </a:ext>
            </a:extLst>
          </p:cNvPr>
          <p:cNvGrpSpPr/>
          <p:nvPr/>
        </p:nvGrpSpPr>
        <p:grpSpPr>
          <a:xfrm>
            <a:off x="1816202" y="4195094"/>
            <a:ext cx="456753" cy="532841"/>
            <a:chOff x="1722120" y="4267934"/>
            <a:chExt cx="152400" cy="166807"/>
          </a:xfrm>
        </p:grpSpPr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120EEE78-60CB-4273-9D07-48A34FB03C03}"/>
                </a:ext>
              </a:extLst>
            </p:cNvPr>
            <p:cNvCxnSpPr/>
            <p:nvPr/>
          </p:nvCxnSpPr>
          <p:spPr>
            <a:xfrm flipH="1">
              <a:off x="1729740" y="4267934"/>
              <a:ext cx="144780" cy="16680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A0BB2756-AC2A-4A5C-A694-093FF5FC46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2120" y="4282916"/>
              <a:ext cx="152400" cy="15182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D2D9F1FE-5ED9-4CE8-9EB9-1971606657A6}"/>
              </a:ext>
            </a:extLst>
          </p:cNvPr>
          <p:cNvSpPr/>
          <p:nvPr/>
        </p:nvSpPr>
        <p:spPr>
          <a:xfrm>
            <a:off x="815588" y="3513495"/>
            <a:ext cx="1041400" cy="528345"/>
          </a:xfrm>
          <a:custGeom>
            <a:avLst/>
            <a:gdLst>
              <a:gd name="connsiteX0" fmla="*/ 0 w 1041400"/>
              <a:gd name="connsiteY0" fmla="*/ 0 h 528345"/>
              <a:gd name="connsiteX1" fmla="*/ 6350 w 1041400"/>
              <a:gd name="connsiteY1" fmla="*/ 76200 h 528345"/>
              <a:gd name="connsiteX2" fmla="*/ 69850 w 1041400"/>
              <a:gd name="connsiteY2" fmla="*/ 158750 h 528345"/>
              <a:gd name="connsiteX3" fmla="*/ 152400 w 1041400"/>
              <a:gd name="connsiteY3" fmla="*/ 215900 h 528345"/>
              <a:gd name="connsiteX4" fmla="*/ 215900 w 1041400"/>
              <a:gd name="connsiteY4" fmla="*/ 254000 h 528345"/>
              <a:gd name="connsiteX5" fmla="*/ 241300 w 1041400"/>
              <a:gd name="connsiteY5" fmla="*/ 260350 h 528345"/>
              <a:gd name="connsiteX6" fmla="*/ 260350 w 1041400"/>
              <a:gd name="connsiteY6" fmla="*/ 273050 h 528345"/>
              <a:gd name="connsiteX7" fmla="*/ 304800 w 1041400"/>
              <a:gd name="connsiteY7" fmla="*/ 285750 h 528345"/>
              <a:gd name="connsiteX8" fmla="*/ 349250 w 1041400"/>
              <a:gd name="connsiteY8" fmla="*/ 317500 h 528345"/>
              <a:gd name="connsiteX9" fmla="*/ 374650 w 1041400"/>
              <a:gd name="connsiteY9" fmla="*/ 323850 h 528345"/>
              <a:gd name="connsiteX10" fmla="*/ 393700 w 1041400"/>
              <a:gd name="connsiteY10" fmla="*/ 336550 h 528345"/>
              <a:gd name="connsiteX11" fmla="*/ 412750 w 1041400"/>
              <a:gd name="connsiteY11" fmla="*/ 342900 h 528345"/>
              <a:gd name="connsiteX12" fmla="*/ 393700 w 1041400"/>
              <a:gd name="connsiteY12" fmla="*/ 355600 h 528345"/>
              <a:gd name="connsiteX13" fmla="*/ 292100 w 1041400"/>
              <a:gd name="connsiteY13" fmla="*/ 368300 h 528345"/>
              <a:gd name="connsiteX14" fmla="*/ 234950 w 1041400"/>
              <a:gd name="connsiteY14" fmla="*/ 381000 h 528345"/>
              <a:gd name="connsiteX15" fmla="*/ 215900 w 1041400"/>
              <a:gd name="connsiteY15" fmla="*/ 387350 h 528345"/>
              <a:gd name="connsiteX16" fmla="*/ 190500 w 1041400"/>
              <a:gd name="connsiteY16" fmla="*/ 393700 h 528345"/>
              <a:gd name="connsiteX17" fmla="*/ 133350 w 1041400"/>
              <a:gd name="connsiteY17" fmla="*/ 412750 h 528345"/>
              <a:gd name="connsiteX18" fmla="*/ 101600 w 1041400"/>
              <a:gd name="connsiteY18" fmla="*/ 419100 h 528345"/>
              <a:gd name="connsiteX19" fmla="*/ 69850 w 1041400"/>
              <a:gd name="connsiteY19" fmla="*/ 438150 h 528345"/>
              <a:gd name="connsiteX20" fmla="*/ 38100 w 1041400"/>
              <a:gd name="connsiteY20" fmla="*/ 450850 h 528345"/>
              <a:gd name="connsiteX21" fmla="*/ 12700 w 1041400"/>
              <a:gd name="connsiteY21" fmla="*/ 463550 h 528345"/>
              <a:gd name="connsiteX22" fmla="*/ 76200 w 1041400"/>
              <a:gd name="connsiteY22" fmla="*/ 508000 h 528345"/>
              <a:gd name="connsiteX23" fmla="*/ 1035050 w 1041400"/>
              <a:gd name="connsiteY23" fmla="*/ 495300 h 528345"/>
              <a:gd name="connsiteX24" fmla="*/ 1009650 w 1041400"/>
              <a:gd name="connsiteY24" fmla="*/ 476250 h 528345"/>
              <a:gd name="connsiteX25" fmla="*/ 977900 w 1041400"/>
              <a:gd name="connsiteY25" fmla="*/ 438150 h 528345"/>
              <a:gd name="connsiteX26" fmla="*/ 971550 w 1041400"/>
              <a:gd name="connsiteY26" fmla="*/ 482600 h 528345"/>
              <a:gd name="connsiteX27" fmla="*/ 990600 w 1041400"/>
              <a:gd name="connsiteY27" fmla="*/ 527050 h 528345"/>
              <a:gd name="connsiteX28" fmla="*/ 1016000 w 1041400"/>
              <a:gd name="connsiteY28" fmla="*/ 514350 h 528345"/>
              <a:gd name="connsiteX29" fmla="*/ 1041400 w 1041400"/>
              <a:gd name="connsiteY29" fmla="*/ 501650 h 52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41400" h="528345">
                <a:moveTo>
                  <a:pt x="0" y="0"/>
                </a:moveTo>
                <a:cubicBezTo>
                  <a:pt x="2117" y="25400"/>
                  <a:pt x="821" y="51319"/>
                  <a:pt x="6350" y="76200"/>
                </a:cubicBezTo>
                <a:cubicBezTo>
                  <a:pt x="13715" y="109341"/>
                  <a:pt x="46433" y="139236"/>
                  <a:pt x="69850" y="158750"/>
                </a:cubicBezTo>
                <a:cubicBezTo>
                  <a:pt x="128035" y="207238"/>
                  <a:pt x="86396" y="176298"/>
                  <a:pt x="152400" y="215900"/>
                </a:cubicBezTo>
                <a:cubicBezTo>
                  <a:pt x="182533" y="233980"/>
                  <a:pt x="171791" y="233951"/>
                  <a:pt x="215900" y="254000"/>
                </a:cubicBezTo>
                <a:cubicBezTo>
                  <a:pt x="223845" y="257611"/>
                  <a:pt x="232833" y="258233"/>
                  <a:pt x="241300" y="260350"/>
                </a:cubicBezTo>
                <a:cubicBezTo>
                  <a:pt x="247650" y="264583"/>
                  <a:pt x="253524" y="269637"/>
                  <a:pt x="260350" y="273050"/>
                </a:cubicBezTo>
                <a:cubicBezTo>
                  <a:pt x="275702" y="280726"/>
                  <a:pt x="288524" y="279646"/>
                  <a:pt x="304800" y="285750"/>
                </a:cubicBezTo>
                <a:cubicBezTo>
                  <a:pt x="376163" y="312511"/>
                  <a:pt x="287522" y="282227"/>
                  <a:pt x="349250" y="317500"/>
                </a:cubicBezTo>
                <a:cubicBezTo>
                  <a:pt x="356827" y="321830"/>
                  <a:pt x="366183" y="321733"/>
                  <a:pt x="374650" y="323850"/>
                </a:cubicBezTo>
                <a:cubicBezTo>
                  <a:pt x="381000" y="328083"/>
                  <a:pt x="386874" y="333137"/>
                  <a:pt x="393700" y="336550"/>
                </a:cubicBezTo>
                <a:cubicBezTo>
                  <a:pt x="399687" y="339543"/>
                  <a:pt x="412750" y="336207"/>
                  <a:pt x="412750" y="342900"/>
                </a:cubicBezTo>
                <a:cubicBezTo>
                  <a:pt x="412750" y="350532"/>
                  <a:pt x="401168" y="354028"/>
                  <a:pt x="393700" y="355600"/>
                </a:cubicBezTo>
                <a:cubicBezTo>
                  <a:pt x="360302" y="362631"/>
                  <a:pt x="325887" y="363473"/>
                  <a:pt x="292100" y="368300"/>
                </a:cubicBezTo>
                <a:cubicBezTo>
                  <a:pt x="279006" y="370171"/>
                  <a:pt x="248816" y="377038"/>
                  <a:pt x="234950" y="381000"/>
                </a:cubicBezTo>
                <a:cubicBezTo>
                  <a:pt x="228514" y="382839"/>
                  <a:pt x="222336" y="385511"/>
                  <a:pt x="215900" y="387350"/>
                </a:cubicBezTo>
                <a:cubicBezTo>
                  <a:pt x="207509" y="389748"/>
                  <a:pt x="198841" y="391133"/>
                  <a:pt x="190500" y="393700"/>
                </a:cubicBezTo>
                <a:cubicBezTo>
                  <a:pt x="171308" y="399605"/>
                  <a:pt x="153041" y="408812"/>
                  <a:pt x="133350" y="412750"/>
                </a:cubicBezTo>
                <a:lnTo>
                  <a:pt x="101600" y="419100"/>
                </a:lnTo>
                <a:cubicBezTo>
                  <a:pt x="91017" y="425450"/>
                  <a:pt x="80889" y="432630"/>
                  <a:pt x="69850" y="438150"/>
                </a:cubicBezTo>
                <a:cubicBezTo>
                  <a:pt x="59655" y="443248"/>
                  <a:pt x="48516" y="446221"/>
                  <a:pt x="38100" y="450850"/>
                </a:cubicBezTo>
                <a:cubicBezTo>
                  <a:pt x="29450" y="454695"/>
                  <a:pt x="21167" y="459317"/>
                  <a:pt x="12700" y="463550"/>
                </a:cubicBezTo>
                <a:cubicBezTo>
                  <a:pt x="38790" y="494859"/>
                  <a:pt x="36445" y="508255"/>
                  <a:pt x="76200" y="508000"/>
                </a:cubicBezTo>
                <a:lnTo>
                  <a:pt x="1035050" y="495300"/>
                </a:lnTo>
                <a:cubicBezTo>
                  <a:pt x="1026583" y="488950"/>
                  <a:pt x="1017134" y="483734"/>
                  <a:pt x="1009650" y="476250"/>
                </a:cubicBezTo>
                <a:cubicBezTo>
                  <a:pt x="997960" y="464560"/>
                  <a:pt x="994207" y="435432"/>
                  <a:pt x="977900" y="438150"/>
                </a:cubicBezTo>
                <a:cubicBezTo>
                  <a:pt x="963137" y="440611"/>
                  <a:pt x="973667" y="467783"/>
                  <a:pt x="971550" y="482600"/>
                </a:cubicBezTo>
                <a:cubicBezTo>
                  <a:pt x="977900" y="497417"/>
                  <a:pt x="977483" y="517680"/>
                  <a:pt x="990600" y="527050"/>
                </a:cubicBezTo>
                <a:cubicBezTo>
                  <a:pt x="998303" y="532552"/>
                  <a:pt x="1007781" y="519046"/>
                  <a:pt x="1016000" y="514350"/>
                </a:cubicBezTo>
                <a:cubicBezTo>
                  <a:pt x="1040280" y="500476"/>
                  <a:pt x="1026456" y="501650"/>
                  <a:pt x="1041400" y="50165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7E7953-F609-42F9-B40A-7558752844C1}"/>
              </a:ext>
            </a:extLst>
          </p:cNvPr>
          <p:cNvSpPr txBox="1"/>
          <p:nvPr/>
        </p:nvSpPr>
        <p:spPr>
          <a:xfrm>
            <a:off x="1831624" y="3858954"/>
            <a:ext cx="1809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queue</a:t>
            </a:r>
            <a:r>
              <a:rPr lang="ko-KR" altLang="en-US" sz="900" b="1">
                <a:solidFill>
                  <a:srgbClr val="FF0000"/>
                </a:solidFill>
              </a:rPr>
              <a:t> </a:t>
            </a:r>
            <a:r>
              <a:rPr lang="en-US" altLang="ko-KR" sz="900" b="1">
                <a:solidFill>
                  <a:srgbClr val="FF0000"/>
                </a:solidFill>
              </a:rPr>
              <a:t>complete</a:t>
            </a:r>
            <a:r>
              <a:rPr lang="ko-KR" altLang="en-US" sz="900" b="1">
                <a:solidFill>
                  <a:srgbClr val="FF0000"/>
                </a:solidFill>
              </a:rPr>
              <a:t> </a:t>
            </a:r>
            <a:r>
              <a:rPr lang="en-US" altLang="ko-KR" sz="900" b="1">
                <a:solidFill>
                  <a:srgbClr val="FF0000"/>
                </a:solidFill>
              </a:rPr>
              <a:t>cnt</a:t>
            </a:r>
            <a:r>
              <a:rPr lang="ko-KR" altLang="en-US" sz="900" b="1">
                <a:solidFill>
                  <a:srgbClr val="FF0000"/>
                </a:solidFill>
              </a:rPr>
              <a:t> </a:t>
            </a:r>
            <a:r>
              <a:rPr lang="en-US" altLang="ko-KR" sz="900" b="1">
                <a:solidFill>
                  <a:srgbClr val="FF0000"/>
                </a:solidFill>
              </a:rPr>
              <a:t>=</a:t>
            </a:r>
            <a:r>
              <a:rPr lang="ko-KR" altLang="en-US" sz="900" b="1">
                <a:solidFill>
                  <a:srgbClr val="FF0000"/>
                </a:solidFill>
              </a:rPr>
              <a:t> </a:t>
            </a:r>
            <a:r>
              <a:rPr lang="en-US" altLang="ko-KR" sz="900" b="1">
                <a:solidFill>
                  <a:srgbClr val="FF0000"/>
                </a:solidFill>
              </a:rPr>
              <a:t>core</a:t>
            </a:r>
            <a:r>
              <a:rPr lang="ko-KR" altLang="en-US" sz="900" b="1">
                <a:solidFill>
                  <a:srgbClr val="FF0000"/>
                </a:solidFill>
              </a:rPr>
              <a:t> </a:t>
            </a:r>
            <a:r>
              <a:rPr lang="en-US" altLang="ko-KR" sz="900" b="1">
                <a:solidFill>
                  <a:srgbClr val="FF0000"/>
                </a:solidFill>
              </a:rPr>
              <a:t>!!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17722F99-60E7-4473-AEEA-DE264DBC552F}"/>
              </a:ext>
            </a:extLst>
          </p:cNvPr>
          <p:cNvCxnSpPr/>
          <p:nvPr/>
        </p:nvCxnSpPr>
        <p:spPr>
          <a:xfrm>
            <a:off x="4697786" y="2184383"/>
            <a:ext cx="0" cy="54915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E4607F75-9B98-4F27-9F1D-D6B042AE8F99}"/>
              </a:ext>
            </a:extLst>
          </p:cNvPr>
          <p:cNvCxnSpPr/>
          <p:nvPr/>
        </p:nvCxnSpPr>
        <p:spPr>
          <a:xfrm>
            <a:off x="4994966" y="2184383"/>
            <a:ext cx="0" cy="54915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B8A71EA-9008-42D0-BC16-3D73B871559C}"/>
              </a:ext>
            </a:extLst>
          </p:cNvPr>
          <p:cNvCxnSpPr>
            <a:cxnSpLocks/>
          </p:cNvCxnSpPr>
          <p:nvPr/>
        </p:nvCxnSpPr>
        <p:spPr>
          <a:xfrm>
            <a:off x="5292146" y="2184383"/>
            <a:ext cx="0" cy="76251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EF7D775-7F8E-4077-963A-B4CB0D0BEAB9}"/>
              </a:ext>
            </a:extLst>
          </p:cNvPr>
          <p:cNvCxnSpPr>
            <a:cxnSpLocks/>
          </p:cNvCxnSpPr>
          <p:nvPr/>
        </p:nvCxnSpPr>
        <p:spPr>
          <a:xfrm>
            <a:off x="5612186" y="2184383"/>
            <a:ext cx="0" cy="108255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28584CB-96BF-4107-B3DC-01D43E8C7E62}"/>
              </a:ext>
            </a:extLst>
          </p:cNvPr>
          <p:cNvCxnSpPr>
            <a:cxnSpLocks/>
          </p:cNvCxnSpPr>
          <p:nvPr/>
        </p:nvCxnSpPr>
        <p:spPr>
          <a:xfrm>
            <a:off x="4697786" y="3397033"/>
            <a:ext cx="0" cy="625351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A1B02FBE-7879-4D78-B164-5D9BEECB8E25}"/>
              </a:ext>
            </a:extLst>
          </p:cNvPr>
          <p:cNvCxnSpPr>
            <a:cxnSpLocks/>
          </p:cNvCxnSpPr>
          <p:nvPr/>
        </p:nvCxnSpPr>
        <p:spPr>
          <a:xfrm>
            <a:off x="4994966" y="3397033"/>
            <a:ext cx="0" cy="77871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E7DB523F-6355-4B78-BCED-B209B7667685}"/>
              </a:ext>
            </a:extLst>
          </p:cNvPr>
          <p:cNvCxnSpPr>
            <a:cxnSpLocks/>
          </p:cNvCxnSpPr>
          <p:nvPr/>
        </p:nvCxnSpPr>
        <p:spPr>
          <a:xfrm>
            <a:off x="5292146" y="3408319"/>
            <a:ext cx="0" cy="77871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FDB6A551-F346-449E-AF02-C48B7C16FD00}"/>
              </a:ext>
            </a:extLst>
          </p:cNvPr>
          <p:cNvCxnSpPr>
            <a:cxnSpLocks/>
          </p:cNvCxnSpPr>
          <p:nvPr/>
        </p:nvCxnSpPr>
        <p:spPr>
          <a:xfrm>
            <a:off x="5596946" y="3355742"/>
            <a:ext cx="7620" cy="110888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EE5C206A-DD8C-4662-869D-D27523856DE7}"/>
              </a:ext>
            </a:extLst>
          </p:cNvPr>
          <p:cNvCxnSpPr>
            <a:cxnSpLocks/>
          </p:cNvCxnSpPr>
          <p:nvPr/>
        </p:nvCxnSpPr>
        <p:spPr>
          <a:xfrm>
            <a:off x="4697786" y="4605421"/>
            <a:ext cx="0" cy="43581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0A84E14A-AD64-4FA0-8EB9-531B081010EC}"/>
              </a:ext>
            </a:extLst>
          </p:cNvPr>
          <p:cNvCxnSpPr>
            <a:cxnSpLocks/>
          </p:cNvCxnSpPr>
          <p:nvPr/>
        </p:nvCxnSpPr>
        <p:spPr>
          <a:xfrm>
            <a:off x="4994966" y="4605421"/>
            <a:ext cx="0" cy="77871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89E04E5F-17CD-4A7F-B5FB-3C4984FDF548}"/>
              </a:ext>
            </a:extLst>
          </p:cNvPr>
          <p:cNvCxnSpPr>
            <a:cxnSpLocks/>
          </p:cNvCxnSpPr>
          <p:nvPr/>
        </p:nvCxnSpPr>
        <p:spPr>
          <a:xfrm>
            <a:off x="5292146" y="4605421"/>
            <a:ext cx="0" cy="53284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4ACCD1FF-3071-46A3-8DA6-97C40BCB74D0}"/>
              </a:ext>
            </a:extLst>
          </p:cNvPr>
          <p:cNvCxnSpPr>
            <a:cxnSpLocks/>
          </p:cNvCxnSpPr>
          <p:nvPr/>
        </p:nvCxnSpPr>
        <p:spPr>
          <a:xfrm>
            <a:off x="5589326" y="4564054"/>
            <a:ext cx="7620" cy="110888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BB066E3-B5EB-4AF5-9FD3-FF5628DE9E55}"/>
              </a:ext>
            </a:extLst>
          </p:cNvPr>
          <p:cNvCxnSpPr>
            <a:cxnSpLocks/>
          </p:cNvCxnSpPr>
          <p:nvPr/>
        </p:nvCxnSpPr>
        <p:spPr>
          <a:xfrm flipV="1">
            <a:off x="4251282" y="3298979"/>
            <a:ext cx="2061087" cy="70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8519BC9D-289B-4311-B178-C040D9464577}"/>
              </a:ext>
            </a:extLst>
          </p:cNvPr>
          <p:cNvCxnSpPr>
            <a:cxnSpLocks/>
          </p:cNvCxnSpPr>
          <p:nvPr/>
        </p:nvCxnSpPr>
        <p:spPr>
          <a:xfrm flipV="1">
            <a:off x="4250223" y="4497699"/>
            <a:ext cx="2062146" cy="16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2A539F26-2B66-4C84-A218-241C234EC713}"/>
              </a:ext>
            </a:extLst>
          </p:cNvPr>
          <p:cNvSpPr txBox="1"/>
          <p:nvPr/>
        </p:nvSpPr>
        <p:spPr>
          <a:xfrm>
            <a:off x="6350693" y="3166141"/>
            <a:ext cx="13820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epoch_commit!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C70CF0B-503E-44F9-BE7A-5772352B3609}"/>
              </a:ext>
            </a:extLst>
          </p:cNvPr>
          <p:cNvSpPr txBox="1"/>
          <p:nvPr/>
        </p:nvSpPr>
        <p:spPr>
          <a:xfrm>
            <a:off x="6330452" y="4363267"/>
            <a:ext cx="13820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epoch_commit!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726571E-03A1-4EBE-B571-5DAE182CE1B8}"/>
              </a:ext>
            </a:extLst>
          </p:cNvPr>
          <p:cNvCxnSpPr>
            <a:cxnSpLocks/>
          </p:cNvCxnSpPr>
          <p:nvPr/>
        </p:nvCxnSpPr>
        <p:spPr>
          <a:xfrm>
            <a:off x="4697786" y="2795051"/>
            <a:ext cx="0" cy="44454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65CD0287-334E-4CF3-86A5-644FC83BDA80}"/>
              </a:ext>
            </a:extLst>
          </p:cNvPr>
          <p:cNvCxnSpPr>
            <a:cxnSpLocks/>
          </p:cNvCxnSpPr>
          <p:nvPr/>
        </p:nvCxnSpPr>
        <p:spPr>
          <a:xfrm>
            <a:off x="4990654" y="2806119"/>
            <a:ext cx="0" cy="44454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C9524D0E-F68B-46D0-B4D9-CCBA6FD22866}"/>
              </a:ext>
            </a:extLst>
          </p:cNvPr>
          <p:cNvCxnSpPr>
            <a:cxnSpLocks/>
          </p:cNvCxnSpPr>
          <p:nvPr/>
        </p:nvCxnSpPr>
        <p:spPr>
          <a:xfrm>
            <a:off x="5292146" y="2991787"/>
            <a:ext cx="0" cy="27514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4BBC3ADB-5F8F-4388-9C0E-EBBB75A0A462}"/>
              </a:ext>
            </a:extLst>
          </p:cNvPr>
          <p:cNvSpPr txBox="1"/>
          <p:nvPr/>
        </p:nvSpPr>
        <p:spPr>
          <a:xfrm>
            <a:off x="4116591" y="2951193"/>
            <a:ext cx="480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chemeClr val="bg1">
                    <a:lumMod val="65000"/>
                  </a:schemeClr>
                </a:solidFill>
              </a:rPr>
              <a:t>idle !</a:t>
            </a:r>
            <a:endParaRPr lang="ko-KR" altLang="en-US" sz="900" b="1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A56CDEC9-3ED1-489F-A756-9B7319E6FC93}"/>
              </a:ext>
            </a:extLst>
          </p:cNvPr>
          <p:cNvCxnSpPr>
            <a:cxnSpLocks/>
          </p:cNvCxnSpPr>
          <p:nvPr/>
        </p:nvCxnSpPr>
        <p:spPr>
          <a:xfrm>
            <a:off x="4697786" y="4089786"/>
            <a:ext cx="0" cy="34309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8BEE1656-79FC-4997-A1F8-1852C793EEB4}"/>
              </a:ext>
            </a:extLst>
          </p:cNvPr>
          <p:cNvCxnSpPr>
            <a:cxnSpLocks/>
          </p:cNvCxnSpPr>
          <p:nvPr/>
        </p:nvCxnSpPr>
        <p:spPr>
          <a:xfrm>
            <a:off x="4990654" y="4195094"/>
            <a:ext cx="0" cy="248858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176DE8A-35C5-45A5-A4BC-A3A86AB296D4}"/>
              </a:ext>
            </a:extLst>
          </p:cNvPr>
          <p:cNvCxnSpPr>
            <a:cxnSpLocks/>
          </p:cNvCxnSpPr>
          <p:nvPr/>
        </p:nvCxnSpPr>
        <p:spPr>
          <a:xfrm>
            <a:off x="5292146" y="4242952"/>
            <a:ext cx="0" cy="21727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D73336D9-CC02-4E9D-A32C-25023DF5503D}"/>
              </a:ext>
            </a:extLst>
          </p:cNvPr>
          <p:cNvSpPr txBox="1"/>
          <p:nvPr/>
        </p:nvSpPr>
        <p:spPr>
          <a:xfrm>
            <a:off x="4122970" y="4148919"/>
            <a:ext cx="480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chemeClr val="bg1">
                    <a:lumMod val="65000"/>
                  </a:schemeClr>
                </a:solidFill>
              </a:rPr>
              <a:t>idle !</a:t>
            </a:r>
            <a:endParaRPr lang="ko-KR" altLang="en-US" sz="900" b="1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612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D18B6E-ECCF-4A54-BA64-95B692A6AA32}"/>
              </a:ext>
            </a:extLst>
          </p:cNvPr>
          <p:cNvSpPr txBox="1"/>
          <p:nvPr/>
        </p:nvSpPr>
        <p:spPr>
          <a:xfrm>
            <a:off x="3962400" y="2844225"/>
            <a:ext cx="4170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/>
              <a:t>APPENDIX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2733237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87E77BD-136E-4C53-ADCD-F5844BA9749B}"/>
              </a:ext>
            </a:extLst>
          </p:cNvPr>
          <p:cNvSpPr/>
          <p:nvPr/>
        </p:nvSpPr>
        <p:spPr>
          <a:xfrm>
            <a:off x="4757853" y="2226713"/>
            <a:ext cx="1635513" cy="156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04366D-4209-4A29-A92F-148D3C277342}"/>
              </a:ext>
            </a:extLst>
          </p:cNvPr>
          <p:cNvSpPr/>
          <p:nvPr/>
        </p:nvSpPr>
        <p:spPr>
          <a:xfrm>
            <a:off x="1178313" y="2226713"/>
            <a:ext cx="3579540" cy="1561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84AD06-61C8-4C11-A0C8-546C8D403795}"/>
              </a:ext>
            </a:extLst>
          </p:cNvPr>
          <p:cNvSpPr/>
          <p:nvPr/>
        </p:nvSpPr>
        <p:spPr>
          <a:xfrm>
            <a:off x="4445619" y="2113962"/>
            <a:ext cx="512956" cy="268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8E069D4F-C2CB-4106-B076-9B2C46BCE6E6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4737409" y="2347517"/>
            <a:ext cx="505522" cy="5761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5F47E4-759A-40A3-895A-2A639F34E5DB}"/>
              </a:ext>
            </a:extLst>
          </p:cNvPr>
          <p:cNvSpPr txBox="1"/>
          <p:nvPr/>
        </p:nvSpPr>
        <p:spPr>
          <a:xfrm>
            <a:off x="773152" y="2189355"/>
            <a:ext cx="8103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write</a:t>
            </a:r>
            <a:endParaRPr lang="ko-KR" altLang="en-US" sz="9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A85F9D-9F4C-4ED9-A587-020F472D01BF}"/>
              </a:ext>
            </a:extLst>
          </p:cNvPr>
          <p:cNvSpPr txBox="1"/>
          <p:nvPr/>
        </p:nvSpPr>
        <p:spPr>
          <a:xfrm>
            <a:off x="4913969" y="2929051"/>
            <a:ext cx="8103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read !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1CA593-E58D-40FB-AD50-C0114F0BC223}"/>
              </a:ext>
            </a:extLst>
          </p:cNvPr>
          <p:cNvSpPr txBox="1"/>
          <p:nvPr/>
        </p:nvSpPr>
        <p:spPr>
          <a:xfrm>
            <a:off x="773151" y="1874998"/>
            <a:ext cx="3033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WAR : </a:t>
            </a:r>
            <a:r>
              <a:rPr lang="ko-KR" altLang="en-US" sz="900"/>
              <a:t>다 쓰지 않았는데</a:t>
            </a:r>
            <a:r>
              <a:rPr lang="en-US" altLang="ko-KR" sz="900"/>
              <a:t>, </a:t>
            </a:r>
            <a:r>
              <a:rPr lang="ko-KR" altLang="en-US" sz="900"/>
              <a:t>데이터를 읽는다</a:t>
            </a:r>
            <a:r>
              <a:rPr lang="en-US" altLang="ko-KR" sz="900"/>
              <a:t>.</a:t>
            </a:r>
            <a:endParaRPr lang="ko-KR" altLang="en-US" sz="1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512D30-AAF5-4C6F-B34A-1BD510038B3D}"/>
              </a:ext>
            </a:extLst>
          </p:cNvPr>
          <p:cNvSpPr/>
          <p:nvPr/>
        </p:nvSpPr>
        <p:spPr>
          <a:xfrm>
            <a:off x="4813609" y="4046035"/>
            <a:ext cx="1635513" cy="156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E8B8AF-4D8D-49FD-A70A-FF98A602D6E4}"/>
              </a:ext>
            </a:extLst>
          </p:cNvPr>
          <p:cNvSpPr/>
          <p:nvPr/>
        </p:nvSpPr>
        <p:spPr>
          <a:xfrm>
            <a:off x="1234069" y="4046035"/>
            <a:ext cx="3579540" cy="1561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56EE4D-CBCD-4217-917E-C1CDB229409B}"/>
              </a:ext>
            </a:extLst>
          </p:cNvPr>
          <p:cNvSpPr/>
          <p:nvPr/>
        </p:nvSpPr>
        <p:spPr>
          <a:xfrm>
            <a:off x="4902819" y="4046035"/>
            <a:ext cx="512956" cy="268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D07BA277-7332-43A4-9211-A3CCD227370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534829" y="3645663"/>
            <a:ext cx="624468" cy="4003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802AAC2-2784-40EC-828C-568C2A19BC58}"/>
              </a:ext>
            </a:extLst>
          </p:cNvPr>
          <p:cNvSpPr txBox="1"/>
          <p:nvPr/>
        </p:nvSpPr>
        <p:spPr>
          <a:xfrm>
            <a:off x="828908" y="4008677"/>
            <a:ext cx="8103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read</a:t>
            </a:r>
            <a:endParaRPr lang="ko-KR" altLang="en-US" sz="9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31026D-2D13-4102-A796-B684F4D811AA}"/>
              </a:ext>
            </a:extLst>
          </p:cNvPr>
          <p:cNvSpPr txBox="1"/>
          <p:nvPr/>
        </p:nvSpPr>
        <p:spPr>
          <a:xfrm>
            <a:off x="4371278" y="3402520"/>
            <a:ext cx="8103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write !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579CB4-47BE-4DB3-9A26-1450DB3C0844}"/>
              </a:ext>
            </a:extLst>
          </p:cNvPr>
          <p:cNvSpPr txBox="1"/>
          <p:nvPr/>
        </p:nvSpPr>
        <p:spPr>
          <a:xfrm>
            <a:off x="773151" y="3354390"/>
            <a:ext cx="289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RAW :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 읽지 않았는데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데이터를 쓴다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lang="ko-KR" altLang="en-US" sz="12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3A6D40-5FCB-463A-B714-E07FE8AD4BD4}"/>
              </a:ext>
            </a:extLst>
          </p:cNvPr>
          <p:cNvSpPr/>
          <p:nvPr/>
        </p:nvSpPr>
        <p:spPr>
          <a:xfrm>
            <a:off x="4813609" y="5294595"/>
            <a:ext cx="1635513" cy="1561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75726A-5782-4440-9613-02B81377934C}"/>
              </a:ext>
            </a:extLst>
          </p:cNvPr>
          <p:cNvSpPr/>
          <p:nvPr/>
        </p:nvSpPr>
        <p:spPr>
          <a:xfrm>
            <a:off x="1234069" y="5294595"/>
            <a:ext cx="3579540" cy="1561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1BAB71B-4E5A-43CE-A372-92C9AD14C213}"/>
              </a:ext>
            </a:extLst>
          </p:cNvPr>
          <p:cNvSpPr/>
          <p:nvPr/>
        </p:nvSpPr>
        <p:spPr>
          <a:xfrm>
            <a:off x="4902819" y="5294595"/>
            <a:ext cx="512956" cy="268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757133F0-33A6-4FE2-B2FF-8344563A49E3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4534829" y="4894223"/>
            <a:ext cx="624468" cy="4003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5F7830D-53EB-4E40-92FC-9B6DAF511A94}"/>
              </a:ext>
            </a:extLst>
          </p:cNvPr>
          <p:cNvSpPr txBox="1"/>
          <p:nvPr/>
        </p:nvSpPr>
        <p:spPr>
          <a:xfrm>
            <a:off x="828908" y="5257237"/>
            <a:ext cx="8103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write</a:t>
            </a:r>
            <a:endParaRPr lang="ko-KR" altLang="en-US" sz="9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D79C1A-87DB-4950-B19C-D74ACD0858AB}"/>
              </a:ext>
            </a:extLst>
          </p:cNvPr>
          <p:cNvSpPr txBox="1"/>
          <p:nvPr/>
        </p:nvSpPr>
        <p:spPr>
          <a:xfrm>
            <a:off x="4371278" y="4651080"/>
            <a:ext cx="8103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write !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02A7FB-F90C-4C09-92FE-19CABB5A07D4}"/>
              </a:ext>
            </a:extLst>
          </p:cNvPr>
          <p:cNvSpPr txBox="1"/>
          <p:nvPr/>
        </p:nvSpPr>
        <p:spPr>
          <a:xfrm>
            <a:off x="773151" y="4602950"/>
            <a:ext cx="2891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WAW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 쓰지 않았는데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데이터를 쓴다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lang="ko-KR" altLang="en-US" sz="1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11E682-94EA-4C9C-B212-40723F79F253}"/>
              </a:ext>
            </a:extLst>
          </p:cNvPr>
          <p:cNvSpPr txBox="1"/>
          <p:nvPr/>
        </p:nvSpPr>
        <p:spPr>
          <a:xfrm>
            <a:off x="6913759" y="2420187"/>
            <a:ext cx="4505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FF0000"/>
                </a:solidFill>
              </a:rPr>
              <a:t>stream slot, sync slot</a:t>
            </a:r>
            <a:r>
              <a:rPr lang="ko-KR" altLang="en-US" sz="1400" b="1">
                <a:solidFill>
                  <a:srgbClr val="FF0000"/>
                </a:solidFill>
              </a:rPr>
              <a:t>으로 </a:t>
            </a:r>
            <a:r>
              <a:rPr lang="en-US" altLang="ko-KR" sz="1400" b="1">
                <a:solidFill>
                  <a:srgbClr val="FF0000"/>
                </a:solidFill>
              </a:rPr>
              <a:t>NC, PC</a:t>
            </a:r>
            <a:r>
              <a:rPr lang="ko-KR" altLang="en-US" sz="1400" b="1">
                <a:solidFill>
                  <a:srgbClr val="FF0000"/>
                </a:solidFill>
              </a:rPr>
              <a:t>에 대해 해결 </a:t>
            </a:r>
          </a:p>
        </p:txBody>
      </p:sp>
    </p:spTree>
    <p:extLst>
      <p:ext uri="{BB962C8B-B14F-4D97-AF65-F5344CB8AC3E}">
        <p14:creationId xmlns:p14="http://schemas.microsoft.com/office/powerpoint/2010/main" val="2586495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D09C8F2-9FCE-494F-8440-982E5B9192AE}"/>
              </a:ext>
            </a:extLst>
          </p:cNvPr>
          <p:cNvSpPr txBox="1"/>
          <p:nvPr/>
        </p:nvSpPr>
        <p:spPr>
          <a:xfrm>
            <a:off x="148683" y="284091"/>
            <a:ext cx="4177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Shared Memory</a:t>
            </a:r>
            <a:r>
              <a:rPr lang="ko-KR" altLang="en-US" sz="1200"/>
              <a:t>에서 벌어지는 문제 </a:t>
            </a:r>
            <a:r>
              <a:rPr lang="en-US" altLang="ko-KR" sz="1200"/>
              <a:t>1 : fan-out </a:t>
            </a:r>
            <a:r>
              <a:rPr lang="ko-KR" altLang="en-US" sz="1200"/>
              <a:t>문제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54BC3A-2032-4BCF-8A5C-0A34C0B1252C}"/>
              </a:ext>
            </a:extLst>
          </p:cNvPr>
          <p:cNvSpPr/>
          <p:nvPr/>
        </p:nvSpPr>
        <p:spPr>
          <a:xfrm>
            <a:off x="289930" y="1769328"/>
            <a:ext cx="2423532" cy="3211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Shared Memory</a:t>
            </a:r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7A673C6-9ED5-43DB-B7FE-DEF5786EA130}"/>
              </a:ext>
            </a:extLst>
          </p:cNvPr>
          <p:cNvSpPr/>
          <p:nvPr/>
        </p:nvSpPr>
        <p:spPr>
          <a:xfrm>
            <a:off x="4326672" y="991631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core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1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333641C-4017-4B76-A04F-F444BFECB4F1}"/>
              </a:ext>
            </a:extLst>
          </p:cNvPr>
          <p:cNvSpPr/>
          <p:nvPr/>
        </p:nvSpPr>
        <p:spPr>
          <a:xfrm>
            <a:off x="4326671" y="3333387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core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3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9A4F0B3-3623-4C0F-9C61-045E4FF5B203}"/>
              </a:ext>
            </a:extLst>
          </p:cNvPr>
          <p:cNvSpPr/>
          <p:nvPr/>
        </p:nvSpPr>
        <p:spPr>
          <a:xfrm>
            <a:off x="4326671" y="2162509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core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2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BE8823E-2DCF-486D-BFF9-C174936DEB72}"/>
              </a:ext>
            </a:extLst>
          </p:cNvPr>
          <p:cNvSpPr/>
          <p:nvPr/>
        </p:nvSpPr>
        <p:spPr>
          <a:xfrm>
            <a:off x="4326670" y="4504265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core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4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CC385BF-E05C-4BCF-B64C-E0E5ADDC1BFD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2713462" y="1495709"/>
            <a:ext cx="1613210" cy="1463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8D408BD-E9AE-4FD8-9F24-E4CADBD0B056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2713462" y="2666587"/>
            <a:ext cx="1613209" cy="29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5CFC675-50F5-4FBD-97BE-817C38ADC98F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2713462" y="2971185"/>
            <a:ext cx="1613209" cy="866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734DAAB-2A36-49F1-83CC-088E1487D876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2723683" y="2971185"/>
            <a:ext cx="1602987" cy="2037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73A75D9-BDC3-4411-A76D-FE6130D3EE8B}"/>
              </a:ext>
            </a:extLst>
          </p:cNvPr>
          <p:cNvSpPr txBox="1"/>
          <p:nvPr/>
        </p:nvSpPr>
        <p:spPr>
          <a:xfrm>
            <a:off x="6036525" y="1344646"/>
            <a:ext cx="175445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read</a:t>
            </a:r>
          </a:p>
          <a:p>
            <a:r>
              <a:rPr lang="en-US" altLang="ko-KR" sz="900"/>
              <a:t>SM_WAIT_GE</a:t>
            </a:r>
          </a:p>
          <a:p>
            <a:r>
              <a:rPr lang="ko-KR" altLang="en-US" sz="900"/>
              <a:t>다 읽었다고 표시해버림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912554-E819-4D9F-B7F7-FAE6945F297B}"/>
              </a:ext>
            </a:extLst>
          </p:cNvPr>
          <p:cNvSpPr txBox="1"/>
          <p:nvPr/>
        </p:nvSpPr>
        <p:spPr>
          <a:xfrm>
            <a:off x="6036524" y="2481921"/>
            <a:ext cx="1754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read</a:t>
            </a:r>
          </a:p>
          <a:p>
            <a:r>
              <a:rPr lang="ko-KR" altLang="en-US" sz="900"/>
              <a:t>전혀 다른 데이터를 읽게 됨</a:t>
            </a:r>
            <a:r>
              <a:rPr lang="en-US" altLang="ko-KR" sz="900"/>
              <a:t>.</a:t>
            </a:r>
            <a:endParaRPr lang="ko-KR" altLang="en-US" sz="900"/>
          </a:p>
        </p:txBody>
      </p: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582EC0B7-A5DC-4737-8A73-B0D8FC27704B}"/>
              </a:ext>
            </a:extLst>
          </p:cNvPr>
          <p:cNvCxnSpPr/>
          <p:nvPr/>
        </p:nvCxnSpPr>
        <p:spPr>
          <a:xfrm rot="10800000" flipV="1">
            <a:off x="2723684" y="1999787"/>
            <a:ext cx="5334931" cy="971398"/>
          </a:xfrm>
          <a:prstGeom prst="curvedConnector3">
            <a:avLst>
              <a:gd name="adj1" fmla="val 8637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6A98EB9-E2E8-4443-9545-82552EAB7687}"/>
              </a:ext>
            </a:extLst>
          </p:cNvPr>
          <p:cNvSpPr txBox="1"/>
          <p:nvPr/>
        </p:nvSpPr>
        <p:spPr>
          <a:xfrm>
            <a:off x="8068837" y="1745870"/>
            <a:ext cx="175445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write</a:t>
            </a:r>
          </a:p>
          <a:p>
            <a:r>
              <a:rPr lang="ko-KR" altLang="en-US" sz="900"/>
              <a:t>다 읽은줄 알고 새로운 데이터를 써버림</a:t>
            </a:r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43F1C53C-018E-4983-AF2D-1933397E9FD1}"/>
              </a:ext>
            </a:extLst>
          </p:cNvPr>
          <p:cNvSpPr/>
          <p:nvPr/>
        </p:nvSpPr>
        <p:spPr>
          <a:xfrm rot="19338233">
            <a:off x="7600687" y="3704634"/>
            <a:ext cx="411713" cy="885526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D92211-F1B5-4C66-98AE-B7B6E0EEE19E}"/>
              </a:ext>
            </a:extLst>
          </p:cNvPr>
          <p:cNvSpPr txBox="1"/>
          <p:nvPr/>
        </p:nvSpPr>
        <p:spPr>
          <a:xfrm>
            <a:off x="8068837" y="4509137"/>
            <a:ext cx="26512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가장 마지막에 읽는 코어가 문을 닫고 나오면 되지 않나</a:t>
            </a:r>
            <a:r>
              <a:rPr lang="en-US" altLang="ko-KR" sz="900"/>
              <a:t>? </a:t>
            </a:r>
          </a:p>
          <a:p>
            <a:r>
              <a:rPr lang="en-US" altLang="ko-KR" sz="900" b="1"/>
              <a:t>=&gt; </a:t>
            </a:r>
            <a:r>
              <a:rPr lang="ko-KR" altLang="en-US" sz="900" b="1"/>
              <a:t>거의 동시에 접근하면 런타임에 버스 시간을 컴파일러가 알 수 없기 때문에 누가 가장 마지막에 사용하는지 알 수 없음</a:t>
            </a:r>
            <a:r>
              <a:rPr lang="en-US" altLang="ko-KR" sz="900" b="1"/>
              <a:t>. </a:t>
            </a:r>
            <a:endParaRPr lang="ko-KR" altLang="en-US" sz="90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F000A6-455C-450B-B055-456114698092}"/>
              </a:ext>
            </a:extLst>
          </p:cNvPr>
          <p:cNvSpPr txBox="1"/>
          <p:nvPr/>
        </p:nvSpPr>
        <p:spPr>
          <a:xfrm>
            <a:off x="148683" y="740957"/>
            <a:ext cx="3869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같은 값을 여러 메모리가 참조해야 하는 경우에 문제 발생</a:t>
            </a:r>
          </a:p>
        </p:txBody>
      </p:sp>
      <p:sp>
        <p:nvSpPr>
          <p:cNvPr id="57" name="화살표: 아래쪽 56">
            <a:extLst>
              <a:ext uri="{FF2B5EF4-FFF2-40B4-BE49-F238E27FC236}">
                <a16:creationId xmlns:a16="http://schemas.microsoft.com/office/drawing/2014/main" id="{F536EDD4-9E17-4C63-A139-3FA1BD193840}"/>
              </a:ext>
            </a:extLst>
          </p:cNvPr>
          <p:cNvSpPr/>
          <p:nvPr/>
        </p:nvSpPr>
        <p:spPr>
          <a:xfrm rot="19338233">
            <a:off x="9269651" y="5357160"/>
            <a:ext cx="411713" cy="885526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FE22C6-3436-429B-B869-4FC677DDE386}"/>
              </a:ext>
            </a:extLst>
          </p:cNvPr>
          <p:cNvSpPr txBox="1"/>
          <p:nvPr/>
        </p:nvSpPr>
        <p:spPr>
          <a:xfrm>
            <a:off x="8824332" y="6276142"/>
            <a:ext cx="29653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semaphore entry</a:t>
            </a:r>
            <a:r>
              <a:rPr lang="ko-KR" altLang="en-US" sz="900" b="1">
                <a:solidFill>
                  <a:srgbClr val="FF0000"/>
                </a:solidFill>
              </a:rPr>
              <a:t>에 </a:t>
            </a:r>
            <a:r>
              <a:rPr lang="en-US" altLang="ko-KR" sz="900" b="1">
                <a:solidFill>
                  <a:srgbClr val="FF0000"/>
                </a:solidFill>
              </a:rPr>
              <a:t>read_reference_count</a:t>
            </a:r>
            <a:r>
              <a:rPr lang="ko-KR" altLang="en-US" sz="900" b="1">
                <a:solidFill>
                  <a:srgbClr val="FF0000"/>
                </a:solidFill>
              </a:rPr>
              <a:t>를 추가</a:t>
            </a:r>
          </a:p>
        </p:txBody>
      </p:sp>
    </p:spTree>
    <p:extLst>
      <p:ext uri="{BB962C8B-B14F-4D97-AF65-F5344CB8AC3E}">
        <p14:creationId xmlns:p14="http://schemas.microsoft.com/office/powerpoint/2010/main" val="3192953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D09C8F2-9FCE-494F-8440-982E5B9192AE}"/>
              </a:ext>
            </a:extLst>
          </p:cNvPr>
          <p:cNvSpPr txBox="1"/>
          <p:nvPr/>
        </p:nvSpPr>
        <p:spPr>
          <a:xfrm>
            <a:off x="148683" y="284091"/>
            <a:ext cx="5114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Shared Memory</a:t>
            </a:r>
            <a:r>
              <a:rPr lang="ko-KR" altLang="en-US" sz="1200"/>
              <a:t>에서 벌어지는 문제 </a:t>
            </a:r>
            <a:r>
              <a:rPr lang="en-US" altLang="ko-KR" sz="1200"/>
              <a:t>2 : fan-in</a:t>
            </a:r>
            <a:r>
              <a:rPr lang="ko-KR" altLang="en-US" sz="1200"/>
              <a:t>문제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F5ED7A-4B23-45B8-A3F8-F993D37F6BB9}"/>
              </a:ext>
            </a:extLst>
          </p:cNvPr>
          <p:cNvSpPr/>
          <p:nvPr/>
        </p:nvSpPr>
        <p:spPr>
          <a:xfrm>
            <a:off x="289930" y="1769328"/>
            <a:ext cx="2423532" cy="3211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Shared Memory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AD08F9-6CCA-437D-A2E1-1D2A8589CA51}"/>
              </a:ext>
            </a:extLst>
          </p:cNvPr>
          <p:cNvSpPr/>
          <p:nvPr/>
        </p:nvSpPr>
        <p:spPr>
          <a:xfrm>
            <a:off x="4326672" y="991631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core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1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83E72E-A840-4E4A-A5DA-AEAD6FDACD48}"/>
              </a:ext>
            </a:extLst>
          </p:cNvPr>
          <p:cNvSpPr/>
          <p:nvPr/>
        </p:nvSpPr>
        <p:spPr>
          <a:xfrm>
            <a:off x="4326671" y="3333387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core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3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9B90B0D-941A-4E70-AC8E-A534FBBE1347}"/>
              </a:ext>
            </a:extLst>
          </p:cNvPr>
          <p:cNvSpPr/>
          <p:nvPr/>
        </p:nvSpPr>
        <p:spPr>
          <a:xfrm>
            <a:off x="4326671" y="2162509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core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2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FD967E-1C84-4B1D-AB50-60D02CB344A3}"/>
              </a:ext>
            </a:extLst>
          </p:cNvPr>
          <p:cNvSpPr/>
          <p:nvPr/>
        </p:nvSpPr>
        <p:spPr>
          <a:xfrm>
            <a:off x="4326670" y="4504265"/>
            <a:ext cx="1471961" cy="100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core</a:t>
            </a:r>
            <a:r>
              <a:rPr lang="ko-KR" altLang="en-US" sz="900">
                <a:solidFill>
                  <a:schemeClr val="tx1"/>
                </a:solidFill>
              </a:rPr>
              <a:t> </a:t>
            </a:r>
            <a:r>
              <a:rPr lang="en-US" altLang="ko-KR" sz="900">
                <a:solidFill>
                  <a:schemeClr val="tx1"/>
                </a:solidFill>
              </a:rPr>
              <a:t>4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4326807-7D17-4E69-B693-D384FD8DEE8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713462" y="1495709"/>
            <a:ext cx="1613210" cy="1463296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81436F8-B771-4849-A563-48027C308DC3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2713462" y="2666587"/>
            <a:ext cx="1613209" cy="29241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2B7A1C2-BDAB-4845-A6B5-1D3773EF3C4F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713462" y="2971185"/>
            <a:ext cx="1613209" cy="86628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815C8A8-809C-4DC2-89F9-BBF70AB5030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723683" y="2971185"/>
            <a:ext cx="1602987" cy="203715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90CE0F-262F-40F6-8A7D-F1B9C17FEFA1}"/>
              </a:ext>
            </a:extLst>
          </p:cNvPr>
          <p:cNvSpPr txBox="1"/>
          <p:nvPr/>
        </p:nvSpPr>
        <p:spPr>
          <a:xfrm>
            <a:off x="6029091" y="1172543"/>
            <a:ext cx="1754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write</a:t>
            </a:r>
          </a:p>
          <a:p>
            <a:r>
              <a:rPr lang="en-US" altLang="ko-KR" sz="900"/>
              <a:t>SM_POST</a:t>
            </a:r>
          </a:p>
          <a:p>
            <a:r>
              <a:rPr lang="ko-KR" altLang="en-US" sz="900"/>
              <a:t>읽을 준비가 되었다고 표시해버림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8D3B31-2F7E-4FFC-997C-69028CD0DA82}"/>
              </a:ext>
            </a:extLst>
          </p:cNvPr>
          <p:cNvSpPr txBox="1"/>
          <p:nvPr/>
        </p:nvSpPr>
        <p:spPr>
          <a:xfrm>
            <a:off x="148683" y="740957"/>
            <a:ext cx="3869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같은 값을 여러 메모리가 참가하여 만드는 경우에 문제 발생</a:t>
            </a:r>
            <a:endParaRPr lang="en-US" altLang="ko-KR" sz="900"/>
          </a:p>
          <a:p>
            <a:r>
              <a:rPr lang="ko-KR" altLang="en-US" sz="900"/>
              <a:t>대표적으로 </a:t>
            </a:r>
            <a:r>
              <a:rPr lang="en-US" altLang="ko-KR" sz="900"/>
              <a:t>concat</a:t>
            </a:r>
            <a:r>
              <a:rPr lang="ko-KR" altLang="en-US" sz="900"/>
              <a:t>연산</a:t>
            </a:r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9170F32C-B3DF-458A-8B64-501894471B12}"/>
              </a:ext>
            </a:extLst>
          </p:cNvPr>
          <p:cNvCxnSpPr/>
          <p:nvPr/>
        </p:nvCxnSpPr>
        <p:spPr>
          <a:xfrm rot="10800000" flipV="1">
            <a:off x="2723684" y="1999787"/>
            <a:ext cx="5334931" cy="971398"/>
          </a:xfrm>
          <a:prstGeom prst="curvedConnector3">
            <a:avLst>
              <a:gd name="adj1" fmla="val 86370"/>
            </a:avLst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C36DB77-000D-4D2B-8DB5-62BCEE507344}"/>
              </a:ext>
            </a:extLst>
          </p:cNvPr>
          <p:cNvSpPr txBox="1"/>
          <p:nvPr/>
        </p:nvSpPr>
        <p:spPr>
          <a:xfrm>
            <a:off x="8144106" y="1676621"/>
            <a:ext cx="175445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read</a:t>
            </a:r>
          </a:p>
          <a:p>
            <a:r>
              <a:rPr lang="ko-KR" altLang="en-US" sz="900"/>
              <a:t>데이터가 다 써진 줄 알고 읽어가게 됨</a:t>
            </a:r>
            <a:r>
              <a:rPr lang="en-US" altLang="ko-KR" sz="900"/>
              <a:t>. </a:t>
            </a: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4C168351-9109-498E-A304-0E970274C329}"/>
              </a:ext>
            </a:extLst>
          </p:cNvPr>
          <p:cNvSpPr/>
          <p:nvPr/>
        </p:nvSpPr>
        <p:spPr>
          <a:xfrm rot="19338233">
            <a:off x="7600687" y="3704634"/>
            <a:ext cx="411713" cy="885526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B43B3-AC83-4831-8AF8-882BE9E728CF}"/>
              </a:ext>
            </a:extLst>
          </p:cNvPr>
          <p:cNvSpPr txBox="1"/>
          <p:nvPr/>
        </p:nvSpPr>
        <p:spPr>
          <a:xfrm>
            <a:off x="8068837" y="4509137"/>
            <a:ext cx="26512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마찬가지로 기존 방식으로는 해결 불가능</a:t>
            </a:r>
            <a:endParaRPr lang="ko-KR" altLang="en-US" sz="900" b="1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29E7B0CA-3CCC-4003-B093-29FEE83F7573}"/>
              </a:ext>
            </a:extLst>
          </p:cNvPr>
          <p:cNvSpPr/>
          <p:nvPr/>
        </p:nvSpPr>
        <p:spPr>
          <a:xfrm rot="19338233">
            <a:off x="9269651" y="5357160"/>
            <a:ext cx="411713" cy="885526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128C54-6581-477C-8CD4-7845430D69F8}"/>
              </a:ext>
            </a:extLst>
          </p:cNvPr>
          <p:cNvSpPr txBox="1"/>
          <p:nvPr/>
        </p:nvSpPr>
        <p:spPr>
          <a:xfrm>
            <a:off x="8876371" y="6276142"/>
            <a:ext cx="29133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semaphore entry</a:t>
            </a:r>
            <a:r>
              <a:rPr lang="ko-KR" altLang="en-US" sz="900" b="1">
                <a:solidFill>
                  <a:srgbClr val="FF0000"/>
                </a:solidFill>
              </a:rPr>
              <a:t>에 </a:t>
            </a:r>
            <a:r>
              <a:rPr lang="en-US" altLang="ko-KR" sz="900" b="1">
                <a:solidFill>
                  <a:srgbClr val="FF0000"/>
                </a:solidFill>
              </a:rPr>
              <a:t>write_reference_count</a:t>
            </a:r>
            <a:r>
              <a:rPr lang="ko-KR" altLang="en-US" sz="900" b="1">
                <a:solidFill>
                  <a:srgbClr val="FF0000"/>
                </a:solidFill>
              </a:rPr>
              <a:t>를 추가</a:t>
            </a:r>
          </a:p>
        </p:txBody>
      </p:sp>
    </p:spTree>
    <p:extLst>
      <p:ext uri="{BB962C8B-B14F-4D97-AF65-F5344CB8AC3E}">
        <p14:creationId xmlns:p14="http://schemas.microsoft.com/office/powerpoint/2010/main" val="3554195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D09C8F2-9FCE-494F-8440-982E5B9192AE}"/>
              </a:ext>
            </a:extLst>
          </p:cNvPr>
          <p:cNvSpPr txBox="1"/>
          <p:nvPr/>
        </p:nvSpPr>
        <p:spPr>
          <a:xfrm>
            <a:off x="148683" y="284091"/>
            <a:ext cx="4646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Shared Memory</a:t>
            </a:r>
            <a:r>
              <a:rPr lang="ko-KR" altLang="en-US" sz="1200"/>
              <a:t>에서 벌어지는 문제 </a:t>
            </a:r>
            <a:r>
              <a:rPr lang="en-US" altLang="ko-KR" sz="1200"/>
              <a:t>3 : </a:t>
            </a:r>
            <a:r>
              <a:rPr lang="ko-KR" altLang="en-US" sz="1200"/>
              <a:t>동기화의 착각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FB241ED-4D46-46C7-BA61-EF0A3D522BBF}"/>
              </a:ext>
            </a:extLst>
          </p:cNvPr>
          <p:cNvCxnSpPr/>
          <p:nvPr/>
        </p:nvCxnSpPr>
        <p:spPr>
          <a:xfrm>
            <a:off x="293125" y="2591915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DDE90BD-C0AE-4F6C-A0C0-C8B36E92551D}"/>
              </a:ext>
            </a:extLst>
          </p:cNvPr>
          <p:cNvCxnSpPr>
            <a:cxnSpLocks/>
          </p:cNvCxnSpPr>
          <p:nvPr/>
        </p:nvCxnSpPr>
        <p:spPr>
          <a:xfrm>
            <a:off x="672267" y="1699817"/>
            <a:ext cx="0" cy="892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BF1AB88-6645-498F-8B3F-FD3BC2508CB7}"/>
              </a:ext>
            </a:extLst>
          </p:cNvPr>
          <p:cNvCxnSpPr>
            <a:cxnSpLocks/>
          </p:cNvCxnSpPr>
          <p:nvPr/>
        </p:nvCxnSpPr>
        <p:spPr>
          <a:xfrm>
            <a:off x="913876" y="2593773"/>
            <a:ext cx="0" cy="45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6D70234-0495-461B-8CE9-AEA4D7EC26EB}"/>
              </a:ext>
            </a:extLst>
          </p:cNvPr>
          <p:cNvCxnSpPr/>
          <p:nvPr/>
        </p:nvCxnSpPr>
        <p:spPr>
          <a:xfrm>
            <a:off x="293125" y="3071417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CBC853B-9014-4305-8CD8-4AAFA7D7A89F}"/>
              </a:ext>
            </a:extLst>
          </p:cNvPr>
          <p:cNvSpPr txBox="1"/>
          <p:nvPr/>
        </p:nvSpPr>
        <p:spPr>
          <a:xfrm>
            <a:off x="672267" y="2030450"/>
            <a:ext cx="10853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A </a:t>
            </a:r>
            <a:r>
              <a:rPr lang="ko-KR" altLang="en-US" sz="900"/>
              <a:t>데이터 쓰기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FA7B3-7958-4D4C-8AB8-5C0F61CF4564}"/>
              </a:ext>
            </a:extLst>
          </p:cNvPr>
          <p:cNvSpPr txBox="1"/>
          <p:nvPr/>
        </p:nvSpPr>
        <p:spPr>
          <a:xfrm>
            <a:off x="2558678" y="2476499"/>
            <a:ext cx="1852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동기화</a:t>
            </a:r>
            <a:endParaRPr lang="en-US" altLang="ko-KR" sz="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ADBACE-ED6B-4F2B-BEB5-CE95557EC9A9}"/>
              </a:ext>
            </a:extLst>
          </p:cNvPr>
          <p:cNvSpPr txBox="1"/>
          <p:nvPr/>
        </p:nvSpPr>
        <p:spPr>
          <a:xfrm>
            <a:off x="913876" y="2718667"/>
            <a:ext cx="11021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A </a:t>
            </a:r>
            <a:r>
              <a:rPr lang="ko-KR" altLang="en-US" sz="900"/>
              <a:t>데이터 읽기</a:t>
            </a:r>
            <a:endParaRPr lang="en-US" altLang="ko-KR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BD5EDE-B6CE-4AC6-B32C-B123736264C4}"/>
              </a:ext>
            </a:extLst>
          </p:cNvPr>
          <p:cNvSpPr txBox="1"/>
          <p:nvPr/>
        </p:nvSpPr>
        <p:spPr>
          <a:xfrm>
            <a:off x="2558678" y="2956001"/>
            <a:ext cx="1600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메모리 비움</a:t>
            </a:r>
            <a:endParaRPr lang="en-US" altLang="ko-KR" sz="90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0CE8015-37AE-4CE7-A762-85785B3AE8E4}"/>
              </a:ext>
            </a:extLst>
          </p:cNvPr>
          <p:cNvCxnSpPr/>
          <p:nvPr/>
        </p:nvCxnSpPr>
        <p:spPr>
          <a:xfrm>
            <a:off x="293125" y="3990465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3F4731E-E38D-44E4-9B9A-7FAAA9FCC475}"/>
              </a:ext>
            </a:extLst>
          </p:cNvPr>
          <p:cNvCxnSpPr>
            <a:cxnSpLocks/>
          </p:cNvCxnSpPr>
          <p:nvPr/>
        </p:nvCxnSpPr>
        <p:spPr>
          <a:xfrm>
            <a:off x="1214961" y="3098367"/>
            <a:ext cx="0" cy="892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3FC457B-8631-40E8-B4D2-6441DB478848}"/>
              </a:ext>
            </a:extLst>
          </p:cNvPr>
          <p:cNvCxnSpPr>
            <a:cxnSpLocks/>
          </p:cNvCxnSpPr>
          <p:nvPr/>
        </p:nvCxnSpPr>
        <p:spPr>
          <a:xfrm>
            <a:off x="1456570" y="3992323"/>
            <a:ext cx="0" cy="45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95000A6-D322-4200-A190-01219B256459}"/>
              </a:ext>
            </a:extLst>
          </p:cNvPr>
          <p:cNvCxnSpPr/>
          <p:nvPr/>
        </p:nvCxnSpPr>
        <p:spPr>
          <a:xfrm>
            <a:off x="293125" y="4456029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EEE7412-291A-4C54-A095-0A3281DBBFD2}"/>
              </a:ext>
            </a:extLst>
          </p:cNvPr>
          <p:cNvSpPr txBox="1"/>
          <p:nvPr/>
        </p:nvSpPr>
        <p:spPr>
          <a:xfrm>
            <a:off x="1214961" y="3429000"/>
            <a:ext cx="11021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B </a:t>
            </a:r>
            <a:r>
              <a:rPr lang="ko-KR" altLang="en-US" sz="900"/>
              <a:t>데이터 쓰기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37C0F0-4F49-4D4D-823D-4C2E93E95624}"/>
              </a:ext>
            </a:extLst>
          </p:cNvPr>
          <p:cNvSpPr txBox="1"/>
          <p:nvPr/>
        </p:nvSpPr>
        <p:spPr>
          <a:xfrm>
            <a:off x="1456570" y="4117217"/>
            <a:ext cx="9013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B </a:t>
            </a:r>
            <a:r>
              <a:rPr lang="ko-KR" altLang="en-US" sz="900"/>
              <a:t>데이터 읽기</a:t>
            </a:r>
            <a:endParaRPr lang="en-US" altLang="ko-KR" sz="9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0094E0-A502-430D-8C4A-8F6E0BDFB254}"/>
              </a:ext>
            </a:extLst>
          </p:cNvPr>
          <p:cNvSpPr txBox="1"/>
          <p:nvPr/>
        </p:nvSpPr>
        <p:spPr>
          <a:xfrm>
            <a:off x="2558678" y="4348049"/>
            <a:ext cx="1600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메모리 비움</a:t>
            </a:r>
            <a:endParaRPr lang="en-US" altLang="ko-KR" sz="9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CB228A-F0DD-4995-9B00-0BD6226B3C18}"/>
              </a:ext>
            </a:extLst>
          </p:cNvPr>
          <p:cNvSpPr txBox="1"/>
          <p:nvPr/>
        </p:nvSpPr>
        <p:spPr>
          <a:xfrm>
            <a:off x="2558678" y="3860924"/>
            <a:ext cx="1852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동기화</a:t>
            </a:r>
            <a:endParaRPr lang="en-US" altLang="ko-KR" sz="90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EEE33EC-3235-45AD-A22E-E41286F6E249}"/>
              </a:ext>
            </a:extLst>
          </p:cNvPr>
          <p:cNvCxnSpPr/>
          <p:nvPr/>
        </p:nvCxnSpPr>
        <p:spPr>
          <a:xfrm>
            <a:off x="326579" y="5360952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FFCC217-4F25-4CBD-85E1-7D0DD19478E9}"/>
              </a:ext>
            </a:extLst>
          </p:cNvPr>
          <p:cNvCxnSpPr>
            <a:cxnSpLocks/>
          </p:cNvCxnSpPr>
          <p:nvPr/>
        </p:nvCxnSpPr>
        <p:spPr>
          <a:xfrm>
            <a:off x="2002980" y="5355187"/>
            <a:ext cx="0" cy="45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7C73110-D3A9-4FA9-A634-ABCE75BF4467}"/>
              </a:ext>
            </a:extLst>
          </p:cNvPr>
          <p:cNvCxnSpPr/>
          <p:nvPr/>
        </p:nvCxnSpPr>
        <p:spPr>
          <a:xfrm>
            <a:off x="326579" y="5826516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AA7CD15-1224-4000-B578-9D02847F7279}"/>
              </a:ext>
            </a:extLst>
          </p:cNvPr>
          <p:cNvSpPr txBox="1"/>
          <p:nvPr/>
        </p:nvSpPr>
        <p:spPr>
          <a:xfrm>
            <a:off x="2002980" y="5480081"/>
            <a:ext cx="11021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C </a:t>
            </a:r>
            <a:r>
              <a:rPr lang="ko-KR" altLang="en-US" sz="900"/>
              <a:t>데이터 읽기</a:t>
            </a:r>
            <a:endParaRPr lang="en-US" altLang="ko-KR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37A77-3CD2-4406-8D3E-E67E1238AEA2}"/>
              </a:ext>
            </a:extLst>
          </p:cNvPr>
          <p:cNvSpPr txBox="1"/>
          <p:nvPr/>
        </p:nvSpPr>
        <p:spPr>
          <a:xfrm>
            <a:off x="2592132" y="5718536"/>
            <a:ext cx="1600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메모리 비움</a:t>
            </a:r>
            <a:endParaRPr lang="en-US" altLang="ko-KR" sz="9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CC43F5-7450-485E-A764-17EF1121809A}"/>
              </a:ext>
            </a:extLst>
          </p:cNvPr>
          <p:cNvSpPr txBox="1"/>
          <p:nvPr/>
        </p:nvSpPr>
        <p:spPr>
          <a:xfrm>
            <a:off x="2592132" y="5231411"/>
            <a:ext cx="1852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동기화</a:t>
            </a:r>
            <a:endParaRPr lang="en-US" altLang="ko-KR" sz="900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A1EABE1-086A-48A3-AEF2-52FCFD6B9C46}"/>
              </a:ext>
            </a:extLst>
          </p:cNvPr>
          <p:cNvCxnSpPr>
            <a:cxnSpLocks/>
          </p:cNvCxnSpPr>
          <p:nvPr/>
        </p:nvCxnSpPr>
        <p:spPr>
          <a:xfrm>
            <a:off x="1815269" y="4468854"/>
            <a:ext cx="0" cy="892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6C5A924-3533-4A91-93A9-C1DB8A1634B0}"/>
              </a:ext>
            </a:extLst>
          </p:cNvPr>
          <p:cNvCxnSpPr/>
          <p:nvPr/>
        </p:nvCxnSpPr>
        <p:spPr>
          <a:xfrm>
            <a:off x="5394282" y="2562359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811FA9C-0A32-43EC-A5C8-784FBEB470F4}"/>
              </a:ext>
            </a:extLst>
          </p:cNvPr>
          <p:cNvCxnSpPr>
            <a:cxnSpLocks/>
          </p:cNvCxnSpPr>
          <p:nvPr/>
        </p:nvCxnSpPr>
        <p:spPr>
          <a:xfrm>
            <a:off x="5773424" y="1670261"/>
            <a:ext cx="0" cy="892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8938F9D-B833-48F9-A778-0C9BA65D0394}"/>
              </a:ext>
            </a:extLst>
          </p:cNvPr>
          <p:cNvCxnSpPr>
            <a:cxnSpLocks/>
          </p:cNvCxnSpPr>
          <p:nvPr/>
        </p:nvCxnSpPr>
        <p:spPr>
          <a:xfrm>
            <a:off x="6015033" y="2564217"/>
            <a:ext cx="0" cy="45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FD3B023-8FA8-4930-8FE5-284E3C121B87}"/>
              </a:ext>
            </a:extLst>
          </p:cNvPr>
          <p:cNvCxnSpPr/>
          <p:nvPr/>
        </p:nvCxnSpPr>
        <p:spPr>
          <a:xfrm>
            <a:off x="5394282" y="3041861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E2B8C5-A182-43AD-9598-3231D7693475}"/>
              </a:ext>
            </a:extLst>
          </p:cNvPr>
          <p:cNvSpPr txBox="1"/>
          <p:nvPr/>
        </p:nvSpPr>
        <p:spPr>
          <a:xfrm>
            <a:off x="7659835" y="2446943"/>
            <a:ext cx="1852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동기화</a:t>
            </a:r>
            <a:endParaRPr lang="en-US" altLang="ko-KR" sz="9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5D181A-FF43-4A11-BCDF-DB69FF6A6FBA}"/>
              </a:ext>
            </a:extLst>
          </p:cNvPr>
          <p:cNvSpPr txBox="1"/>
          <p:nvPr/>
        </p:nvSpPr>
        <p:spPr>
          <a:xfrm>
            <a:off x="7659835" y="2926445"/>
            <a:ext cx="1600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메모리 비움</a:t>
            </a:r>
            <a:endParaRPr lang="en-US" altLang="ko-KR" sz="900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13A1052-689D-4EAA-B645-7F9422EC5E38}"/>
              </a:ext>
            </a:extLst>
          </p:cNvPr>
          <p:cNvCxnSpPr/>
          <p:nvPr/>
        </p:nvCxnSpPr>
        <p:spPr>
          <a:xfrm>
            <a:off x="5394282" y="3960909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C180BD-6DA2-4748-B438-DE30915025AF}"/>
              </a:ext>
            </a:extLst>
          </p:cNvPr>
          <p:cNvCxnSpPr>
            <a:cxnSpLocks/>
          </p:cNvCxnSpPr>
          <p:nvPr/>
        </p:nvCxnSpPr>
        <p:spPr>
          <a:xfrm>
            <a:off x="6316118" y="3068811"/>
            <a:ext cx="0" cy="892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8901FFE-5F88-4572-AB1E-41928B4C7522}"/>
              </a:ext>
            </a:extLst>
          </p:cNvPr>
          <p:cNvCxnSpPr>
            <a:cxnSpLocks/>
          </p:cNvCxnSpPr>
          <p:nvPr/>
        </p:nvCxnSpPr>
        <p:spPr>
          <a:xfrm>
            <a:off x="6557727" y="3962767"/>
            <a:ext cx="0" cy="45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E80F253E-14AB-4031-8B3C-FEE58AFD4F06}"/>
              </a:ext>
            </a:extLst>
          </p:cNvPr>
          <p:cNvCxnSpPr/>
          <p:nvPr/>
        </p:nvCxnSpPr>
        <p:spPr>
          <a:xfrm>
            <a:off x="5394282" y="4426473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858DEE2-EF6C-47D2-9858-A09C5D60AA6E}"/>
              </a:ext>
            </a:extLst>
          </p:cNvPr>
          <p:cNvSpPr txBox="1"/>
          <p:nvPr/>
        </p:nvSpPr>
        <p:spPr>
          <a:xfrm>
            <a:off x="7659835" y="4318493"/>
            <a:ext cx="1600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메모리 비움</a:t>
            </a:r>
            <a:endParaRPr lang="en-US" altLang="ko-KR" sz="9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26A0EA-9FC6-4928-AD6F-EE47CB8617DD}"/>
              </a:ext>
            </a:extLst>
          </p:cNvPr>
          <p:cNvSpPr txBox="1"/>
          <p:nvPr/>
        </p:nvSpPr>
        <p:spPr>
          <a:xfrm>
            <a:off x="7659835" y="3831368"/>
            <a:ext cx="1852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동기화</a:t>
            </a:r>
            <a:endParaRPr lang="en-US" altLang="ko-KR" sz="90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B7CF8DDD-AC5B-4B64-AD26-154B9FD9D3AB}"/>
              </a:ext>
            </a:extLst>
          </p:cNvPr>
          <p:cNvCxnSpPr/>
          <p:nvPr/>
        </p:nvCxnSpPr>
        <p:spPr>
          <a:xfrm>
            <a:off x="5427736" y="5331396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92CE3DC-62AA-49AE-8335-BDCE6AD96CBE}"/>
              </a:ext>
            </a:extLst>
          </p:cNvPr>
          <p:cNvCxnSpPr>
            <a:cxnSpLocks/>
          </p:cNvCxnSpPr>
          <p:nvPr/>
        </p:nvCxnSpPr>
        <p:spPr>
          <a:xfrm>
            <a:off x="7104137" y="5325631"/>
            <a:ext cx="0" cy="459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50177191-71A7-4360-9409-13D8426E6C42}"/>
              </a:ext>
            </a:extLst>
          </p:cNvPr>
          <p:cNvCxnSpPr/>
          <p:nvPr/>
        </p:nvCxnSpPr>
        <p:spPr>
          <a:xfrm>
            <a:off x="5427736" y="5796960"/>
            <a:ext cx="2259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70333EA-6108-4A7F-9B8B-146E2215D039}"/>
              </a:ext>
            </a:extLst>
          </p:cNvPr>
          <p:cNvSpPr txBox="1"/>
          <p:nvPr/>
        </p:nvSpPr>
        <p:spPr>
          <a:xfrm>
            <a:off x="7693289" y="5688980"/>
            <a:ext cx="16002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메모리 비움</a:t>
            </a:r>
            <a:endParaRPr lang="en-US" altLang="ko-KR" sz="9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16C56A-D854-46CC-8154-F74E990FF003}"/>
              </a:ext>
            </a:extLst>
          </p:cNvPr>
          <p:cNvSpPr txBox="1"/>
          <p:nvPr/>
        </p:nvSpPr>
        <p:spPr>
          <a:xfrm>
            <a:off x="7693289" y="5201855"/>
            <a:ext cx="1852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 : </a:t>
            </a:r>
            <a:r>
              <a:rPr lang="ko-KR" altLang="en-US" sz="900"/>
              <a:t>동기화</a:t>
            </a:r>
            <a:endParaRPr lang="en-US" altLang="ko-KR" sz="90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5780001-BFDD-46AA-86A1-36B2E39F1184}"/>
              </a:ext>
            </a:extLst>
          </p:cNvPr>
          <p:cNvCxnSpPr>
            <a:cxnSpLocks/>
          </p:cNvCxnSpPr>
          <p:nvPr/>
        </p:nvCxnSpPr>
        <p:spPr>
          <a:xfrm>
            <a:off x="6916426" y="4439298"/>
            <a:ext cx="0" cy="892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297FE9E-C2E7-425F-B1C9-AC2B7D8B7447}"/>
              </a:ext>
            </a:extLst>
          </p:cNvPr>
          <p:cNvSpPr txBox="1"/>
          <p:nvPr/>
        </p:nvSpPr>
        <p:spPr>
          <a:xfrm>
            <a:off x="3857791" y="2479752"/>
            <a:ext cx="1297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read_ref_cnt = 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4CE7D0-5D7F-4547-A272-6A5EB5BE7675}"/>
              </a:ext>
            </a:extLst>
          </p:cNvPr>
          <p:cNvSpPr txBox="1"/>
          <p:nvPr/>
        </p:nvSpPr>
        <p:spPr>
          <a:xfrm>
            <a:off x="3709116" y="3839363"/>
            <a:ext cx="1297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read_ref_cnt = 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B78D7E-3726-4FA5-A702-65C024610FFA}"/>
              </a:ext>
            </a:extLst>
          </p:cNvPr>
          <p:cNvSpPr txBox="1"/>
          <p:nvPr/>
        </p:nvSpPr>
        <p:spPr>
          <a:xfrm>
            <a:off x="1848726" y="4820116"/>
            <a:ext cx="11021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C </a:t>
            </a:r>
            <a:r>
              <a:rPr lang="ko-KR" altLang="en-US" sz="900"/>
              <a:t>데이터 쓰기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AACEFE-B6DD-4BEE-AFEA-8F9C052301ED}"/>
              </a:ext>
            </a:extLst>
          </p:cNvPr>
          <p:cNvSpPr txBox="1"/>
          <p:nvPr/>
        </p:nvSpPr>
        <p:spPr>
          <a:xfrm>
            <a:off x="3720268" y="5221186"/>
            <a:ext cx="1297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read_ref_cnt = 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5DB4D2-6ED8-4640-A59E-D08F8E92D657}"/>
              </a:ext>
            </a:extLst>
          </p:cNvPr>
          <p:cNvSpPr txBox="1"/>
          <p:nvPr/>
        </p:nvSpPr>
        <p:spPr>
          <a:xfrm>
            <a:off x="5814308" y="1983056"/>
            <a:ext cx="10853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A </a:t>
            </a:r>
            <a:r>
              <a:rPr lang="ko-KR" altLang="en-US" sz="900"/>
              <a:t>데이터 쓰기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F3F2E-8D3A-4311-898A-FD7BE8B2B52D}"/>
              </a:ext>
            </a:extLst>
          </p:cNvPr>
          <p:cNvSpPr txBox="1"/>
          <p:nvPr/>
        </p:nvSpPr>
        <p:spPr>
          <a:xfrm>
            <a:off x="6055917" y="2671273"/>
            <a:ext cx="11021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A </a:t>
            </a:r>
            <a:r>
              <a:rPr lang="ko-KR" altLang="en-US" sz="900"/>
              <a:t>데이터 읽기</a:t>
            </a:r>
            <a:endParaRPr lang="en-US" altLang="ko-KR" sz="9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20F22F-4BCE-4B83-AB9C-AF9BF2E3EDC1}"/>
              </a:ext>
            </a:extLst>
          </p:cNvPr>
          <p:cNvSpPr txBox="1"/>
          <p:nvPr/>
        </p:nvSpPr>
        <p:spPr>
          <a:xfrm>
            <a:off x="6357002" y="3381606"/>
            <a:ext cx="11021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B </a:t>
            </a:r>
            <a:r>
              <a:rPr lang="ko-KR" altLang="en-US" sz="900"/>
              <a:t>데이터 쓰기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AB0D80-FAF3-4057-BEDF-8318D0805A8A}"/>
              </a:ext>
            </a:extLst>
          </p:cNvPr>
          <p:cNvSpPr txBox="1"/>
          <p:nvPr/>
        </p:nvSpPr>
        <p:spPr>
          <a:xfrm>
            <a:off x="6598611" y="4069823"/>
            <a:ext cx="9013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B </a:t>
            </a:r>
            <a:r>
              <a:rPr lang="ko-KR" altLang="en-US" sz="900"/>
              <a:t>데이터 읽기</a:t>
            </a:r>
            <a:endParaRPr lang="en-US" altLang="ko-KR" sz="9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DD9C23-EFBD-44F1-827B-9D59A2ACB0E6}"/>
              </a:ext>
            </a:extLst>
          </p:cNvPr>
          <p:cNvSpPr txBox="1"/>
          <p:nvPr/>
        </p:nvSpPr>
        <p:spPr>
          <a:xfrm>
            <a:off x="7145021" y="5432687"/>
            <a:ext cx="11021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C </a:t>
            </a:r>
            <a:r>
              <a:rPr lang="ko-KR" altLang="en-US" sz="900"/>
              <a:t>데이터 읽기</a:t>
            </a:r>
            <a:endParaRPr lang="en-US" altLang="ko-KR" sz="9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3311C6-55C0-459F-984F-AAC3CCE11F60}"/>
              </a:ext>
            </a:extLst>
          </p:cNvPr>
          <p:cNvSpPr txBox="1"/>
          <p:nvPr/>
        </p:nvSpPr>
        <p:spPr>
          <a:xfrm>
            <a:off x="6990767" y="4772722"/>
            <a:ext cx="11021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C </a:t>
            </a:r>
            <a:r>
              <a:rPr lang="ko-KR" altLang="en-US" sz="900"/>
              <a:t>데이터 쓰기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E241B3CF-617C-4D04-BB78-4A3A6FF78450}"/>
              </a:ext>
            </a:extLst>
          </p:cNvPr>
          <p:cNvGrpSpPr/>
          <p:nvPr/>
        </p:nvGrpSpPr>
        <p:grpSpPr>
          <a:xfrm>
            <a:off x="6199028" y="2536345"/>
            <a:ext cx="456753" cy="532841"/>
            <a:chOff x="1722120" y="4267934"/>
            <a:chExt cx="152400" cy="166807"/>
          </a:xfrm>
        </p:grpSpPr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5A1F7C64-3D39-49E3-BC53-8303A33AB01C}"/>
                </a:ext>
              </a:extLst>
            </p:cNvPr>
            <p:cNvCxnSpPr/>
            <p:nvPr/>
          </p:nvCxnSpPr>
          <p:spPr>
            <a:xfrm flipH="1">
              <a:off x="1729740" y="4267934"/>
              <a:ext cx="144780" cy="16680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49A6171C-5AFB-461E-88D2-58D1CE3160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2120" y="4282916"/>
              <a:ext cx="152400" cy="15182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9BDB5CC-6B51-42E6-8031-775C9B6E6C02}"/>
              </a:ext>
            </a:extLst>
          </p:cNvPr>
          <p:cNvSpPr txBox="1"/>
          <p:nvPr/>
        </p:nvSpPr>
        <p:spPr>
          <a:xfrm>
            <a:off x="6557726" y="2222247"/>
            <a:ext cx="29672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rgbClr val="FF0000"/>
                </a:solidFill>
              </a:rPr>
              <a:t>예상치 못한 지연으로 읽지 못함</a:t>
            </a:r>
            <a:r>
              <a:rPr lang="en-US" altLang="ko-KR" sz="900">
                <a:solidFill>
                  <a:srgbClr val="FF0000"/>
                </a:solidFill>
              </a:rPr>
              <a:t>. 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BD3FE3-0ECF-4D02-8BD9-487C9EF7FF2D}"/>
              </a:ext>
            </a:extLst>
          </p:cNvPr>
          <p:cNvSpPr txBox="1"/>
          <p:nvPr/>
        </p:nvSpPr>
        <p:spPr>
          <a:xfrm>
            <a:off x="7049307" y="3199282"/>
            <a:ext cx="29672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rgbClr val="FF0000"/>
                </a:solidFill>
              </a:rPr>
              <a:t>예상치 못한 지연으로 쓰지 못함</a:t>
            </a:r>
            <a:r>
              <a:rPr lang="en-US" altLang="ko-KR" sz="900">
                <a:solidFill>
                  <a:srgbClr val="FF0000"/>
                </a:solidFill>
              </a:rPr>
              <a:t>. </a:t>
            </a:r>
            <a:endParaRPr lang="ko-KR" altLang="en-US" sz="900">
              <a:solidFill>
                <a:srgbClr val="FF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12CE02B-B121-45DC-9B34-C88E94787426}"/>
              </a:ext>
            </a:extLst>
          </p:cNvPr>
          <p:cNvSpPr txBox="1"/>
          <p:nvPr/>
        </p:nvSpPr>
        <p:spPr>
          <a:xfrm>
            <a:off x="8958418" y="2446943"/>
            <a:ext cx="1297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read_ref_cnt = 3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E96A8AA-76CA-433B-802B-699CBE7438DF}"/>
              </a:ext>
            </a:extLst>
          </p:cNvPr>
          <p:cNvGrpSpPr/>
          <p:nvPr/>
        </p:nvGrpSpPr>
        <p:grpSpPr>
          <a:xfrm>
            <a:off x="6537569" y="3247789"/>
            <a:ext cx="456753" cy="532841"/>
            <a:chOff x="1722120" y="4267934"/>
            <a:chExt cx="152400" cy="166807"/>
          </a:xfrm>
        </p:grpSpPr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0CE46353-D74E-497F-BFF2-04DBC595731F}"/>
                </a:ext>
              </a:extLst>
            </p:cNvPr>
            <p:cNvCxnSpPr/>
            <p:nvPr/>
          </p:nvCxnSpPr>
          <p:spPr>
            <a:xfrm flipH="1">
              <a:off x="1729740" y="4267934"/>
              <a:ext cx="144780" cy="16680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80B0168B-A5FC-4418-B6DF-20833F8D01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2120" y="4282916"/>
              <a:ext cx="152400" cy="15182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C33A5F5-6F3A-42D9-B0B8-F2537D127297}"/>
              </a:ext>
            </a:extLst>
          </p:cNvPr>
          <p:cNvSpPr txBox="1"/>
          <p:nvPr/>
        </p:nvSpPr>
        <p:spPr>
          <a:xfrm>
            <a:off x="8897623" y="3826442"/>
            <a:ext cx="1297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read_ref_cnt = 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4E42AF-7C78-411B-818E-FCE89E36AA35}"/>
              </a:ext>
            </a:extLst>
          </p:cNvPr>
          <p:cNvSpPr txBox="1"/>
          <p:nvPr/>
        </p:nvSpPr>
        <p:spPr>
          <a:xfrm>
            <a:off x="8878108" y="5196929"/>
            <a:ext cx="1297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read_ref_cnt = 3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3764886E-6C51-4058-B44A-3CB59ADE6BC7}"/>
              </a:ext>
            </a:extLst>
          </p:cNvPr>
          <p:cNvCxnSpPr/>
          <p:nvPr/>
        </p:nvCxnSpPr>
        <p:spPr>
          <a:xfrm flipV="1">
            <a:off x="6655781" y="3186833"/>
            <a:ext cx="3142424" cy="11316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735CB6B-F074-47DC-B04F-DD9F1778897A}"/>
              </a:ext>
            </a:extLst>
          </p:cNvPr>
          <p:cNvSpPr txBox="1"/>
          <p:nvPr/>
        </p:nvSpPr>
        <p:spPr>
          <a:xfrm>
            <a:off x="9702773" y="3012304"/>
            <a:ext cx="1959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B</a:t>
            </a:r>
            <a:r>
              <a:rPr lang="ko-KR" altLang="en-US" sz="900" b="1">
                <a:solidFill>
                  <a:srgbClr val="FF0000"/>
                </a:solidFill>
              </a:rPr>
              <a:t>데이터가 아닌 </a:t>
            </a:r>
            <a:r>
              <a:rPr lang="en-US" altLang="ko-KR" sz="900" b="1">
                <a:solidFill>
                  <a:srgbClr val="FF0000"/>
                </a:solidFill>
              </a:rPr>
              <a:t>A</a:t>
            </a:r>
            <a:r>
              <a:rPr lang="ko-KR" altLang="en-US" sz="900" b="1">
                <a:solidFill>
                  <a:srgbClr val="FF0000"/>
                </a:solidFill>
              </a:rPr>
              <a:t>데이터를 읽음</a:t>
            </a:r>
            <a:endParaRPr lang="en-US" altLang="ko-KR" sz="900" b="1">
              <a:solidFill>
                <a:srgbClr val="FF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EB38EA-F01A-4B9B-AA5E-36D938D960EB}"/>
              </a:ext>
            </a:extLst>
          </p:cNvPr>
          <p:cNvSpPr txBox="1"/>
          <p:nvPr/>
        </p:nvSpPr>
        <p:spPr>
          <a:xfrm>
            <a:off x="148683" y="740957"/>
            <a:ext cx="3869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semaphore</a:t>
            </a:r>
            <a:r>
              <a:rPr lang="ko-KR" altLang="en-US" sz="900"/>
              <a:t>는 </a:t>
            </a:r>
            <a:r>
              <a:rPr lang="en-US" altLang="ko-KR" sz="900"/>
              <a:t>"</a:t>
            </a:r>
            <a:r>
              <a:rPr lang="ko-KR" altLang="en-US" sz="900"/>
              <a:t>누가</a:t>
            </a:r>
            <a:r>
              <a:rPr lang="en-US" altLang="ko-KR" sz="900"/>
              <a:t>" </a:t>
            </a:r>
            <a:r>
              <a:rPr lang="ko-KR" altLang="en-US" sz="900"/>
              <a:t>쓴 값이고</a:t>
            </a:r>
            <a:r>
              <a:rPr lang="en-US" altLang="ko-KR" sz="900"/>
              <a:t>, "</a:t>
            </a:r>
            <a:r>
              <a:rPr lang="ko-KR" altLang="en-US" sz="900"/>
              <a:t>누가</a:t>
            </a:r>
            <a:r>
              <a:rPr lang="en-US" altLang="ko-KR" sz="900"/>
              <a:t>" </a:t>
            </a:r>
            <a:r>
              <a:rPr lang="ko-KR" altLang="en-US" sz="900"/>
              <a:t>소비하는지 표시가 되어 있지 않아</a:t>
            </a:r>
            <a:r>
              <a:rPr lang="en-US" altLang="ko-KR" sz="900"/>
              <a:t>, </a:t>
            </a:r>
            <a:r>
              <a:rPr lang="ko-KR" altLang="en-US" sz="900"/>
              <a:t>동기화를 착각하고 값을 잘못 가져갈 수 있음</a:t>
            </a:r>
            <a:r>
              <a:rPr lang="en-US" altLang="ko-KR" sz="900"/>
              <a:t>. </a:t>
            </a:r>
            <a:endParaRPr lang="ko-KR" altLang="en-US" sz="900"/>
          </a:p>
        </p:txBody>
      </p:sp>
      <p:sp>
        <p:nvSpPr>
          <p:cNvPr id="86" name="화살표: 아래쪽 85">
            <a:extLst>
              <a:ext uri="{FF2B5EF4-FFF2-40B4-BE49-F238E27FC236}">
                <a16:creationId xmlns:a16="http://schemas.microsoft.com/office/drawing/2014/main" id="{C2D000B2-E124-4234-89D3-3A9EC63B73D4}"/>
              </a:ext>
            </a:extLst>
          </p:cNvPr>
          <p:cNvSpPr/>
          <p:nvPr/>
        </p:nvSpPr>
        <p:spPr>
          <a:xfrm rot="19338233">
            <a:off x="9418516" y="5632601"/>
            <a:ext cx="411713" cy="885526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C72E63-B9C9-41BD-9EB2-99A650E97983}"/>
              </a:ext>
            </a:extLst>
          </p:cNvPr>
          <p:cNvSpPr txBox="1"/>
          <p:nvPr/>
        </p:nvSpPr>
        <p:spPr>
          <a:xfrm>
            <a:off x="9546253" y="6551583"/>
            <a:ext cx="1671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>
                <a:solidFill>
                  <a:srgbClr val="FF0000"/>
                </a:solidFill>
              </a:rPr>
              <a:t>semaphore id</a:t>
            </a:r>
            <a:r>
              <a:rPr lang="ko-KR" altLang="en-US" sz="900" b="1">
                <a:solidFill>
                  <a:srgbClr val="FF0000"/>
                </a:solidFill>
              </a:rPr>
              <a:t>를 추가</a:t>
            </a:r>
          </a:p>
        </p:txBody>
      </p:sp>
    </p:spTree>
    <p:extLst>
      <p:ext uri="{BB962C8B-B14F-4D97-AF65-F5344CB8AC3E}">
        <p14:creationId xmlns:p14="http://schemas.microsoft.com/office/powerpoint/2010/main" val="57939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3561</Words>
  <Application>Microsoft Office PowerPoint</Application>
  <PresentationFormat>와이드스크린</PresentationFormat>
  <Paragraphs>839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mklee</dc:creator>
  <cp:lastModifiedBy>mklee</cp:lastModifiedBy>
  <cp:revision>99</cp:revision>
  <dcterms:created xsi:type="dcterms:W3CDTF">2026-03-12T01:01:13Z</dcterms:created>
  <dcterms:modified xsi:type="dcterms:W3CDTF">2026-03-12T09:25:50Z</dcterms:modified>
</cp:coreProperties>
</file>