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63" r:id="rId2"/>
    <p:sldId id="257" r:id="rId3"/>
    <p:sldId id="258" r:id="rId4"/>
    <p:sldId id="260" r:id="rId5"/>
    <p:sldId id="262" r:id="rId6"/>
    <p:sldId id="261" r:id="rId7"/>
    <p:sldId id="256" r:id="rId8"/>
    <p:sldId id="259" r:id="rId9"/>
    <p:sldId id="264" r:id="rId10"/>
  </p:sldIdLst>
  <p:sldSz cx="6858000" cy="12192000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D1A9"/>
    <a:srgbClr val="EFE4A0"/>
    <a:srgbClr val="FDDD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040" autoAdjust="0"/>
  </p:normalViewPr>
  <p:slideViewPr>
    <p:cSldViewPr snapToGrid="0">
      <p:cViewPr>
        <p:scale>
          <a:sx n="150" d="100"/>
          <a:sy n="150" d="100"/>
        </p:scale>
        <p:origin x="342" y="5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3543A1-793F-4756-8D16-9DA4F22FDC88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457450" y="1241425"/>
            <a:ext cx="188277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3FCE6B-9146-4758-9627-78B04DCE95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86169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3FCE6B-9146-4758-9627-78B04DCE951C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1537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66428-8543-4D54-81D6-BC280DA37DCF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2C032-4A0B-40F0-97CF-22E30F9015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9187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66428-8543-4D54-81D6-BC280DA37DCF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2C032-4A0B-40F0-97CF-22E30F9015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055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66428-8543-4D54-81D6-BC280DA37DCF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2C032-4A0B-40F0-97CF-22E30F9015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2515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66428-8543-4D54-81D6-BC280DA37DCF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2C032-4A0B-40F0-97CF-22E30F9015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7011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66428-8543-4D54-81D6-BC280DA37DCF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2C032-4A0B-40F0-97CF-22E30F9015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8770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66428-8543-4D54-81D6-BC280DA37DCF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2C032-4A0B-40F0-97CF-22E30F9015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513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66428-8543-4D54-81D6-BC280DA37DCF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2C032-4A0B-40F0-97CF-22E30F9015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6153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66428-8543-4D54-81D6-BC280DA37DCF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2C032-4A0B-40F0-97CF-22E30F9015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2588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66428-8543-4D54-81D6-BC280DA37DCF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2C032-4A0B-40F0-97CF-22E30F9015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8259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66428-8543-4D54-81D6-BC280DA37DCF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2C032-4A0B-40F0-97CF-22E30F9015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0384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66428-8543-4D54-81D6-BC280DA37DCF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2C032-4A0B-40F0-97CF-22E30F9015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3259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E66428-8543-4D54-81D6-BC280DA37DCF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E2C032-4A0B-40F0-97CF-22E30F9015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3989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../../obsidian_docs/Custom%20IR%20&#49444;&#44228;.md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../../obsidian_docs/Custom%20IR%20&#49444;&#44228;.md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../../obsidian_docs/Custom%20IR%20&#49444;&#44228;.md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../../obsidian_docs/Custom%20IR%20&#49444;&#44228;.md" TargetMode="Externa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../../obsidian_docs/Custom%20IR%20&#49444;&#44228;.md" TargetMode="Externa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../../obsidian_docs/Custom%20IR%20&#49444;&#44228;.md" TargetMode="Externa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F2A121C6-BEE8-4738-8922-8894D99F2177}"/>
              </a:ext>
            </a:extLst>
          </p:cNvPr>
          <p:cNvCxnSpPr/>
          <p:nvPr/>
        </p:nvCxnSpPr>
        <p:spPr>
          <a:xfrm>
            <a:off x="381000" y="3998487"/>
            <a:ext cx="6096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7374F25B-DD6F-44FB-AD96-E63624C45AF3}"/>
              </a:ext>
            </a:extLst>
          </p:cNvPr>
          <p:cNvCxnSpPr/>
          <p:nvPr/>
        </p:nvCxnSpPr>
        <p:spPr>
          <a:xfrm>
            <a:off x="381000" y="7610714"/>
            <a:ext cx="6096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732755C-DA09-40C0-9AEC-DA97A6C04BE4}"/>
              </a:ext>
            </a:extLst>
          </p:cNvPr>
          <p:cNvSpPr txBox="1"/>
          <p:nvPr/>
        </p:nvSpPr>
        <p:spPr>
          <a:xfrm>
            <a:off x="141550" y="1013834"/>
            <a:ext cx="2815772" cy="276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INF_CAP Layer (infetron-capability layer)</a:t>
            </a:r>
            <a:endParaRPr lang="ko-KR" altLang="en-US" sz="12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160D73-4970-461A-9958-22563D364635}"/>
              </a:ext>
            </a:extLst>
          </p:cNvPr>
          <p:cNvSpPr txBox="1"/>
          <p:nvPr/>
        </p:nvSpPr>
        <p:spPr>
          <a:xfrm>
            <a:off x="141550" y="4080841"/>
            <a:ext cx="2815772" cy="276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INF_ISA Layer (infetron-ISA layer)</a:t>
            </a:r>
            <a:endParaRPr lang="ko-KR" altLang="en-US" sz="12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3E492C-96F3-49C7-8187-8A17CC0C3B2E}"/>
              </a:ext>
            </a:extLst>
          </p:cNvPr>
          <p:cNvSpPr txBox="1"/>
          <p:nvPr/>
        </p:nvSpPr>
        <p:spPr>
          <a:xfrm>
            <a:off x="141550" y="7653584"/>
            <a:ext cx="2815772" cy="276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INF_EXP Layer (infetron-Export layer)</a:t>
            </a:r>
            <a:endParaRPr lang="ko-KR" altLang="en-US" sz="120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E9197D8-D3AC-481F-AB12-F6C24D502447}"/>
              </a:ext>
            </a:extLst>
          </p:cNvPr>
          <p:cNvSpPr/>
          <p:nvPr/>
        </p:nvSpPr>
        <p:spPr>
          <a:xfrm>
            <a:off x="1385217" y="4337894"/>
            <a:ext cx="2015791" cy="27541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CoreDistribution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6E55AA7-4323-4136-ABB7-FE2B0AE99E41}"/>
              </a:ext>
            </a:extLst>
          </p:cNvPr>
          <p:cNvSpPr/>
          <p:nvPr/>
        </p:nvSpPr>
        <p:spPr>
          <a:xfrm>
            <a:off x="3401008" y="4338696"/>
            <a:ext cx="640776" cy="2754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4C170B2-42FE-4432-ACFA-4C4DF1610F05}"/>
              </a:ext>
            </a:extLst>
          </p:cNvPr>
          <p:cNvSpPr/>
          <p:nvPr/>
        </p:nvSpPr>
        <p:spPr>
          <a:xfrm>
            <a:off x="1385217" y="5040025"/>
            <a:ext cx="2015791" cy="27541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RecordLatency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CB5F9B9-DDDA-4A06-B8A3-1DD974CBD99E}"/>
              </a:ext>
            </a:extLst>
          </p:cNvPr>
          <p:cNvSpPr/>
          <p:nvPr/>
        </p:nvSpPr>
        <p:spPr>
          <a:xfrm>
            <a:off x="3401008" y="5040827"/>
            <a:ext cx="640776" cy="2754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C6F07B29-555C-4D82-A38B-25943C13F699}"/>
              </a:ext>
            </a:extLst>
          </p:cNvPr>
          <p:cNvSpPr/>
          <p:nvPr/>
        </p:nvSpPr>
        <p:spPr>
          <a:xfrm>
            <a:off x="1385217" y="5369866"/>
            <a:ext cx="2015791" cy="27541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SetOpPriority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C67F4DB-4472-4D09-BEC9-57C59390F984}"/>
              </a:ext>
            </a:extLst>
          </p:cNvPr>
          <p:cNvSpPr/>
          <p:nvPr/>
        </p:nvSpPr>
        <p:spPr>
          <a:xfrm>
            <a:off x="3401008" y="5370668"/>
            <a:ext cx="640776" cy="2754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C94AB98D-5DD0-43E9-9AA9-B1ED8D69333D}"/>
              </a:ext>
            </a:extLst>
          </p:cNvPr>
          <p:cNvSpPr/>
          <p:nvPr/>
        </p:nvSpPr>
        <p:spPr>
          <a:xfrm>
            <a:off x="1379410" y="4658768"/>
            <a:ext cx="2015791" cy="2754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FitToCore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B93DF95C-504E-480D-AAD4-5B57089EFB61}"/>
              </a:ext>
            </a:extLst>
          </p:cNvPr>
          <p:cNvSpPr/>
          <p:nvPr/>
        </p:nvSpPr>
        <p:spPr>
          <a:xfrm>
            <a:off x="3395201" y="4659570"/>
            <a:ext cx="640776" cy="2754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81596E46-A358-49BE-8E31-7B2849CCE512}"/>
              </a:ext>
            </a:extLst>
          </p:cNvPr>
          <p:cNvSpPr/>
          <p:nvPr/>
        </p:nvSpPr>
        <p:spPr>
          <a:xfrm>
            <a:off x="1371297" y="9167874"/>
            <a:ext cx="2015791" cy="2754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WeightBufferization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8C307A34-FFB1-439B-B2E1-6074D82A8441}"/>
              </a:ext>
            </a:extLst>
          </p:cNvPr>
          <p:cNvSpPr/>
          <p:nvPr/>
        </p:nvSpPr>
        <p:spPr>
          <a:xfrm>
            <a:off x="3387088" y="9168676"/>
            <a:ext cx="640776" cy="2754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FF1D71C3-8380-4EC2-8CB9-D8993F5F553C}"/>
              </a:ext>
            </a:extLst>
          </p:cNvPr>
          <p:cNvSpPr/>
          <p:nvPr/>
        </p:nvSpPr>
        <p:spPr>
          <a:xfrm>
            <a:off x="1389170" y="8755019"/>
            <a:ext cx="2015791" cy="2754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ISA BinGenerate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60856955-9A69-447B-A68A-74BC3763880D}"/>
              </a:ext>
            </a:extLst>
          </p:cNvPr>
          <p:cNvSpPr/>
          <p:nvPr/>
        </p:nvSpPr>
        <p:spPr>
          <a:xfrm>
            <a:off x="3404961" y="8755821"/>
            <a:ext cx="640776" cy="2754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88" name="왼쪽 중괄호 87">
            <a:extLst>
              <a:ext uri="{FF2B5EF4-FFF2-40B4-BE49-F238E27FC236}">
                <a16:creationId xmlns:a16="http://schemas.microsoft.com/office/drawing/2014/main" id="{0304C859-A350-4609-A73A-012FF716B4D0}"/>
              </a:ext>
            </a:extLst>
          </p:cNvPr>
          <p:cNvSpPr/>
          <p:nvPr/>
        </p:nvSpPr>
        <p:spPr>
          <a:xfrm>
            <a:off x="1016002" y="1362202"/>
            <a:ext cx="354956" cy="2583990"/>
          </a:xfrm>
          <a:prstGeom prst="leftBrace">
            <a:avLst>
              <a:gd name="adj1" fmla="val 152096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61E78192-5884-471D-A23E-476BC1A0B218}"/>
              </a:ext>
            </a:extLst>
          </p:cNvPr>
          <p:cNvSpPr txBox="1"/>
          <p:nvPr/>
        </p:nvSpPr>
        <p:spPr>
          <a:xfrm>
            <a:off x="-87143" y="2532526"/>
            <a:ext cx="11161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/>
              <a:t>IREE</a:t>
            </a:r>
            <a:r>
              <a:rPr lang="ko-KR" altLang="en-US" sz="1050"/>
              <a:t> </a:t>
            </a:r>
            <a:r>
              <a:rPr lang="en-US" altLang="ko-KR" sz="1050"/>
              <a:t>to CAP PP</a:t>
            </a:r>
            <a:endParaRPr lang="ko-KR" altLang="en-US" sz="105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AA514F4-529C-4C9F-ACA9-9BF118513596}"/>
              </a:ext>
            </a:extLst>
          </p:cNvPr>
          <p:cNvSpPr txBox="1"/>
          <p:nvPr/>
        </p:nvSpPr>
        <p:spPr>
          <a:xfrm>
            <a:off x="-86222" y="4508447"/>
            <a:ext cx="12801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/>
              <a:t>CAP to ISA PP</a:t>
            </a:r>
            <a:endParaRPr lang="ko-KR" altLang="en-US" sz="1050"/>
          </a:p>
        </p:txBody>
      </p:sp>
      <p:sp>
        <p:nvSpPr>
          <p:cNvPr id="92" name="왼쪽 중괄호 91">
            <a:extLst>
              <a:ext uri="{FF2B5EF4-FFF2-40B4-BE49-F238E27FC236}">
                <a16:creationId xmlns:a16="http://schemas.microsoft.com/office/drawing/2014/main" id="{3DC1F2BF-1585-40BE-9FB1-7519DBF47DD4}"/>
              </a:ext>
            </a:extLst>
          </p:cNvPr>
          <p:cNvSpPr/>
          <p:nvPr/>
        </p:nvSpPr>
        <p:spPr>
          <a:xfrm>
            <a:off x="1184510" y="5040024"/>
            <a:ext cx="200708" cy="1603061"/>
          </a:xfrm>
          <a:prstGeom prst="leftBrace">
            <a:avLst>
              <a:gd name="adj1" fmla="val 152096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7153FB6-7E80-41D0-8CC5-9DB5820C9335}"/>
              </a:ext>
            </a:extLst>
          </p:cNvPr>
          <p:cNvSpPr txBox="1"/>
          <p:nvPr/>
        </p:nvSpPr>
        <p:spPr>
          <a:xfrm>
            <a:off x="114300" y="5699138"/>
            <a:ext cx="103930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/>
              <a:t>Structural Scheduling PP</a:t>
            </a:r>
            <a:endParaRPr lang="ko-KR" altLang="en-US" sz="1050"/>
          </a:p>
        </p:txBody>
      </p:sp>
      <p:sp>
        <p:nvSpPr>
          <p:cNvPr id="98" name="왼쪽 중괄호 97">
            <a:extLst>
              <a:ext uri="{FF2B5EF4-FFF2-40B4-BE49-F238E27FC236}">
                <a16:creationId xmlns:a16="http://schemas.microsoft.com/office/drawing/2014/main" id="{2E187BBE-3447-4153-AD97-9B965916A3C0}"/>
              </a:ext>
            </a:extLst>
          </p:cNvPr>
          <p:cNvSpPr/>
          <p:nvPr/>
        </p:nvSpPr>
        <p:spPr>
          <a:xfrm>
            <a:off x="1242770" y="8128740"/>
            <a:ext cx="122448" cy="931673"/>
          </a:xfrm>
          <a:prstGeom prst="leftBrace">
            <a:avLst>
              <a:gd name="adj1" fmla="val 152096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2E74191C-00E8-491A-AE55-1D965C4009B5}"/>
              </a:ext>
            </a:extLst>
          </p:cNvPr>
          <p:cNvSpPr txBox="1"/>
          <p:nvPr/>
        </p:nvSpPr>
        <p:spPr>
          <a:xfrm>
            <a:off x="-48665" y="8463771"/>
            <a:ext cx="12801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/>
              <a:t>Core</a:t>
            </a:r>
            <a:r>
              <a:rPr lang="ko-KR" altLang="en-US" sz="1050"/>
              <a:t> </a:t>
            </a:r>
            <a:r>
              <a:rPr lang="en-US" altLang="ko-KR" sz="1050"/>
              <a:t>Bin</a:t>
            </a:r>
            <a:r>
              <a:rPr lang="ko-KR" altLang="en-US" sz="1050"/>
              <a:t> </a:t>
            </a:r>
            <a:r>
              <a:rPr lang="en-US" altLang="ko-KR" sz="1050"/>
              <a:t>Export</a:t>
            </a:r>
            <a:r>
              <a:rPr lang="ko-KR" altLang="en-US" sz="1050"/>
              <a:t> </a:t>
            </a:r>
            <a:r>
              <a:rPr lang="en-US" altLang="ko-KR" sz="1050"/>
              <a:t>PP</a:t>
            </a:r>
            <a:endParaRPr lang="ko-KR" altLang="en-US" sz="105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4F306FD5-DC43-45CA-B1D7-A229CE93053F}"/>
              </a:ext>
            </a:extLst>
          </p:cNvPr>
          <p:cNvSpPr txBox="1"/>
          <p:nvPr/>
        </p:nvSpPr>
        <p:spPr>
          <a:xfrm>
            <a:off x="360" y="9683369"/>
            <a:ext cx="12801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/>
              <a:t>Plan Export</a:t>
            </a:r>
            <a:r>
              <a:rPr lang="ko-KR" altLang="en-US" sz="1050"/>
              <a:t> </a:t>
            </a:r>
            <a:r>
              <a:rPr lang="en-US" altLang="ko-KR" sz="1050"/>
              <a:t>PP</a:t>
            </a:r>
            <a:endParaRPr lang="ko-KR" altLang="en-US" sz="1050"/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C42294A2-7D87-4991-8271-9B2C66B20B89}"/>
              </a:ext>
            </a:extLst>
          </p:cNvPr>
          <p:cNvSpPr/>
          <p:nvPr/>
        </p:nvSpPr>
        <p:spPr>
          <a:xfrm>
            <a:off x="3647014" y="282096"/>
            <a:ext cx="2015791" cy="2754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1</a:t>
            </a:r>
            <a:r>
              <a:rPr lang="ko-KR" altLang="en-US" sz="1000">
                <a:solidFill>
                  <a:schemeClr val="tx1"/>
                </a:solidFill>
              </a:rPr>
              <a:t>순위 구현</a:t>
            </a:r>
          </a:p>
        </p:txBody>
      </p: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BB47274E-D2F1-45DF-AC90-AB1D672B958F}"/>
              </a:ext>
            </a:extLst>
          </p:cNvPr>
          <p:cNvSpPr/>
          <p:nvPr/>
        </p:nvSpPr>
        <p:spPr>
          <a:xfrm>
            <a:off x="5662805" y="282898"/>
            <a:ext cx="640776" cy="27541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</a:rPr>
              <a:t>완성</a:t>
            </a:r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EE04C433-2BBF-4375-AC71-807CB1DBB574}"/>
              </a:ext>
            </a:extLst>
          </p:cNvPr>
          <p:cNvSpPr/>
          <p:nvPr/>
        </p:nvSpPr>
        <p:spPr>
          <a:xfrm>
            <a:off x="3647014" y="643056"/>
            <a:ext cx="2015791" cy="27541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2</a:t>
            </a:r>
            <a:r>
              <a:rPr lang="ko-KR" altLang="en-US" sz="1000">
                <a:solidFill>
                  <a:schemeClr val="tx1"/>
                </a:solidFill>
              </a:rPr>
              <a:t>순위 구현</a:t>
            </a:r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92891D09-E426-4602-8F08-7AEBC183B3FE}"/>
              </a:ext>
            </a:extLst>
          </p:cNvPr>
          <p:cNvSpPr/>
          <p:nvPr/>
        </p:nvSpPr>
        <p:spPr>
          <a:xfrm>
            <a:off x="5662805" y="643858"/>
            <a:ext cx="640776" cy="27541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</a:rPr>
              <a:t>미숙</a:t>
            </a:r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38788297-D02F-4BE0-ACF3-FDDBF955E617}"/>
              </a:ext>
            </a:extLst>
          </p:cNvPr>
          <p:cNvSpPr/>
          <p:nvPr/>
        </p:nvSpPr>
        <p:spPr>
          <a:xfrm>
            <a:off x="3660151" y="1015971"/>
            <a:ext cx="2015791" cy="27541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3</a:t>
            </a:r>
            <a:r>
              <a:rPr lang="ko-KR" altLang="en-US" sz="1000">
                <a:solidFill>
                  <a:schemeClr val="tx1"/>
                </a:solidFill>
              </a:rPr>
              <a:t>순위 구현</a:t>
            </a:r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C9669444-F7E6-4A2D-ACFC-983B76200346}"/>
              </a:ext>
            </a:extLst>
          </p:cNvPr>
          <p:cNvSpPr/>
          <p:nvPr/>
        </p:nvSpPr>
        <p:spPr>
          <a:xfrm>
            <a:off x="5675942" y="1016773"/>
            <a:ext cx="640776" cy="2754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TODO</a:t>
            </a:r>
            <a:endParaRPr lang="ko-KR" altLang="en-US" sz="1000">
              <a:solidFill>
                <a:schemeClr val="tx1"/>
              </a:solidFill>
            </a:endParaRPr>
          </a:p>
        </p:txBody>
      </p: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3025141E-9C8E-42BF-B32B-A35A71393C55}"/>
              </a:ext>
            </a:extLst>
          </p:cNvPr>
          <p:cNvCxnSpPr/>
          <p:nvPr/>
        </p:nvCxnSpPr>
        <p:spPr>
          <a:xfrm>
            <a:off x="3343275" y="0"/>
            <a:ext cx="0" cy="1470361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5" name="직선 연결선 124">
            <a:extLst>
              <a:ext uri="{FF2B5EF4-FFF2-40B4-BE49-F238E27FC236}">
                <a16:creationId xmlns:a16="http://schemas.microsoft.com/office/drawing/2014/main" id="{6BB1F334-32E4-4924-B81F-316C062CA1A7}"/>
              </a:ext>
            </a:extLst>
          </p:cNvPr>
          <p:cNvCxnSpPr>
            <a:cxnSpLocks/>
          </p:cNvCxnSpPr>
          <p:nvPr/>
        </p:nvCxnSpPr>
        <p:spPr>
          <a:xfrm flipH="1" flipV="1">
            <a:off x="3343276" y="1470361"/>
            <a:ext cx="3514724" cy="7993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349DAED7-7C16-419D-96B0-E497865E70C3}"/>
              </a:ext>
            </a:extLst>
          </p:cNvPr>
          <p:cNvSpPr/>
          <p:nvPr/>
        </p:nvSpPr>
        <p:spPr>
          <a:xfrm>
            <a:off x="188686" y="675724"/>
            <a:ext cx="2015791" cy="27541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custom flow dispatch region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61958EBF-8CF9-45B2-AC6F-4F36386C236E}"/>
              </a:ext>
            </a:extLst>
          </p:cNvPr>
          <p:cNvSpPr/>
          <p:nvPr/>
        </p:nvSpPr>
        <p:spPr>
          <a:xfrm>
            <a:off x="2204477" y="676526"/>
            <a:ext cx="640776" cy="27541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260205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31" name="TextBox 130">
            <a:hlinkClick r:id="rId3" action="ppaction://hlinkfile"/>
            <a:extLst>
              <a:ext uri="{FF2B5EF4-FFF2-40B4-BE49-F238E27FC236}">
                <a16:creationId xmlns:a16="http://schemas.microsoft.com/office/drawing/2014/main" id="{DAEF28D4-8E01-4CA6-B7E3-BE27ACDD7B0B}"/>
              </a:ext>
            </a:extLst>
          </p:cNvPr>
          <p:cNvSpPr txBox="1"/>
          <p:nvPr/>
        </p:nvSpPr>
        <p:spPr>
          <a:xfrm>
            <a:off x="114300" y="217331"/>
            <a:ext cx="2705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/>
              <a:t>Workload (260309 new)</a:t>
            </a:r>
            <a:endParaRPr lang="ko-KR" altLang="en-US" b="1"/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3C1DC86F-3DF0-4373-85D0-650269296BF5}"/>
              </a:ext>
            </a:extLst>
          </p:cNvPr>
          <p:cNvSpPr/>
          <p:nvPr/>
        </p:nvSpPr>
        <p:spPr>
          <a:xfrm>
            <a:off x="1371415" y="1362166"/>
            <a:ext cx="2015791" cy="2754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QDQFusion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A9345CAE-10E7-40B3-9777-9EC24BD47F3B}"/>
              </a:ext>
            </a:extLst>
          </p:cNvPr>
          <p:cNvSpPr/>
          <p:nvPr/>
        </p:nvSpPr>
        <p:spPr>
          <a:xfrm>
            <a:off x="3387206" y="1362968"/>
            <a:ext cx="640776" cy="27541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1EEF7336-357A-44DD-96D1-C51E3C23E0DA}"/>
              </a:ext>
            </a:extLst>
          </p:cNvPr>
          <p:cNvSpPr/>
          <p:nvPr/>
        </p:nvSpPr>
        <p:spPr>
          <a:xfrm>
            <a:off x="1371415" y="1692806"/>
            <a:ext cx="2015791" cy="2754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OpFusion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BCAAB80A-6F37-4443-8137-6F7658190933}"/>
              </a:ext>
            </a:extLst>
          </p:cNvPr>
          <p:cNvSpPr/>
          <p:nvPr/>
        </p:nvSpPr>
        <p:spPr>
          <a:xfrm>
            <a:off x="3387206" y="1693608"/>
            <a:ext cx="640776" cy="27541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EC5D64E1-F1F6-47E3-813D-4203EBCDF1BE}"/>
              </a:ext>
            </a:extLst>
          </p:cNvPr>
          <p:cNvSpPr/>
          <p:nvPr/>
        </p:nvSpPr>
        <p:spPr>
          <a:xfrm>
            <a:off x="1371415" y="2027269"/>
            <a:ext cx="2015791" cy="2754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PostOpFusion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AFFD428D-C5D3-4C85-900C-130EFBAAA2FB}"/>
              </a:ext>
            </a:extLst>
          </p:cNvPr>
          <p:cNvSpPr/>
          <p:nvPr/>
        </p:nvSpPr>
        <p:spPr>
          <a:xfrm>
            <a:off x="3387206" y="2028071"/>
            <a:ext cx="640776" cy="27541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530BB15F-14F8-4913-89F1-30D38F2356B7}"/>
              </a:ext>
            </a:extLst>
          </p:cNvPr>
          <p:cNvSpPr/>
          <p:nvPr/>
        </p:nvSpPr>
        <p:spPr>
          <a:xfrm>
            <a:off x="1371415" y="2358515"/>
            <a:ext cx="2015791" cy="2754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MonoOpFusion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27086CA4-9F12-4239-B333-159F31EA60E8}"/>
              </a:ext>
            </a:extLst>
          </p:cNvPr>
          <p:cNvSpPr/>
          <p:nvPr/>
        </p:nvSpPr>
        <p:spPr>
          <a:xfrm>
            <a:off x="3387206" y="2359317"/>
            <a:ext cx="640776" cy="27541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5299ED1C-DBEC-419E-966F-24FF3A7356BF}"/>
              </a:ext>
            </a:extLst>
          </p:cNvPr>
          <p:cNvSpPr/>
          <p:nvPr/>
        </p:nvSpPr>
        <p:spPr>
          <a:xfrm>
            <a:off x="1376092" y="2694668"/>
            <a:ext cx="2015791" cy="2754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VailPad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A090D868-53B9-48B7-98AB-A79B08A2EC65}"/>
              </a:ext>
            </a:extLst>
          </p:cNvPr>
          <p:cNvSpPr/>
          <p:nvPr/>
        </p:nvSpPr>
        <p:spPr>
          <a:xfrm>
            <a:off x="3391883" y="2695470"/>
            <a:ext cx="640776" cy="27541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7EB54409-DCE4-47B3-BF6E-42AA16AC98A9}"/>
              </a:ext>
            </a:extLst>
          </p:cNvPr>
          <p:cNvSpPr/>
          <p:nvPr/>
        </p:nvSpPr>
        <p:spPr>
          <a:xfrm>
            <a:off x="1371415" y="3026455"/>
            <a:ext cx="2015791" cy="2754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QOpFusion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EF5E303A-807D-4781-95B6-A4DC7E1C754C}"/>
              </a:ext>
            </a:extLst>
          </p:cNvPr>
          <p:cNvSpPr/>
          <p:nvPr/>
        </p:nvSpPr>
        <p:spPr>
          <a:xfrm>
            <a:off x="3387206" y="3027257"/>
            <a:ext cx="640776" cy="27541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D8AE60AE-9AC5-40A4-A228-F9A7214CC03B}"/>
              </a:ext>
            </a:extLst>
          </p:cNvPr>
          <p:cNvSpPr/>
          <p:nvPr/>
        </p:nvSpPr>
        <p:spPr>
          <a:xfrm>
            <a:off x="1376092" y="3358987"/>
            <a:ext cx="2015791" cy="2754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GenericOpen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4577592B-A844-42B5-AC13-DAF8558D62E9}"/>
              </a:ext>
            </a:extLst>
          </p:cNvPr>
          <p:cNvSpPr/>
          <p:nvPr/>
        </p:nvSpPr>
        <p:spPr>
          <a:xfrm>
            <a:off x="3391883" y="3359789"/>
            <a:ext cx="640776" cy="27541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27AD2FAF-9B60-415D-8AF2-00EDB7D65BC9}"/>
              </a:ext>
            </a:extLst>
          </p:cNvPr>
          <p:cNvSpPr/>
          <p:nvPr/>
        </p:nvSpPr>
        <p:spPr>
          <a:xfrm>
            <a:off x="1385217" y="5705889"/>
            <a:ext cx="2015791" cy="27541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CoreArrange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2C2A1801-AB82-4F6B-9B84-65C40EFAE434}"/>
              </a:ext>
            </a:extLst>
          </p:cNvPr>
          <p:cNvSpPr/>
          <p:nvPr/>
        </p:nvSpPr>
        <p:spPr>
          <a:xfrm>
            <a:off x="3401008" y="5706691"/>
            <a:ext cx="640776" cy="2754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DDE108-FBB9-41B5-8BA3-6A59E79D1B57}"/>
              </a:ext>
            </a:extLst>
          </p:cNvPr>
          <p:cNvSpPr txBox="1"/>
          <p:nvPr/>
        </p:nvSpPr>
        <p:spPr>
          <a:xfrm>
            <a:off x="4118252" y="4950728"/>
            <a:ext cx="204216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/>
              <a:t>walk</a:t>
            </a:r>
            <a:r>
              <a:rPr lang="ko-KR" altLang="en-US" sz="700"/>
              <a:t> 사용</a:t>
            </a:r>
            <a:r>
              <a:rPr lang="en-US" altLang="ko-KR" sz="700"/>
              <a:t>) op</a:t>
            </a:r>
            <a:r>
              <a:rPr lang="ko-KR" altLang="en-US" sz="700"/>
              <a:t>별 </a:t>
            </a:r>
            <a:r>
              <a:rPr lang="en-US" altLang="ko-KR" sz="700"/>
              <a:t>latency </a:t>
            </a:r>
            <a:r>
              <a:rPr lang="ko-KR" altLang="en-US" sz="700"/>
              <a:t>기록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20DB98E2-84D7-4B6C-9C88-A4A7DFC84663}"/>
              </a:ext>
            </a:extLst>
          </p:cNvPr>
          <p:cNvSpPr txBox="1"/>
          <p:nvPr/>
        </p:nvSpPr>
        <p:spPr>
          <a:xfrm>
            <a:off x="4013542" y="5276080"/>
            <a:ext cx="23317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/>
              <a:t>walk, c++</a:t>
            </a:r>
            <a:r>
              <a:rPr lang="ko-KR" altLang="en-US" sz="700"/>
              <a:t>로 알고리즘</a:t>
            </a:r>
            <a:r>
              <a:rPr lang="en-US" altLang="ko-KR" sz="700"/>
              <a:t>) concat</a:t>
            </a:r>
            <a:r>
              <a:rPr lang="ko-KR" altLang="en-US" sz="700"/>
              <a:t>을 기준으로 </a:t>
            </a:r>
            <a:r>
              <a:rPr lang="en-US" altLang="ko-KR" sz="700"/>
              <a:t>region</a:t>
            </a:r>
            <a:r>
              <a:rPr lang="ko-KR" altLang="en-US" sz="700"/>
              <a:t>을 나눔</a:t>
            </a:r>
            <a:endParaRPr lang="en-US" altLang="ko-KR" sz="700"/>
          </a:p>
          <a:p>
            <a:r>
              <a:rPr lang="ko-KR" altLang="en-US" sz="700"/>
              <a:t>각 </a:t>
            </a:r>
            <a:r>
              <a:rPr lang="en-US" altLang="ko-KR" sz="700"/>
              <a:t>region</a:t>
            </a:r>
            <a:r>
              <a:rPr lang="ko-KR" altLang="en-US" sz="700"/>
              <a:t>에서 </a:t>
            </a:r>
            <a:r>
              <a:rPr lang="en-US" altLang="ko-KR" sz="700"/>
              <a:t>critical path</a:t>
            </a:r>
            <a:r>
              <a:rPr lang="ko-KR" altLang="en-US" sz="700"/>
              <a:t>를 찾아</a:t>
            </a:r>
            <a:r>
              <a:rPr lang="en-US" altLang="ko-KR" sz="700"/>
              <a:t>, </a:t>
            </a:r>
            <a:r>
              <a:rPr lang="ko-KR" altLang="en-US" sz="700"/>
              <a:t>우선순위 </a:t>
            </a:r>
            <a:r>
              <a:rPr lang="en-US" altLang="ko-KR" sz="700"/>
              <a:t>1</a:t>
            </a:r>
            <a:r>
              <a:rPr lang="ko-KR" altLang="en-US" sz="700"/>
              <a:t>순위 부여</a:t>
            </a:r>
            <a:endParaRPr lang="en-US" altLang="ko-KR" sz="700"/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142A804F-3FC7-49DF-9B33-27BA2B92923F}"/>
              </a:ext>
            </a:extLst>
          </p:cNvPr>
          <p:cNvSpPr/>
          <p:nvPr/>
        </p:nvSpPr>
        <p:spPr>
          <a:xfrm>
            <a:off x="1386655" y="6033415"/>
            <a:ext cx="2015791" cy="27541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CoreRearrange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AF5A9005-4201-42CA-A411-B1F4008E9E8E}"/>
              </a:ext>
            </a:extLst>
          </p:cNvPr>
          <p:cNvSpPr/>
          <p:nvPr/>
        </p:nvSpPr>
        <p:spPr>
          <a:xfrm>
            <a:off x="3402446" y="6034217"/>
            <a:ext cx="640776" cy="2754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9042E15E-825A-413D-8F14-DD3033556DE4}"/>
              </a:ext>
            </a:extLst>
          </p:cNvPr>
          <p:cNvSpPr txBox="1"/>
          <p:nvPr/>
        </p:nvSpPr>
        <p:spPr>
          <a:xfrm>
            <a:off x="4112752" y="4314847"/>
            <a:ext cx="2042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/>
              <a:t>A</a:t>
            </a:r>
            <a:r>
              <a:rPr lang="ko-KR" altLang="en-US" sz="700"/>
              <a:t> 코어용 연산과 </a:t>
            </a:r>
            <a:r>
              <a:rPr lang="en-US" altLang="ko-KR" sz="700"/>
              <a:t>P</a:t>
            </a:r>
            <a:r>
              <a:rPr lang="ko-KR" altLang="en-US" sz="700"/>
              <a:t>코어용 연산을 나눔</a:t>
            </a:r>
            <a:endParaRPr lang="en-US" altLang="ko-KR" sz="700"/>
          </a:p>
          <a:p>
            <a:r>
              <a:rPr lang="en-US" altLang="ko-KR" sz="700"/>
              <a:t>p</a:t>
            </a:r>
            <a:r>
              <a:rPr lang="ko-KR" altLang="en-US" sz="700"/>
              <a:t>코어로만 둘 수도 있음</a:t>
            </a:r>
            <a:r>
              <a:rPr lang="en-US" altLang="ko-KR" sz="700"/>
              <a:t>.</a:t>
            </a:r>
            <a:endParaRPr lang="ko-KR" altLang="en-US" sz="70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7278C40D-78B7-4FAF-B896-2F7837002C03}"/>
              </a:ext>
            </a:extLst>
          </p:cNvPr>
          <p:cNvSpPr txBox="1"/>
          <p:nvPr/>
        </p:nvSpPr>
        <p:spPr>
          <a:xfrm>
            <a:off x="4074967" y="4700927"/>
            <a:ext cx="236254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/>
              <a:t>데이터 포맷에 맞게 연산을 조정 </a:t>
            </a:r>
            <a:r>
              <a:rPr lang="en-US" altLang="ko-KR" sz="700"/>
              <a:t>(</a:t>
            </a:r>
            <a:r>
              <a:rPr lang="ko-KR" altLang="en-US" sz="700"/>
              <a:t>대표적으로 </a:t>
            </a:r>
            <a:r>
              <a:rPr lang="en-US" altLang="ko-KR" sz="700"/>
              <a:t>tiling)</a:t>
            </a:r>
            <a:endParaRPr lang="ko-KR" altLang="en-US" sz="700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4C5F7C30-282D-4BE0-B2A2-A5999C31917C}"/>
              </a:ext>
            </a:extLst>
          </p:cNvPr>
          <p:cNvSpPr txBox="1"/>
          <p:nvPr/>
        </p:nvSpPr>
        <p:spPr>
          <a:xfrm>
            <a:off x="4008572" y="5613481"/>
            <a:ext cx="23317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/>
              <a:t>core</a:t>
            </a:r>
            <a:r>
              <a:rPr lang="ko-KR" altLang="en-US" sz="700"/>
              <a:t>에 연산을 할당</a:t>
            </a:r>
            <a:r>
              <a:rPr lang="en-US" altLang="ko-KR" sz="700"/>
              <a:t>. </a:t>
            </a:r>
            <a:r>
              <a:rPr lang="ko-KR" altLang="en-US" sz="700"/>
              <a:t>아래의 우선순위로 연산 할당</a:t>
            </a:r>
            <a:endParaRPr lang="en-US" altLang="ko-KR" sz="700"/>
          </a:p>
          <a:p>
            <a:r>
              <a:rPr lang="en-US" altLang="ko-KR" sz="700"/>
              <a:t>1. critical path</a:t>
            </a:r>
            <a:r>
              <a:rPr lang="ko-KR" altLang="en-US" sz="700"/>
              <a:t>에 따른 우선순위에 따라 먼저 배치</a:t>
            </a:r>
            <a:endParaRPr lang="en-US" altLang="ko-KR" sz="700"/>
          </a:p>
          <a:p>
            <a:r>
              <a:rPr lang="en-US" altLang="ko-KR" sz="700"/>
              <a:t>2. </a:t>
            </a:r>
            <a:r>
              <a:rPr lang="ko-KR" altLang="en-US" sz="700"/>
              <a:t>연산이 긴 것을 노는 자리에 배치</a:t>
            </a:r>
            <a:endParaRPr lang="en-US" altLang="ko-KR" sz="700"/>
          </a:p>
          <a:p>
            <a:r>
              <a:rPr lang="en-US" altLang="ko-KR" sz="700"/>
              <a:t>3.  data locality</a:t>
            </a:r>
            <a:r>
              <a:rPr lang="ko-KR" altLang="en-US" sz="700"/>
              <a:t>를 보고 연산을 배치</a:t>
            </a:r>
            <a:endParaRPr lang="en-US" altLang="ko-KR" sz="70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4D03027D-541F-4E05-A886-E3A1F5C50DCC}"/>
              </a:ext>
            </a:extLst>
          </p:cNvPr>
          <p:cNvSpPr txBox="1"/>
          <p:nvPr/>
        </p:nvSpPr>
        <p:spPr>
          <a:xfrm>
            <a:off x="4060638" y="6129951"/>
            <a:ext cx="23317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/>
              <a:t>region</a:t>
            </a:r>
            <a:r>
              <a:rPr lang="ko-KR" altLang="en-US" sz="700"/>
              <a:t>과 </a:t>
            </a:r>
            <a:r>
              <a:rPr lang="en-US" altLang="ko-KR" sz="700"/>
              <a:t>region </a:t>
            </a:r>
            <a:r>
              <a:rPr lang="ko-KR" altLang="en-US" sz="700"/>
              <a:t>사이 연결지점에서 </a:t>
            </a:r>
            <a:r>
              <a:rPr lang="en-US" altLang="ko-KR" sz="700"/>
              <a:t>data locality</a:t>
            </a:r>
            <a:r>
              <a:rPr lang="ko-KR" altLang="en-US" sz="700"/>
              <a:t>를 보고 </a:t>
            </a:r>
            <a:r>
              <a:rPr lang="en-US" altLang="ko-KR" sz="700"/>
              <a:t>core</a:t>
            </a:r>
            <a:r>
              <a:rPr lang="ko-KR" altLang="en-US" sz="700"/>
              <a:t>에 할당한 연산 묶음을 재배치</a:t>
            </a:r>
            <a:endParaRPr lang="en-US" altLang="ko-KR" sz="700"/>
          </a:p>
        </p:txBody>
      </p: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6A588D42-C959-4026-AA09-3E52058C3F5D}"/>
              </a:ext>
            </a:extLst>
          </p:cNvPr>
          <p:cNvSpPr/>
          <p:nvPr/>
        </p:nvSpPr>
        <p:spPr>
          <a:xfrm>
            <a:off x="1385519" y="6764665"/>
            <a:ext cx="2015791" cy="27541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CreateDataMoveInfo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7807E4E9-3C79-4285-A576-AB878260D504}"/>
              </a:ext>
            </a:extLst>
          </p:cNvPr>
          <p:cNvSpPr/>
          <p:nvPr/>
        </p:nvSpPr>
        <p:spPr>
          <a:xfrm>
            <a:off x="3401310" y="6765467"/>
            <a:ext cx="640776" cy="2754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F7E1428D-F54D-4638-A135-2E46F81C15E0}"/>
              </a:ext>
            </a:extLst>
          </p:cNvPr>
          <p:cNvSpPr txBox="1"/>
          <p:nvPr/>
        </p:nvSpPr>
        <p:spPr>
          <a:xfrm>
            <a:off x="4088202" y="6949520"/>
            <a:ext cx="207221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/>
              <a:t>데이터 이동정보 </a:t>
            </a:r>
            <a:r>
              <a:rPr lang="en-US" altLang="ko-KR" sz="700"/>
              <a:t>(move : UB</a:t>
            </a:r>
            <a:r>
              <a:rPr lang="ko-KR" altLang="en-US" sz="700"/>
              <a:t>간 움직임</a:t>
            </a:r>
            <a:r>
              <a:rPr lang="en-US" altLang="ko-KR" sz="700"/>
              <a:t>, load/store: SM &lt;-&gt; UB </a:t>
            </a:r>
            <a:r>
              <a:rPr lang="ko-KR" altLang="en-US" sz="700"/>
              <a:t>간 데이터 이동</a:t>
            </a:r>
            <a:r>
              <a:rPr lang="en-US" altLang="ko-KR" sz="700"/>
              <a:t>)</a:t>
            </a:r>
            <a:r>
              <a:rPr lang="ko-KR" altLang="en-US" sz="700"/>
              <a:t>를 나타내는 </a:t>
            </a:r>
            <a:r>
              <a:rPr lang="en-US" altLang="ko-KR" sz="700"/>
              <a:t>ops </a:t>
            </a:r>
            <a:r>
              <a:rPr lang="ko-KR" altLang="en-US" sz="700"/>
              <a:t>추가</a:t>
            </a:r>
            <a:endParaRPr lang="en-US" altLang="ko-KR" sz="700"/>
          </a:p>
          <a:p>
            <a:r>
              <a:rPr lang="ko-KR" altLang="en-US" sz="700"/>
              <a:t>데이터의 위치를 타이트하게 관리</a:t>
            </a:r>
            <a:endParaRPr lang="en-US" altLang="ko-KR" sz="70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3DD6878B-F02D-452F-939B-ACEC6B9713E4}"/>
              </a:ext>
            </a:extLst>
          </p:cNvPr>
          <p:cNvSpPr txBox="1"/>
          <p:nvPr/>
        </p:nvSpPr>
        <p:spPr>
          <a:xfrm>
            <a:off x="4074282" y="9135511"/>
            <a:ext cx="20722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/>
              <a:t>arith.constant</a:t>
            </a:r>
            <a:r>
              <a:rPr lang="ko-KR" altLang="en-US" sz="700"/>
              <a:t>를 보고 </a:t>
            </a:r>
            <a:r>
              <a:rPr lang="en-US" altLang="ko-KR" sz="700"/>
              <a:t>SM</a:t>
            </a:r>
            <a:r>
              <a:rPr lang="ko-KR" altLang="en-US" sz="700"/>
              <a:t>에 저장할 </a:t>
            </a:r>
            <a:r>
              <a:rPr lang="en-US" altLang="ko-KR" sz="700"/>
              <a:t>weights</a:t>
            </a:r>
            <a:r>
              <a:rPr lang="ko-KR" altLang="en-US" sz="700"/>
              <a:t>를 정리</a:t>
            </a:r>
            <a:r>
              <a:rPr lang="en-US" altLang="ko-KR" sz="700"/>
              <a:t>, .wbin</a:t>
            </a:r>
            <a:r>
              <a:rPr lang="ko-KR" altLang="en-US" sz="700"/>
              <a:t>으로 저장</a:t>
            </a:r>
            <a:endParaRPr lang="en-US" altLang="ko-KR" sz="700"/>
          </a:p>
        </p:txBody>
      </p: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5B652090-1D89-4762-BB97-A55731C9677E}"/>
              </a:ext>
            </a:extLst>
          </p:cNvPr>
          <p:cNvSpPr/>
          <p:nvPr/>
        </p:nvSpPr>
        <p:spPr>
          <a:xfrm>
            <a:off x="1387768" y="8423775"/>
            <a:ext cx="2015791" cy="2754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CreateFinal ISA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7275A35E-E8BB-4062-B380-3BE7F59E6430}"/>
              </a:ext>
            </a:extLst>
          </p:cNvPr>
          <p:cNvSpPr/>
          <p:nvPr/>
        </p:nvSpPr>
        <p:spPr>
          <a:xfrm>
            <a:off x="3403559" y="8424577"/>
            <a:ext cx="640776" cy="2754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91CE738A-2451-4B1A-AB10-BB4005813B51}"/>
              </a:ext>
            </a:extLst>
          </p:cNvPr>
          <p:cNvSpPr txBox="1"/>
          <p:nvPr/>
        </p:nvSpPr>
        <p:spPr>
          <a:xfrm>
            <a:off x="4088202" y="8346116"/>
            <a:ext cx="207221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/>
              <a:t>주변 </a:t>
            </a:r>
            <a:r>
              <a:rPr lang="en-US" altLang="ko-KR" sz="700"/>
              <a:t>ops</a:t>
            </a:r>
            <a:r>
              <a:rPr lang="ko-KR" altLang="en-US" sz="700"/>
              <a:t>들을 결합하며</a:t>
            </a:r>
            <a:r>
              <a:rPr lang="en-US" altLang="ko-KR" sz="700"/>
              <a:t> </a:t>
            </a:r>
            <a:r>
              <a:rPr lang="ko-KR" altLang="en-US" sz="700"/>
              <a:t>문서에서 정의하는 </a:t>
            </a:r>
            <a:r>
              <a:rPr lang="en-US" altLang="ko-KR" sz="700"/>
              <a:t>ISA</a:t>
            </a:r>
            <a:r>
              <a:rPr lang="ko-KR" altLang="en-US" sz="700"/>
              <a:t>와 구조를 완벽히 일치</a:t>
            </a:r>
            <a:r>
              <a:rPr lang="en-US" altLang="ko-KR" sz="700"/>
              <a:t>, </a:t>
            </a:r>
            <a:r>
              <a:rPr lang="ko-KR" altLang="en-US" sz="700"/>
              <a:t>부족한 정보가 있을 경우 앞 쪽에 필요한 </a:t>
            </a:r>
            <a:r>
              <a:rPr lang="en-US" altLang="ko-KR" sz="700"/>
              <a:t>Pass</a:t>
            </a:r>
            <a:r>
              <a:rPr lang="ko-KR" altLang="en-US" sz="700"/>
              <a:t>를 추가로 정의</a:t>
            </a:r>
            <a:endParaRPr lang="en-US" altLang="ko-KR" sz="700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9FBF1609-1689-4D74-804F-FED3A9A8D707}"/>
              </a:ext>
            </a:extLst>
          </p:cNvPr>
          <p:cNvSpPr txBox="1"/>
          <p:nvPr/>
        </p:nvSpPr>
        <p:spPr>
          <a:xfrm>
            <a:off x="2307170" y="4050783"/>
            <a:ext cx="20722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/>
              <a:t>ISA</a:t>
            </a:r>
            <a:r>
              <a:rPr lang="ko-KR" altLang="en-US" sz="700"/>
              <a:t>의 </a:t>
            </a:r>
            <a:r>
              <a:rPr lang="en-US" altLang="ko-KR" sz="700"/>
              <a:t>opcode</a:t>
            </a:r>
            <a:r>
              <a:rPr lang="ko-KR" altLang="en-US" sz="700"/>
              <a:t>를 중심으로 제작</a:t>
            </a:r>
            <a:endParaRPr lang="en-US" altLang="ko-KR" sz="700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02FEE484-3054-4384-8B2D-40521C5D1941}"/>
              </a:ext>
            </a:extLst>
          </p:cNvPr>
          <p:cNvSpPr txBox="1"/>
          <p:nvPr/>
        </p:nvSpPr>
        <p:spPr>
          <a:xfrm>
            <a:off x="-99691" y="6757976"/>
            <a:ext cx="12801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/>
              <a:t>DataInfo PP</a:t>
            </a:r>
            <a:endParaRPr lang="ko-KR" altLang="en-US" sz="1050"/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5F95A9A0-1E09-4CDA-9C70-80ED323A7DA9}"/>
              </a:ext>
            </a:extLst>
          </p:cNvPr>
          <p:cNvSpPr txBox="1"/>
          <p:nvPr/>
        </p:nvSpPr>
        <p:spPr>
          <a:xfrm>
            <a:off x="4097727" y="8775291"/>
            <a:ext cx="20722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/>
              <a:t>ISA</a:t>
            </a:r>
            <a:r>
              <a:rPr lang="ko-KR" altLang="en-US" sz="700"/>
              <a:t>를 </a:t>
            </a:r>
            <a:r>
              <a:rPr lang="en-US" altLang="ko-KR" sz="700"/>
              <a:t>core</a:t>
            </a:r>
            <a:r>
              <a:rPr lang="ko-KR" altLang="en-US" sz="700"/>
              <a:t>별로 </a:t>
            </a:r>
            <a:r>
              <a:rPr lang="en-US" altLang="ko-KR" sz="700"/>
              <a:t>.cbin</a:t>
            </a:r>
            <a:r>
              <a:rPr lang="ko-KR" altLang="en-US" sz="700"/>
              <a:t>으로 저장</a:t>
            </a:r>
            <a:endParaRPr lang="en-US" altLang="ko-KR" sz="700"/>
          </a:p>
        </p:txBody>
      </p:sp>
      <p:sp>
        <p:nvSpPr>
          <p:cNvPr id="151" name="직사각형 150">
            <a:extLst>
              <a:ext uri="{FF2B5EF4-FFF2-40B4-BE49-F238E27FC236}">
                <a16:creationId xmlns:a16="http://schemas.microsoft.com/office/drawing/2014/main" id="{F36E99B2-4732-40CC-9B34-CC83A6B38F5B}"/>
              </a:ext>
            </a:extLst>
          </p:cNvPr>
          <p:cNvSpPr/>
          <p:nvPr/>
        </p:nvSpPr>
        <p:spPr>
          <a:xfrm>
            <a:off x="3399862" y="7159113"/>
            <a:ext cx="640776" cy="2754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8D4BC9DC-1CAC-4EDC-A725-15F088D8F0A9}"/>
              </a:ext>
            </a:extLst>
          </p:cNvPr>
          <p:cNvSpPr/>
          <p:nvPr/>
        </p:nvSpPr>
        <p:spPr>
          <a:xfrm>
            <a:off x="1384072" y="7157569"/>
            <a:ext cx="2015791" cy="27541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CopyOp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59" name="직사각형 158">
            <a:extLst>
              <a:ext uri="{FF2B5EF4-FFF2-40B4-BE49-F238E27FC236}">
                <a16:creationId xmlns:a16="http://schemas.microsoft.com/office/drawing/2014/main" id="{429E767B-44C1-4464-9F8E-D71AF41004F3}"/>
              </a:ext>
            </a:extLst>
          </p:cNvPr>
          <p:cNvSpPr/>
          <p:nvPr/>
        </p:nvSpPr>
        <p:spPr>
          <a:xfrm>
            <a:off x="1371297" y="9658036"/>
            <a:ext cx="2015791" cy="2754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CreatePlan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60" name="직사각형 159">
            <a:extLst>
              <a:ext uri="{FF2B5EF4-FFF2-40B4-BE49-F238E27FC236}">
                <a16:creationId xmlns:a16="http://schemas.microsoft.com/office/drawing/2014/main" id="{42F79087-A2DC-4822-8F70-E5FD4DC22AC4}"/>
              </a:ext>
            </a:extLst>
          </p:cNvPr>
          <p:cNvSpPr/>
          <p:nvPr/>
        </p:nvSpPr>
        <p:spPr>
          <a:xfrm>
            <a:off x="3387088" y="9658838"/>
            <a:ext cx="640776" cy="2754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3674860F-343F-496D-BFF7-C1284CCE4404}"/>
              </a:ext>
            </a:extLst>
          </p:cNvPr>
          <p:cNvSpPr txBox="1"/>
          <p:nvPr/>
        </p:nvSpPr>
        <p:spPr>
          <a:xfrm>
            <a:off x="-64772" y="9155879"/>
            <a:ext cx="145566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/>
              <a:t>Weight</a:t>
            </a:r>
            <a:r>
              <a:rPr lang="ko-KR" altLang="en-US" sz="1050"/>
              <a:t> </a:t>
            </a:r>
            <a:r>
              <a:rPr lang="en-US" altLang="ko-KR" sz="1050"/>
              <a:t>Bin</a:t>
            </a:r>
            <a:r>
              <a:rPr lang="ko-KR" altLang="en-US" sz="1050"/>
              <a:t> </a:t>
            </a:r>
            <a:r>
              <a:rPr lang="en-US" altLang="ko-KR" sz="1050"/>
              <a:t>Export</a:t>
            </a:r>
            <a:r>
              <a:rPr lang="ko-KR" altLang="en-US" sz="1050"/>
              <a:t> </a:t>
            </a:r>
            <a:r>
              <a:rPr lang="en-US" altLang="ko-KR" sz="1050"/>
              <a:t>PP</a:t>
            </a:r>
            <a:endParaRPr lang="ko-KR" altLang="en-US" sz="105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343E21A9-A8EB-4140-853F-49317AF2AEA8}"/>
              </a:ext>
            </a:extLst>
          </p:cNvPr>
          <p:cNvSpPr txBox="1"/>
          <p:nvPr/>
        </p:nvSpPr>
        <p:spPr>
          <a:xfrm>
            <a:off x="4118134" y="9658036"/>
            <a:ext cx="20722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/>
              <a:t>Plan.json </a:t>
            </a:r>
            <a:r>
              <a:rPr lang="ko-KR" altLang="en-US" sz="700"/>
              <a:t>생성</a:t>
            </a:r>
            <a:endParaRPr lang="en-US" altLang="ko-KR" sz="700"/>
          </a:p>
        </p:txBody>
      </p:sp>
      <p:sp>
        <p:nvSpPr>
          <p:cNvPr id="31" name="화살표: 오른쪽 30">
            <a:extLst>
              <a:ext uri="{FF2B5EF4-FFF2-40B4-BE49-F238E27FC236}">
                <a16:creationId xmlns:a16="http://schemas.microsoft.com/office/drawing/2014/main" id="{84EA6701-50E9-4028-888A-28A3350A6DB8}"/>
              </a:ext>
            </a:extLst>
          </p:cNvPr>
          <p:cNvSpPr/>
          <p:nvPr/>
        </p:nvSpPr>
        <p:spPr>
          <a:xfrm>
            <a:off x="164961" y="10241744"/>
            <a:ext cx="1185511" cy="610141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17DAFCD-B058-4284-AB91-94220A569C00}"/>
              </a:ext>
            </a:extLst>
          </p:cNvPr>
          <p:cNvSpPr txBox="1"/>
          <p:nvPr/>
        </p:nvSpPr>
        <p:spPr>
          <a:xfrm>
            <a:off x="1438442" y="9958904"/>
            <a:ext cx="365261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결과물</a:t>
            </a:r>
            <a:endParaRPr lang="en-US" altLang="ko-KR"/>
          </a:p>
          <a:p>
            <a:r>
              <a:rPr lang="en-US" altLang="ko-KR"/>
              <a:t>- binary : out_bin.ihnn</a:t>
            </a:r>
          </a:p>
          <a:p>
            <a:r>
              <a:rPr lang="en-US" altLang="ko-KR"/>
              <a:t>- plan : plan.json</a:t>
            </a:r>
          </a:p>
          <a:p>
            <a:r>
              <a:rPr lang="en-US" altLang="ko-KR"/>
              <a:t>- out.mlir =&gt; sub</a:t>
            </a:r>
            <a:r>
              <a:rPr lang="ko-KR" altLang="en-US"/>
              <a:t> </a:t>
            </a:r>
            <a:r>
              <a:rPr lang="en-US" altLang="ko-KR"/>
              <a:t>tool</a:t>
            </a:r>
            <a:r>
              <a:rPr lang="ko-KR" altLang="en-US"/>
              <a:t>을 결합하여 </a:t>
            </a:r>
            <a:r>
              <a:rPr lang="en-US" altLang="ko-KR"/>
              <a:t>profile + Debug </a:t>
            </a:r>
            <a:r>
              <a:rPr lang="ko-KR" altLang="en-US"/>
              <a:t>파일 생성</a:t>
            </a:r>
          </a:p>
        </p:txBody>
      </p: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48462175-3CAC-42CA-82AA-39E2F2F01A3E}"/>
              </a:ext>
            </a:extLst>
          </p:cNvPr>
          <p:cNvSpPr/>
          <p:nvPr/>
        </p:nvSpPr>
        <p:spPr>
          <a:xfrm>
            <a:off x="4709281" y="11195615"/>
            <a:ext cx="2015791" cy="6139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Runtime </a:t>
            </a:r>
            <a:r>
              <a:rPr lang="ko-KR" altLang="en-US" sz="1000">
                <a:solidFill>
                  <a:schemeClr val="tx1"/>
                </a:solidFill>
              </a:rPr>
              <a:t>제작</a:t>
            </a: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E5908F4E-8E7D-44AA-87F0-418EF4FD3C14}"/>
              </a:ext>
            </a:extLst>
          </p:cNvPr>
          <p:cNvCxnSpPr/>
          <p:nvPr/>
        </p:nvCxnSpPr>
        <p:spPr>
          <a:xfrm flipH="1">
            <a:off x="2845253" y="9709001"/>
            <a:ext cx="4042679" cy="2482999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EAAC5B14-4ADB-4B5F-9E76-0C50AC7F8E9F}"/>
              </a:ext>
            </a:extLst>
          </p:cNvPr>
          <p:cNvSpPr txBox="1"/>
          <p:nvPr/>
        </p:nvSpPr>
        <p:spPr>
          <a:xfrm>
            <a:off x="-37557" y="7178654"/>
            <a:ext cx="135977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/>
              <a:t>Data-Flow Aligner PP</a:t>
            </a:r>
            <a:endParaRPr lang="ko-KR" altLang="en-US" sz="1050"/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CC328C71-DBD4-4AB0-91EA-DA39473727ED}"/>
              </a:ext>
            </a:extLst>
          </p:cNvPr>
          <p:cNvSpPr/>
          <p:nvPr/>
        </p:nvSpPr>
        <p:spPr>
          <a:xfrm>
            <a:off x="1384072" y="6368909"/>
            <a:ext cx="2015791" cy="27541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CreateStall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69" name="직사각형 168">
            <a:extLst>
              <a:ext uri="{FF2B5EF4-FFF2-40B4-BE49-F238E27FC236}">
                <a16:creationId xmlns:a16="http://schemas.microsoft.com/office/drawing/2014/main" id="{C55CAED6-6D1C-4198-88BE-A96757FEB5DA}"/>
              </a:ext>
            </a:extLst>
          </p:cNvPr>
          <p:cNvSpPr/>
          <p:nvPr/>
        </p:nvSpPr>
        <p:spPr>
          <a:xfrm>
            <a:off x="3399863" y="6369711"/>
            <a:ext cx="640776" cy="2754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4C66EFFA-9FDB-4AC7-A065-814BEF0A7404}"/>
              </a:ext>
            </a:extLst>
          </p:cNvPr>
          <p:cNvSpPr txBox="1"/>
          <p:nvPr/>
        </p:nvSpPr>
        <p:spPr>
          <a:xfrm>
            <a:off x="4040638" y="6366698"/>
            <a:ext cx="23691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/>
              <a:t>virtual stall </a:t>
            </a:r>
            <a:r>
              <a:rPr lang="ko-KR" altLang="en-US" sz="700"/>
              <a:t>삽입</a:t>
            </a:r>
            <a:r>
              <a:rPr lang="en-US" altLang="ko-KR" sz="700"/>
              <a:t>. </a:t>
            </a:r>
            <a:r>
              <a:rPr lang="ko-KR" altLang="en-US" sz="700"/>
              <a:t>계산에만 사용하고 최종 바이너리에서 </a:t>
            </a:r>
            <a:r>
              <a:rPr lang="en-US" altLang="ko-KR" sz="700"/>
              <a:t>stall</a:t>
            </a:r>
            <a:r>
              <a:rPr lang="ko-KR" altLang="en-US" sz="700"/>
              <a:t>은 삭제</a:t>
            </a:r>
            <a:r>
              <a:rPr lang="en-US" altLang="ko-KR" sz="700"/>
              <a:t>. stall</a:t>
            </a:r>
            <a:r>
              <a:rPr lang="ko-KR" altLang="en-US" sz="700"/>
              <a:t>을 확인하고 최적화를 하기 위해 추가함</a:t>
            </a:r>
            <a:endParaRPr lang="en-US" altLang="ko-KR" sz="700"/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9F9F1231-AEE6-4C79-8095-3029F927BE6A}"/>
              </a:ext>
            </a:extLst>
          </p:cNvPr>
          <p:cNvSpPr txBox="1"/>
          <p:nvPr/>
        </p:nvSpPr>
        <p:spPr>
          <a:xfrm>
            <a:off x="4097727" y="8104760"/>
            <a:ext cx="20722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/>
              <a:t>stall</a:t>
            </a:r>
            <a:r>
              <a:rPr lang="ko-KR" altLang="en-US" sz="700"/>
              <a:t>은 최적화에 이미 모두 활용되었으므로 삭제</a:t>
            </a:r>
            <a:endParaRPr lang="en-US" altLang="ko-KR" sz="700"/>
          </a:p>
        </p:txBody>
      </p: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9635146A-16EE-44CC-8C9D-D4C52D0E7B3B}"/>
              </a:ext>
            </a:extLst>
          </p:cNvPr>
          <p:cNvSpPr/>
          <p:nvPr/>
        </p:nvSpPr>
        <p:spPr>
          <a:xfrm>
            <a:off x="1398427" y="8103958"/>
            <a:ext cx="2015791" cy="27541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DestroyStall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BC5FBB6E-7208-49EC-AF19-13A00AA69095}"/>
              </a:ext>
            </a:extLst>
          </p:cNvPr>
          <p:cNvSpPr/>
          <p:nvPr/>
        </p:nvSpPr>
        <p:spPr>
          <a:xfrm>
            <a:off x="3414218" y="8104760"/>
            <a:ext cx="640776" cy="2754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94" name="왼쪽 중괄호 93">
            <a:extLst>
              <a:ext uri="{FF2B5EF4-FFF2-40B4-BE49-F238E27FC236}">
                <a16:creationId xmlns:a16="http://schemas.microsoft.com/office/drawing/2014/main" id="{25657BFF-17C7-45C0-A245-05A2C4B319D9}"/>
              </a:ext>
            </a:extLst>
          </p:cNvPr>
          <p:cNvSpPr/>
          <p:nvPr/>
        </p:nvSpPr>
        <p:spPr>
          <a:xfrm>
            <a:off x="1164510" y="4349001"/>
            <a:ext cx="219562" cy="585181"/>
          </a:xfrm>
          <a:prstGeom prst="leftBrace">
            <a:avLst>
              <a:gd name="adj1" fmla="val 152096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7A578592-26EB-49CE-9D73-A9718809D404}"/>
              </a:ext>
            </a:extLst>
          </p:cNvPr>
          <p:cNvSpPr/>
          <p:nvPr/>
        </p:nvSpPr>
        <p:spPr>
          <a:xfrm>
            <a:off x="1371297" y="3678849"/>
            <a:ext cx="2015791" cy="2754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ExitIREE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D077A85E-E588-4656-8AE6-CE36C65F7AB4}"/>
              </a:ext>
            </a:extLst>
          </p:cNvPr>
          <p:cNvSpPr/>
          <p:nvPr/>
        </p:nvSpPr>
        <p:spPr>
          <a:xfrm>
            <a:off x="3387088" y="3679000"/>
            <a:ext cx="640776" cy="27541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1473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49375D3-3024-4912-8F51-BD58F38EE619}"/>
              </a:ext>
            </a:extLst>
          </p:cNvPr>
          <p:cNvSpPr/>
          <p:nvPr/>
        </p:nvSpPr>
        <p:spPr>
          <a:xfrm>
            <a:off x="243096" y="4302408"/>
            <a:ext cx="2705100" cy="437322"/>
          </a:xfrm>
          <a:prstGeom prst="rect">
            <a:avLst/>
          </a:prstGeom>
          <a:solidFill>
            <a:srgbClr val="FDDD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solidFill>
                  <a:schemeClr val="tx1"/>
                </a:solidFill>
              </a:rPr>
              <a:t>(quantized) yolo</a:t>
            </a:r>
            <a:r>
              <a:rPr lang="ko-KR" altLang="en-US" sz="1100">
                <a:solidFill>
                  <a:schemeClr val="tx1"/>
                </a:solidFill>
              </a:rPr>
              <a:t> </a:t>
            </a:r>
            <a:r>
              <a:rPr lang="en-US" altLang="ko-KR" sz="1100">
                <a:solidFill>
                  <a:schemeClr val="tx1"/>
                </a:solidFill>
              </a:rPr>
              <a:t>top</a:t>
            </a:r>
            <a:r>
              <a:rPr lang="ko-KR" altLang="en-US" sz="1100">
                <a:solidFill>
                  <a:schemeClr val="tx1"/>
                </a:solidFill>
              </a:rPr>
              <a:t> </a:t>
            </a:r>
            <a:r>
              <a:rPr lang="en-US" altLang="ko-KR" sz="1100">
                <a:solidFill>
                  <a:schemeClr val="tx1"/>
                </a:solidFill>
              </a:rPr>
              <a:t>3</a:t>
            </a:r>
            <a:r>
              <a:rPr lang="ko-KR" altLang="en-US" sz="1100">
                <a:solidFill>
                  <a:schemeClr val="tx1"/>
                </a:solidFill>
              </a:rPr>
              <a:t> </a:t>
            </a:r>
            <a:r>
              <a:rPr lang="en-US" altLang="ko-KR" sz="1100">
                <a:solidFill>
                  <a:schemeClr val="tx1"/>
                </a:solidFill>
              </a:rPr>
              <a:t>model</a:t>
            </a:r>
            <a:r>
              <a:rPr lang="ko-KR" altLang="en-US" sz="1100">
                <a:solidFill>
                  <a:schemeClr val="tx1"/>
                </a:solidFill>
              </a:rPr>
              <a:t> </a:t>
            </a:r>
            <a:r>
              <a:rPr lang="en-US" altLang="ko-KR" sz="1100">
                <a:solidFill>
                  <a:schemeClr val="tx1"/>
                </a:solidFill>
              </a:rPr>
              <a:t>compile</a:t>
            </a:r>
            <a:endParaRPr lang="ko-KR" altLang="en-US" sz="1100">
              <a:solidFill>
                <a:schemeClr val="tx1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462E1B1-671C-4FF9-9CD7-D98223DF659D}"/>
              </a:ext>
            </a:extLst>
          </p:cNvPr>
          <p:cNvSpPr/>
          <p:nvPr/>
        </p:nvSpPr>
        <p:spPr>
          <a:xfrm>
            <a:off x="243096" y="4969158"/>
            <a:ext cx="2705100" cy="437322"/>
          </a:xfrm>
          <a:prstGeom prst="rect">
            <a:avLst/>
          </a:prstGeom>
          <a:solidFill>
            <a:srgbClr val="FAD1A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solidFill>
                  <a:schemeClr val="tx1"/>
                </a:solidFill>
              </a:rPr>
              <a:t>(quantized)  yolo v10</a:t>
            </a:r>
            <a:r>
              <a:rPr lang="ko-KR" altLang="en-US" sz="1100">
                <a:solidFill>
                  <a:schemeClr val="tx1"/>
                </a:solidFill>
              </a:rPr>
              <a:t> </a:t>
            </a:r>
            <a:r>
              <a:rPr lang="en-US" altLang="ko-KR" sz="1100">
                <a:solidFill>
                  <a:schemeClr val="tx1"/>
                </a:solidFill>
              </a:rPr>
              <a:t>model</a:t>
            </a:r>
            <a:r>
              <a:rPr lang="ko-KR" altLang="en-US" sz="1100">
                <a:solidFill>
                  <a:schemeClr val="tx1"/>
                </a:solidFill>
              </a:rPr>
              <a:t> </a:t>
            </a:r>
            <a:r>
              <a:rPr lang="en-US" altLang="ko-KR" sz="1100">
                <a:solidFill>
                  <a:schemeClr val="tx1"/>
                </a:solidFill>
              </a:rPr>
              <a:t>compile</a:t>
            </a:r>
            <a:endParaRPr lang="ko-KR" altLang="en-US" sz="1100">
              <a:solidFill>
                <a:schemeClr val="tx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4B632B3-D79E-436F-8DAB-ADE2D16374B2}"/>
              </a:ext>
            </a:extLst>
          </p:cNvPr>
          <p:cNvSpPr/>
          <p:nvPr/>
        </p:nvSpPr>
        <p:spPr>
          <a:xfrm>
            <a:off x="243096" y="5635908"/>
            <a:ext cx="2705100" cy="43732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solidFill>
                  <a:schemeClr val="tx1"/>
                </a:solidFill>
              </a:rPr>
              <a:t>(quantized)  face</a:t>
            </a:r>
            <a:r>
              <a:rPr lang="ko-KR" altLang="en-US" sz="1100">
                <a:solidFill>
                  <a:schemeClr val="tx1"/>
                </a:solidFill>
              </a:rPr>
              <a:t> </a:t>
            </a:r>
            <a:r>
              <a:rPr lang="en-US" altLang="ko-KR" sz="1100">
                <a:solidFill>
                  <a:schemeClr val="tx1"/>
                </a:solidFill>
              </a:rPr>
              <a:t>edge</a:t>
            </a:r>
            <a:r>
              <a:rPr lang="ko-KR" altLang="en-US" sz="1100">
                <a:solidFill>
                  <a:schemeClr val="tx1"/>
                </a:solidFill>
              </a:rPr>
              <a:t> </a:t>
            </a:r>
            <a:r>
              <a:rPr lang="en-US" altLang="ko-KR" sz="1100">
                <a:solidFill>
                  <a:schemeClr val="tx1"/>
                </a:solidFill>
              </a:rPr>
              <a:t>model</a:t>
            </a:r>
            <a:r>
              <a:rPr lang="ko-KR" altLang="en-US" sz="1100">
                <a:solidFill>
                  <a:schemeClr val="tx1"/>
                </a:solidFill>
              </a:rPr>
              <a:t> </a:t>
            </a:r>
            <a:r>
              <a:rPr lang="en-US" altLang="ko-KR" sz="1100">
                <a:solidFill>
                  <a:schemeClr val="tx1"/>
                </a:solidFill>
              </a:rPr>
              <a:t>compile</a:t>
            </a:r>
            <a:endParaRPr lang="ko-KR" altLang="en-US" sz="110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40BF146-D366-4D35-AC86-C65D156F34C6}"/>
              </a:ext>
            </a:extLst>
          </p:cNvPr>
          <p:cNvSpPr/>
          <p:nvPr/>
        </p:nvSpPr>
        <p:spPr>
          <a:xfrm>
            <a:off x="243096" y="3635658"/>
            <a:ext cx="2705100" cy="437322"/>
          </a:xfrm>
          <a:prstGeom prst="rect">
            <a:avLst/>
          </a:prstGeom>
          <a:solidFill>
            <a:srgbClr val="EFE4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solidFill>
                  <a:schemeClr val="tx1"/>
                </a:solidFill>
              </a:rPr>
              <a:t>custom variant</a:t>
            </a:r>
            <a:endParaRPr lang="ko-KR" altLang="en-US" sz="110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1947EEA-F43E-41B7-B1F1-CF48931F5B7A}"/>
              </a:ext>
            </a:extLst>
          </p:cNvPr>
          <p:cNvSpPr/>
          <p:nvPr/>
        </p:nvSpPr>
        <p:spPr>
          <a:xfrm>
            <a:off x="243096" y="6302658"/>
            <a:ext cx="2705100" cy="43732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solidFill>
                  <a:schemeClr val="tx1"/>
                </a:solidFill>
              </a:rPr>
              <a:t>runtime plugin</a:t>
            </a:r>
            <a:endParaRPr lang="ko-KR" altLang="en-US" sz="1100">
              <a:solidFill>
                <a:schemeClr val="tx1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CF778E7-40D3-4A79-BD5D-B804409C7BBF}"/>
              </a:ext>
            </a:extLst>
          </p:cNvPr>
          <p:cNvSpPr/>
          <p:nvPr/>
        </p:nvSpPr>
        <p:spPr>
          <a:xfrm>
            <a:off x="1152525" y="2346325"/>
            <a:ext cx="4572000" cy="20955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</a:schemeClr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accent6">
                  <a:lumMod val="40000"/>
                  <a:lumOff val="60000"/>
                </a:schemeClr>
              </a:gs>
            </a:gsLst>
            <a:lin ang="0" scaled="0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6907FF-E5E0-412A-AB21-2CEFF77DF488}"/>
              </a:ext>
            </a:extLst>
          </p:cNvPr>
          <p:cNvSpPr txBox="1"/>
          <p:nvPr/>
        </p:nvSpPr>
        <p:spPr>
          <a:xfrm>
            <a:off x="1116909" y="2008031"/>
            <a:ext cx="2705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진행 척도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10009F0-9C43-44C1-85A3-8BDCD0BC404B}"/>
              </a:ext>
            </a:extLst>
          </p:cNvPr>
          <p:cNvSpPr/>
          <p:nvPr/>
        </p:nvSpPr>
        <p:spPr>
          <a:xfrm>
            <a:off x="4695825" y="3287766"/>
            <a:ext cx="1762125" cy="43732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solidFill>
                  <a:schemeClr val="tx1"/>
                </a:solidFill>
              </a:rPr>
              <a:t>1</a:t>
            </a:r>
            <a:r>
              <a:rPr lang="ko-KR" altLang="en-US" sz="1100">
                <a:solidFill>
                  <a:schemeClr val="tx1"/>
                </a:solidFill>
              </a:rPr>
              <a:t>차 데모</a:t>
            </a:r>
            <a:endParaRPr lang="en-US" altLang="ko-KR" sz="1100">
              <a:solidFill>
                <a:schemeClr val="tx1"/>
              </a:solidFill>
            </a:endParaRPr>
          </a:p>
          <a:p>
            <a:pPr algn="ctr"/>
            <a:r>
              <a:rPr lang="ko-KR" altLang="en-US" sz="1100">
                <a:solidFill>
                  <a:schemeClr val="tx1"/>
                </a:solidFill>
              </a:rPr>
              <a:t>컴파일 결과물 확인</a:t>
            </a:r>
            <a:endParaRPr lang="en-US" altLang="ko-KR" sz="1100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33C358E-79BE-4E97-96CF-EC4CE6A67D1C}"/>
              </a:ext>
            </a:extLst>
          </p:cNvPr>
          <p:cNvSpPr/>
          <p:nvPr/>
        </p:nvSpPr>
        <p:spPr>
          <a:xfrm>
            <a:off x="4695825" y="3865086"/>
            <a:ext cx="1762125" cy="43732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solidFill>
                  <a:schemeClr val="tx1"/>
                </a:solidFill>
              </a:rPr>
              <a:t>2</a:t>
            </a:r>
            <a:r>
              <a:rPr lang="ko-KR" altLang="en-US" sz="1100">
                <a:solidFill>
                  <a:schemeClr val="tx1"/>
                </a:solidFill>
              </a:rPr>
              <a:t>차 데모</a:t>
            </a:r>
            <a:endParaRPr lang="en-US" altLang="ko-KR" sz="1100">
              <a:solidFill>
                <a:schemeClr val="tx1"/>
              </a:solidFill>
            </a:endParaRPr>
          </a:p>
          <a:p>
            <a:pPr algn="ctr"/>
            <a:r>
              <a:rPr lang="en-US" altLang="ko-KR" sz="1100">
                <a:solidFill>
                  <a:schemeClr val="tx1"/>
                </a:solidFill>
              </a:rPr>
              <a:t>top 3 model </a:t>
            </a:r>
            <a:r>
              <a:rPr lang="ko-KR" altLang="en-US" sz="1100">
                <a:solidFill>
                  <a:schemeClr val="tx1"/>
                </a:solidFill>
              </a:rPr>
              <a:t>연산결과확인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910BD65-AB5A-4744-9742-916640EF9583}"/>
              </a:ext>
            </a:extLst>
          </p:cNvPr>
          <p:cNvSpPr/>
          <p:nvPr/>
        </p:nvSpPr>
        <p:spPr>
          <a:xfrm>
            <a:off x="4695825" y="4437843"/>
            <a:ext cx="1762125" cy="43732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solidFill>
                  <a:schemeClr val="tx1"/>
                </a:solidFill>
              </a:rPr>
              <a:t>3</a:t>
            </a:r>
            <a:r>
              <a:rPr lang="ko-KR" altLang="en-US" sz="1100">
                <a:solidFill>
                  <a:schemeClr val="tx1"/>
                </a:solidFill>
              </a:rPr>
              <a:t>차 데모</a:t>
            </a:r>
            <a:endParaRPr lang="en-US" altLang="ko-KR" sz="1100">
              <a:solidFill>
                <a:schemeClr val="tx1"/>
              </a:solidFill>
            </a:endParaRPr>
          </a:p>
          <a:p>
            <a:pPr algn="ctr"/>
            <a:r>
              <a:rPr lang="en-US" altLang="ko-KR" sz="1100">
                <a:solidFill>
                  <a:schemeClr val="tx1"/>
                </a:solidFill>
              </a:rPr>
              <a:t>yolo model </a:t>
            </a:r>
            <a:r>
              <a:rPr lang="ko-KR" altLang="en-US" sz="1100">
                <a:solidFill>
                  <a:schemeClr val="tx1"/>
                </a:solidFill>
              </a:rPr>
              <a:t>연산결과확인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3C06643-ECA5-40A3-8CF1-2014C1D53EB8}"/>
              </a:ext>
            </a:extLst>
          </p:cNvPr>
          <p:cNvSpPr/>
          <p:nvPr/>
        </p:nvSpPr>
        <p:spPr>
          <a:xfrm>
            <a:off x="4695824" y="5010599"/>
            <a:ext cx="1762125" cy="5847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solidFill>
                  <a:schemeClr val="tx1"/>
                </a:solidFill>
              </a:rPr>
              <a:t>4</a:t>
            </a:r>
            <a:r>
              <a:rPr lang="ko-KR" altLang="en-US" sz="1100">
                <a:solidFill>
                  <a:schemeClr val="tx1"/>
                </a:solidFill>
              </a:rPr>
              <a:t>차 데모</a:t>
            </a:r>
            <a:endParaRPr lang="en-US" altLang="ko-KR" sz="1100">
              <a:solidFill>
                <a:schemeClr val="tx1"/>
              </a:solidFill>
            </a:endParaRPr>
          </a:p>
          <a:p>
            <a:pPr algn="ctr"/>
            <a:r>
              <a:rPr lang="en-US" altLang="ko-KR" sz="1100">
                <a:solidFill>
                  <a:schemeClr val="tx1"/>
                </a:solidFill>
              </a:rPr>
              <a:t>yolo model </a:t>
            </a:r>
          </a:p>
          <a:p>
            <a:pPr algn="ctr"/>
            <a:r>
              <a:rPr lang="en-US" altLang="ko-KR" sz="1100">
                <a:solidFill>
                  <a:schemeClr val="tx1"/>
                </a:solidFill>
              </a:rPr>
              <a:t>object</a:t>
            </a:r>
            <a:r>
              <a:rPr lang="ko-KR" altLang="en-US" sz="1100">
                <a:solidFill>
                  <a:schemeClr val="tx1"/>
                </a:solidFill>
              </a:rPr>
              <a:t> </a:t>
            </a:r>
            <a:r>
              <a:rPr lang="en-US" altLang="ko-KR" sz="1100">
                <a:solidFill>
                  <a:schemeClr val="tx1"/>
                </a:solidFill>
              </a:rPr>
              <a:t>detection</a:t>
            </a:r>
            <a:r>
              <a:rPr lang="ko-KR" altLang="en-US" sz="1100">
                <a:solidFill>
                  <a:schemeClr val="tx1"/>
                </a:solidFill>
              </a:rPr>
              <a:t> 확인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6E19D4C-2222-4CF2-AF1E-93B71D7C63DA}"/>
              </a:ext>
            </a:extLst>
          </p:cNvPr>
          <p:cNvSpPr/>
          <p:nvPr/>
        </p:nvSpPr>
        <p:spPr>
          <a:xfrm>
            <a:off x="4695824" y="5730808"/>
            <a:ext cx="1762125" cy="5847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solidFill>
                  <a:schemeClr val="tx1"/>
                </a:solidFill>
              </a:rPr>
              <a:t>5</a:t>
            </a:r>
            <a:r>
              <a:rPr lang="ko-KR" altLang="en-US" sz="1100">
                <a:solidFill>
                  <a:schemeClr val="tx1"/>
                </a:solidFill>
              </a:rPr>
              <a:t>차 데모</a:t>
            </a:r>
            <a:endParaRPr lang="en-US" altLang="ko-KR" sz="1100">
              <a:solidFill>
                <a:schemeClr val="tx1"/>
              </a:solidFill>
            </a:endParaRPr>
          </a:p>
          <a:p>
            <a:pPr algn="ctr"/>
            <a:r>
              <a:rPr lang="en-US" altLang="ko-KR" sz="1100">
                <a:solidFill>
                  <a:schemeClr val="tx1"/>
                </a:solidFill>
              </a:rPr>
              <a:t>face model </a:t>
            </a:r>
            <a:r>
              <a:rPr lang="ko-KR" altLang="en-US" sz="1100">
                <a:solidFill>
                  <a:schemeClr val="tx1"/>
                </a:solidFill>
              </a:rPr>
              <a:t>연산결과확인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0E28BD4-2276-4CAE-9835-4DF09F74958C}"/>
              </a:ext>
            </a:extLst>
          </p:cNvPr>
          <p:cNvSpPr/>
          <p:nvPr/>
        </p:nvSpPr>
        <p:spPr>
          <a:xfrm>
            <a:off x="4695823" y="6451017"/>
            <a:ext cx="1762125" cy="5847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solidFill>
                  <a:schemeClr val="tx1"/>
                </a:solidFill>
              </a:rPr>
              <a:t>6</a:t>
            </a:r>
            <a:r>
              <a:rPr lang="ko-KR" altLang="en-US" sz="1100">
                <a:solidFill>
                  <a:schemeClr val="tx1"/>
                </a:solidFill>
              </a:rPr>
              <a:t>차 데모</a:t>
            </a:r>
            <a:endParaRPr lang="en-US" altLang="ko-KR" sz="1100">
              <a:solidFill>
                <a:schemeClr val="tx1"/>
              </a:solidFill>
            </a:endParaRPr>
          </a:p>
          <a:p>
            <a:pPr algn="ctr"/>
            <a:r>
              <a:rPr lang="en-US" altLang="ko-KR" sz="1100">
                <a:solidFill>
                  <a:schemeClr val="tx1"/>
                </a:solidFill>
              </a:rPr>
              <a:t>face model App? </a:t>
            </a:r>
            <a:r>
              <a:rPr lang="ko-KR" altLang="en-US" sz="1100">
                <a:solidFill>
                  <a:schemeClr val="tx1"/>
                </a:solidFill>
              </a:rPr>
              <a:t>확인</a:t>
            </a:r>
          </a:p>
        </p:txBody>
      </p:sp>
      <p:cxnSp>
        <p:nvCxnSpPr>
          <p:cNvPr id="17" name="연결선: 구부러짐 16">
            <a:extLst>
              <a:ext uri="{FF2B5EF4-FFF2-40B4-BE49-F238E27FC236}">
                <a16:creationId xmlns:a16="http://schemas.microsoft.com/office/drawing/2014/main" id="{B0BDDB17-75BD-43EE-B22F-900AEEDFD1A5}"/>
              </a:ext>
            </a:extLst>
          </p:cNvPr>
          <p:cNvCxnSpPr>
            <a:cxnSpLocks/>
            <a:stCxn id="2" idx="3"/>
            <a:endCxn id="10" idx="1"/>
          </p:cNvCxnSpPr>
          <p:nvPr/>
        </p:nvCxnSpPr>
        <p:spPr>
          <a:xfrm flipV="1">
            <a:off x="2948196" y="3506427"/>
            <a:ext cx="1747629" cy="1014642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연결선: 구부러짐 18">
            <a:extLst>
              <a:ext uri="{FF2B5EF4-FFF2-40B4-BE49-F238E27FC236}">
                <a16:creationId xmlns:a16="http://schemas.microsoft.com/office/drawing/2014/main" id="{FDEF16D0-A8F0-4C1E-9C64-580357E111E8}"/>
              </a:ext>
            </a:extLst>
          </p:cNvPr>
          <p:cNvCxnSpPr>
            <a:cxnSpLocks/>
            <a:stCxn id="2" idx="3"/>
            <a:endCxn id="11" idx="1"/>
          </p:cNvCxnSpPr>
          <p:nvPr/>
        </p:nvCxnSpPr>
        <p:spPr>
          <a:xfrm flipV="1">
            <a:off x="2948196" y="4083747"/>
            <a:ext cx="1747629" cy="437322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연결선: 구부러짐 22">
            <a:extLst>
              <a:ext uri="{FF2B5EF4-FFF2-40B4-BE49-F238E27FC236}">
                <a16:creationId xmlns:a16="http://schemas.microsoft.com/office/drawing/2014/main" id="{A5265865-F09A-4CE1-934F-26775704BA17}"/>
              </a:ext>
            </a:extLst>
          </p:cNvPr>
          <p:cNvCxnSpPr>
            <a:cxnSpLocks/>
            <a:stCxn id="7" idx="3"/>
            <a:endCxn id="11" idx="1"/>
          </p:cNvCxnSpPr>
          <p:nvPr/>
        </p:nvCxnSpPr>
        <p:spPr>
          <a:xfrm flipV="1">
            <a:off x="2948196" y="4083747"/>
            <a:ext cx="1747629" cy="2437572"/>
          </a:xfrm>
          <a:prstGeom prst="curvedConnector3">
            <a:avLst>
              <a:gd name="adj1" fmla="val 50000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연결선: 구부러짐 25">
            <a:extLst>
              <a:ext uri="{FF2B5EF4-FFF2-40B4-BE49-F238E27FC236}">
                <a16:creationId xmlns:a16="http://schemas.microsoft.com/office/drawing/2014/main" id="{549E1291-80AC-4FD3-A3E4-C3697D87A769}"/>
              </a:ext>
            </a:extLst>
          </p:cNvPr>
          <p:cNvCxnSpPr>
            <a:cxnSpLocks/>
            <a:stCxn id="7" idx="3"/>
            <a:endCxn id="13" idx="1"/>
          </p:cNvCxnSpPr>
          <p:nvPr/>
        </p:nvCxnSpPr>
        <p:spPr>
          <a:xfrm flipV="1">
            <a:off x="2948196" y="4656504"/>
            <a:ext cx="1747629" cy="1864815"/>
          </a:xfrm>
          <a:prstGeom prst="curvedConnector3">
            <a:avLst>
              <a:gd name="adj1" fmla="val 50000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연결선: 구부러짐 29">
            <a:extLst>
              <a:ext uri="{FF2B5EF4-FFF2-40B4-BE49-F238E27FC236}">
                <a16:creationId xmlns:a16="http://schemas.microsoft.com/office/drawing/2014/main" id="{270DAD06-1DA6-4291-81A8-3761A89E654C}"/>
              </a:ext>
            </a:extLst>
          </p:cNvPr>
          <p:cNvCxnSpPr>
            <a:cxnSpLocks/>
            <a:stCxn id="7" idx="3"/>
            <a:endCxn id="14" idx="1"/>
          </p:cNvCxnSpPr>
          <p:nvPr/>
        </p:nvCxnSpPr>
        <p:spPr>
          <a:xfrm flipV="1">
            <a:off x="2948196" y="5302987"/>
            <a:ext cx="1747628" cy="1218332"/>
          </a:xfrm>
          <a:prstGeom prst="curvedConnector3">
            <a:avLst>
              <a:gd name="adj1" fmla="val 50000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연결선: 구부러짐 39">
            <a:extLst>
              <a:ext uri="{FF2B5EF4-FFF2-40B4-BE49-F238E27FC236}">
                <a16:creationId xmlns:a16="http://schemas.microsoft.com/office/drawing/2014/main" id="{E9304CCB-B64B-4FE9-AC20-D2403628A595}"/>
              </a:ext>
            </a:extLst>
          </p:cNvPr>
          <p:cNvCxnSpPr>
            <a:cxnSpLocks/>
            <a:stCxn id="7" idx="3"/>
            <a:endCxn id="15" idx="1"/>
          </p:cNvCxnSpPr>
          <p:nvPr/>
        </p:nvCxnSpPr>
        <p:spPr>
          <a:xfrm flipV="1">
            <a:off x="2948196" y="6023196"/>
            <a:ext cx="1747628" cy="498123"/>
          </a:xfrm>
          <a:prstGeom prst="curvedConnector3">
            <a:avLst>
              <a:gd name="adj1" fmla="val 50000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연결선: 구부러짐 42">
            <a:extLst>
              <a:ext uri="{FF2B5EF4-FFF2-40B4-BE49-F238E27FC236}">
                <a16:creationId xmlns:a16="http://schemas.microsoft.com/office/drawing/2014/main" id="{A97A416C-65BB-4CAB-BF46-3D702FC8009B}"/>
              </a:ext>
            </a:extLst>
          </p:cNvPr>
          <p:cNvCxnSpPr>
            <a:cxnSpLocks/>
            <a:stCxn id="7" idx="3"/>
            <a:endCxn id="16" idx="1"/>
          </p:cNvCxnSpPr>
          <p:nvPr/>
        </p:nvCxnSpPr>
        <p:spPr>
          <a:xfrm>
            <a:off x="2948196" y="6521319"/>
            <a:ext cx="1747627" cy="222086"/>
          </a:xfrm>
          <a:prstGeom prst="curvedConnector3">
            <a:avLst>
              <a:gd name="adj1" fmla="val 50000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연결선: 구부러짐 45">
            <a:extLst>
              <a:ext uri="{FF2B5EF4-FFF2-40B4-BE49-F238E27FC236}">
                <a16:creationId xmlns:a16="http://schemas.microsoft.com/office/drawing/2014/main" id="{3B759D16-DB44-4C39-8478-660707A19EC6}"/>
              </a:ext>
            </a:extLst>
          </p:cNvPr>
          <p:cNvCxnSpPr>
            <a:cxnSpLocks/>
            <a:stCxn id="4" idx="3"/>
            <a:endCxn id="13" idx="1"/>
          </p:cNvCxnSpPr>
          <p:nvPr/>
        </p:nvCxnSpPr>
        <p:spPr>
          <a:xfrm flipV="1">
            <a:off x="2948196" y="4656504"/>
            <a:ext cx="1747629" cy="531315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연결선: 구부러짐 48">
            <a:extLst>
              <a:ext uri="{FF2B5EF4-FFF2-40B4-BE49-F238E27FC236}">
                <a16:creationId xmlns:a16="http://schemas.microsoft.com/office/drawing/2014/main" id="{F5883B13-FDAE-48BB-A3C7-730810B83BC0}"/>
              </a:ext>
            </a:extLst>
          </p:cNvPr>
          <p:cNvCxnSpPr>
            <a:cxnSpLocks/>
            <a:stCxn id="4" idx="3"/>
            <a:endCxn id="14" idx="1"/>
          </p:cNvCxnSpPr>
          <p:nvPr/>
        </p:nvCxnSpPr>
        <p:spPr>
          <a:xfrm>
            <a:off x="2948196" y="5187819"/>
            <a:ext cx="1747628" cy="115168"/>
          </a:xfrm>
          <a:prstGeom prst="curvedConnector3">
            <a:avLst>
              <a:gd name="adj1" fmla="val 49455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연결선: 구부러짐 52">
            <a:extLst>
              <a:ext uri="{FF2B5EF4-FFF2-40B4-BE49-F238E27FC236}">
                <a16:creationId xmlns:a16="http://schemas.microsoft.com/office/drawing/2014/main" id="{49856919-7B14-477E-8F5E-48F376D7D1A4}"/>
              </a:ext>
            </a:extLst>
          </p:cNvPr>
          <p:cNvCxnSpPr>
            <a:cxnSpLocks/>
            <a:stCxn id="6" idx="3"/>
            <a:endCxn id="13" idx="1"/>
          </p:cNvCxnSpPr>
          <p:nvPr/>
        </p:nvCxnSpPr>
        <p:spPr>
          <a:xfrm>
            <a:off x="2948196" y="3854319"/>
            <a:ext cx="1747629" cy="802185"/>
          </a:xfrm>
          <a:prstGeom prst="curvedConnector3">
            <a:avLst>
              <a:gd name="adj1" fmla="val 50000"/>
            </a:avLst>
          </a:prstGeom>
          <a:ln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연결선: 구부러짐 55">
            <a:extLst>
              <a:ext uri="{FF2B5EF4-FFF2-40B4-BE49-F238E27FC236}">
                <a16:creationId xmlns:a16="http://schemas.microsoft.com/office/drawing/2014/main" id="{F2A1D3E2-6A4E-4925-BA65-5984DE11253C}"/>
              </a:ext>
            </a:extLst>
          </p:cNvPr>
          <p:cNvCxnSpPr>
            <a:cxnSpLocks/>
            <a:stCxn id="6" idx="3"/>
            <a:endCxn id="14" idx="1"/>
          </p:cNvCxnSpPr>
          <p:nvPr/>
        </p:nvCxnSpPr>
        <p:spPr>
          <a:xfrm>
            <a:off x="2948196" y="3854319"/>
            <a:ext cx="1747628" cy="1448668"/>
          </a:xfrm>
          <a:prstGeom prst="curvedConnector3">
            <a:avLst>
              <a:gd name="adj1" fmla="val 50000"/>
            </a:avLst>
          </a:prstGeom>
          <a:ln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연결선: 구부러짐 58">
            <a:extLst>
              <a:ext uri="{FF2B5EF4-FFF2-40B4-BE49-F238E27FC236}">
                <a16:creationId xmlns:a16="http://schemas.microsoft.com/office/drawing/2014/main" id="{28A85B1F-0AC4-4DFD-A659-204529F86859}"/>
              </a:ext>
            </a:extLst>
          </p:cNvPr>
          <p:cNvCxnSpPr>
            <a:cxnSpLocks/>
            <a:stCxn id="6" idx="3"/>
            <a:endCxn id="15" idx="1"/>
          </p:cNvCxnSpPr>
          <p:nvPr/>
        </p:nvCxnSpPr>
        <p:spPr>
          <a:xfrm>
            <a:off x="2948196" y="3854319"/>
            <a:ext cx="1747628" cy="2168877"/>
          </a:xfrm>
          <a:prstGeom prst="curvedConnector3">
            <a:avLst>
              <a:gd name="adj1" fmla="val 50000"/>
            </a:avLst>
          </a:prstGeom>
          <a:ln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연결선: 구부러짐 61">
            <a:extLst>
              <a:ext uri="{FF2B5EF4-FFF2-40B4-BE49-F238E27FC236}">
                <a16:creationId xmlns:a16="http://schemas.microsoft.com/office/drawing/2014/main" id="{546D64C7-5710-4CEE-8AEE-700EA8CD25E0}"/>
              </a:ext>
            </a:extLst>
          </p:cNvPr>
          <p:cNvCxnSpPr>
            <a:cxnSpLocks/>
            <a:stCxn id="6" idx="3"/>
            <a:endCxn id="16" idx="1"/>
          </p:cNvCxnSpPr>
          <p:nvPr/>
        </p:nvCxnSpPr>
        <p:spPr>
          <a:xfrm>
            <a:off x="2948196" y="3854319"/>
            <a:ext cx="1747627" cy="2889086"/>
          </a:xfrm>
          <a:prstGeom prst="curvedConnector3">
            <a:avLst>
              <a:gd name="adj1" fmla="val 50000"/>
            </a:avLst>
          </a:prstGeom>
          <a:ln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연결선: 구부러짐 64">
            <a:extLst>
              <a:ext uri="{FF2B5EF4-FFF2-40B4-BE49-F238E27FC236}">
                <a16:creationId xmlns:a16="http://schemas.microsoft.com/office/drawing/2014/main" id="{943C4687-EF0C-464F-8D86-D72E2BED037D}"/>
              </a:ext>
            </a:extLst>
          </p:cNvPr>
          <p:cNvCxnSpPr>
            <a:cxnSpLocks/>
            <a:stCxn id="5" idx="3"/>
            <a:endCxn id="15" idx="1"/>
          </p:cNvCxnSpPr>
          <p:nvPr/>
        </p:nvCxnSpPr>
        <p:spPr>
          <a:xfrm>
            <a:off x="2948196" y="5854569"/>
            <a:ext cx="1747628" cy="168627"/>
          </a:xfrm>
          <a:prstGeom prst="curvedConnector3">
            <a:avLst>
              <a:gd name="adj1" fmla="val 50000"/>
            </a:avLst>
          </a:prstGeom>
          <a:ln w="1905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연결선: 구부러짐 67">
            <a:extLst>
              <a:ext uri="{FF2B5EF4-FFF2-40B4-BE49-F238E27FC236}">
                <a16:creationId xmlns:a16="http://schemas.microsoft.com/office/drawing/2014/main" id="{3A88F4F3-2E5A-4952-9EA2-DEF1C457B384}"/>
              </a:ext>
            </a:extLst>
          </p:cNvPr>
          <p:cNvCxnSpPr>
            <a:cxnSpLocks/>
            <a:stCxn id="5" idx="3"/>
            <a:endCxn id="16" idx="1"/>
          </p:cNvCxnSpPr>
          <p:nvPr/>
        </p:nvCxnSpPr>
        <p:spPr>
          <a:xfrm>
            <a:off x="2948196" y="5854569"/>
            <a:ext cx="1747627" cy="888836"/>
          </a:xfrm>
          <a:prstGeom prst="curvedConnector3">
            <a:avLst>
              <a:gd name="adj1" fmla="val 50000"/>
            </a:avLst>
          </a:prstGeom>
          <a:ln w="1905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D5DED351-4219-4A10-A50A-48B2CD4733B9}"/>
              </a:ext>
            </a:extLst>
          </p:cNvPr>
          <p:cNvSpPr txBox="1"/>
          <p:nvPr/>
        </p:nvSpPr>
        <p:spPr>
          <a:xfrm>
            <a:off x="1020971" y="2586392"/>
            <a:ext cx="5746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0%</a:t>
            </a:r>
            <a:endParaRPr lang="ko-KR" altLang="en-US" sz="120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B958DBA-C1D7-47CC-BA88-A4DBAFCE4D44}"/>
              </a:ext>
            </a:extLst>
          </p:cNvPr>
          <p:cNvSpPr txBox="1"/>
          <p:nvPr/>
        </p:nvSpPr>
        <p:spPr>
          <a:xfrm>
            <a:off x="5437187" y="2586392"/>
            <a:ext cx="5746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100%</a:t>
            </a:r>
            <a:endParaRPr lang="ko-KR" altLang="en-US" sz="120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56FF0BD-A012-4F2C-A471-5721C345BF8C}"/>
              </a:ext>
            </a:extLst>
          </p:cNvPr>
          <p:cNvSpPr txBox="1"/>
          <p:nvPr/>
        </p:nvSpPr>
        <p:spPr>
          <a:xfrm>
            <a:off x="114300" y="217331"/>
            <a:ext cx="2705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/>
              <a:t>완성도</a:t>
            </a:r>
          </a:p>
        </p:txBody>
      </p:sp>
    </p:spTree>
    <p:extLst>
      <p:ext uri="{BB962C8B-B14F-4D97-AF65-F5344CB8AC3E}">
        <p14:creationId xmlns:p14="http://schemas.microsoft.com/office/powerpoint/2010/main" val="2304895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hlinkClick r:id="rId2" action="ppaction://hlinkfile"/>
            <a:extLst>
              <a:ext uri="{FF2B5EF4-FFF2-40B4-BE49-F238E27FC236}">
                <a16:creationId xmlns:a16="http://schemas.microsoft.com/office/drawing/2014/main" id="{29B8C548-BCF1-4BAE-B7F0-26DD2ABAAF8D}"/>
              </a:ext>
            </a:extLst>
          </p:cNvPr>
          <p:cNvSpPr txBox="1"/>
          <p:nvPr/>
        </p:nvSpPr>
        <p:spPr>
          <a:xfrm>
            <a:off x="266700" y="369731"/>
            <a:ext cx="2705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/>
              <a:t>IREE to CAP PassPipeline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D3A8E57-12DF-4A98-A3B3-2F879DD67D75}"/>
              </a:ext>
            </a:extLst>
          </p:cNvPr>
          <p:cNvSpPr/>
          <p:nvPr/>
        </p:nvSpPr>
        <p:spPr>
          <a:xfrm>
            <a:off x="611354" y="1394195"/>
            <a:ext cx="2015791" cy="2754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QDQFusion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EFFF665A-B310-4C5A-872B-FAA255F12A56}"/>
              </a:ext>
            </a:extLst>
          </p:cNvPr>
          <p:cNvSpPr/>
          <p:nvPr/>
        </p:nvSpPr>
        <p:spPr>
          <a:xfrm>
            <a:off x="2627145" y="1394997"/>
            <a:ext cx="640776" cy="27541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BE4672A-D3B3-4B94-8F13-01AA2B936C26}"/>
              </a:ext>
            </a:extLst>
          </p:cNvPr>
          <p:cNvSpPr/>
          <p:nvPr/>
        </p:nvSpPr>
        <p:spPr>
          <a:xfrm>
            <a:off x="611354" y="2759445"/>
            <a:ext cx="2015791" cy="2754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OpFusion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60A3CAD-348A-4894-9B03-8995996BCE05}"/>
              </a:ext>
            </a:extLst>
          </p:cNvPr>
          <p:cNvSpPr/>
          <p:nvPr/>
        </p:nvSpPr>
        <p:spPr>
          <a:xfrm>
            <a:off x="2627145" y="2760247"/>
            <a:ext cx="640776" cy="27541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939B6A08-BAE9-443B-9011-9E1838540A31}"/>
              </a:ext>
            </a:extLst>
          </p:cNvPr>
          <p:cNvSpPr/>
          <p:nvPr/>
        </p:nvSpPr>
        <p:spPr>
          <a:xfrm>
            <a:off x="611354" y="4123896"/>
            <a:ext cx="2015791" cy="2754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PostOpFusion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1279C066-453F-4A27-B37A-93470A2CC90B}"/>
              </a:ext>
            </a:extLst>
          </p:cNvPr>
          <p:cNvSpPr/>
          <p:nvPr/>
        </p:nvSpPr>
        <p:spPr>
          <a:xfrm>
            <a:off x="2627145" y="4124698"/>
            <a:ext cx="640776" cy="27541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ED2D9089-4C35-4EC5-85A2-A544E06399DF}"/>
              </a:ext>
            </a:extLst>
          </p:cNvPr>
          <p:cNvSpPr/>
          <p:nvPr/>
        </p:nvSpPr>
        <p:spPr>
          <a:xfrm>
            <a:off x="611354" y="5487548"/>
            <a:ext cx="2015791" cy="2754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MonoOpFusion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FD5BB88E-B17A-46D2-A8F7-99DAF8E92590}"/>
              </a:ext>
            </a:extLst>
          </p:cNvPr>
          <p:cNvSpPr/>
          <p:nvPr/>
        </p:nvSpPr>
        <p:spPr>
          <a:xfrm>
            <a:off x="2627145" y="5488350"/>
            <a:ext cx="640776" cy="27541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CCEF07DA-CA7E-4953-A814-F80A18797B37}"/>
              </a:ext>
            </a:extLst>
          </p:cNvPr>
          <p:cNvSpPr/>
          <p:nvPr/>
        </p:nvSpPr>
        <p:spPr>
          <a:xfrm>
            <a:off x="611354" y="6850401"/>
            <a:ext cx="2015791" cy="2754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VailPad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A84C3325-79EA-4EEE-AF75-D353058B6732}"/>
              </a:ext>
            </a:extLst>
          </p:cNvPr>
          <p:cNvSpPr/>
          <p:nvPr/>
        </p:nvSpPr>
        <p:spPr>
          <a:xfrm>
            <a:off x="2627145" y="6851203"/>
            <a:ext cx="640776" cy="27541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632AA897-45CD-41B9-933F-1777E8106F59}"/>
              </a:ext>
            </a:extLst>
          </p:cNvPr>
          <p:cNvSpPr/>
          <p:nvPr/>
        </p:nvSpPr>
        <p:spPr>
          <a:xfrm>
            <a:off x="611354" y="8214053"/>
            <a:ext cx="2015791" cy="2754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QOpFusion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439E7FF4-E307-49E3-97D8-290AECA27E42}"/>
              </a:ext>
            </a:extLst>
          </p:cNvPr>
          <p:cNvSpPr/>
          <p:nvPr/>
        </p:nvSpPr>
        <p:spPr>
          <a:xfrm>
            <a:off x="2627145" y="8214855"/>
            <a:ext cx="640776" cy="27541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3E719144-5329-45B6-9204-326383006FDD}"/>
              </a:ext>
            </a:extLst>
          </p:cNvPr>
          <p:cNvSpPr/>
          <p:nvPr/>
        </p:nvSpPr>
        <p:spPr>
          <a:xfrm>
            <a:off x="611354" y="9576906"/>
            <a:ext cx="2015791" cy="2754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GenericOpen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DCFD34E9-7A70-4288-846A-04969CB67C12}"/>
              </a:ext>
            </a:extLst>
          </p:cNvPr>
          <p:cNvSpPr/>
          <p:nvPr/>
        </p:nvSpPr>
        <p:spPr>
          <a:xfrm>
            <a:off x="2627145" y="9577708"/>
            <a:ext cx="640776" cy="27541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6D10F3-A31D-4B6A-BBAB-67DAF7A9BCC6}"/>
              </a:ext>
            </a:extLst>
          </p:cNvPr>
          <p:cNvSpPr txBox="1"/>
          <p:nvPr/>
        </p:nvSpPr>
        <p:spPr>
          <a:xfrm>
            <a:off x="720090" y="1803037"/>
            <a:ext cx="35737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/>
              <a:t>- quantize</a:t>
            </a:r>
            <a:r>
              <a:rPr lang="ko-KR" altLang="en-US" sz="800"/>
              <a:t>와 </a:t>
            </a:r>
            <a:r>
              <a:rPr lang="en-US" altLang="ko-KR" sz="800"/>
              <a:t>dequantize</a:t>
            </a:r>
            <a:r>
              <a:rPr lang="ko-KR" altLang="en-US" sz="800"/>
              <a:t>로 결합</a:t>
            </a:r>
            <a:endParaRPr lang="en-US" altLang="ko-KR" sz="800"/>
          </a:p>
          <a:p>
            <a:r>
              <a:rPr lang="en-US" altLang="ko-KR" sz="800"/>
              <a:t>- IREE</a:t>
            </a:r>
            <a:r>
              <a:rPr lang="ko-KR" altLang="en-US" sz="800"/>
              <a:t>의 정규식에 대해서는 대부분 구현되었다고 생각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8EB5CA9-7EFF-4CAC-8B4E-7E62D246BFE9}"/>
              </a:ext>
            </a:extLst>
          </p:cNvPr>
          <p:cNvSpPr txBox="1"/>
          <p:nvPr/>
        </p:nvSpPr>
        <p:spPr>
          <a:xfrm>
            <a:off x="611354" y="7161304"/>
            <a:ext cx="35737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/>
              <a:t>- IREE</a:t>
            </a:r>
            <a:r>
              <a:rPr lang="ko-KR" altLang="en-US" sz="800"/>
              <a:t>의 정규식에서 </a:t>
            </a:r>
            <a:r>
              <a:rPr lang="en-US" altLang="ko-KR" sz="800"/>
              <a:t>conv</a:t>
            </a:r>
            <a:r>
              <a:rPr lang="ko-KR" altLang="en-US" sz="800"/>
              <a:t>의 </a:t>
            </a:r>
            <a:r>
              <a:rPr lang="en-US" altLang="ko-KR" sz="800"/>
              <a:t>input</a:t>
            </a:r>
            <a:r>
              <a:rPr lang="ko-KR" altLang="en-US" sz="800"/>
              <a:t>은 </a:t>
            </a:r>
            <a:r>
              <a:rPr lang="en-US" altLang="ko-KR" sz="800"/>
              <a:t>pad</a:t>
            </a:r>
            <a:r>
              <a:rPr lang="ko-KR" altLang="en-US" sz="800"/>
              <a:t>가 결합된 형태</a:t>
            </a:r>
            <a:r>
              <a:rPr lang="en-US" altLang="ko-KR" sz="800"/>
              <a:t>. -&gt; pad</a:t>
            </a:r>
            <a:r>
              <a:rPr lang="ko-KR" altLang="en-US" sz="800"/>
              <a:t>를 분리하고</a:t>
            </a:r>
            <a:r>
              <a:rPr lang="en-US" altLang="ko-KR" sz="800"/>
              <a:t>, attributes</a:t>
            </a:r>
            <a:r>
              <a:rPr lang="ko-KR" altLang="en-US" sz="800"/>
              <a:t>로 넣음</a:t>
            </a:r>
            <a:endParaRPr lang="en-US" altLang="ko-KR" sz="800"/>
          </a:p>
          <a:p>
            <a:r>
              <a:rPr lang="en-US" altLang="ko-KR" sz="800"/>
              <a:t>- </a:t>
            </a:r>
            <a:r>
              <a:rPr lang="ko-KR" altLang="en-US" sz="800"/>
              <a:t>다른 </a:t>
            </a:r>
            <a:r>
              <a:rPr lang="en-US" altLang="ko-KR" sz="800"/>
              <a:t>ops</a:t>
            </a:r>
            <a:r>
              <a:rPr lang="ko-KR" altLang="en-US" sz="800"/>
              <a:t>에 대해서도 </a:t>
            </a:r>
            <a:r>
              <a:rPr lang="en-US" altLang="ko-KR" sz="800"/>
              <a:t>pad</a:t>
            </a:r>
            <a:r>
              <a:rPr lang="ko-KR" altLang="en-US" sz="800"/>
              <a:t>가 사용된다면 추가 개발 필요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469544E-702A-4AFB-AFF9-DE2631AAA33C}"/>
              </a:ext>
            </a:extLst>
          </p:cNvPr>
          <p:cNvSpPr txBox="1"/>
          <p:nvPr/>
        </p:nvSpPr>
        <p:spPr>
          <a:xfrm>
            <a:off x="611354" y="9887010"/>
            <a:ext cx="35737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/>
              <a:t>- Generic</a:t>
            </a:r>
            <a:r>
              <a:rPr lang="ko-KR" altLang="en-US" sz="800"/>
              <a:t>을 제거하며 내부 연산식을외부로 끌어냄</a:t>
            </a:r>
            <a:r>
              <a:rPr lang="en-US" altLang="ko-KR" sz="800"/>
              <a:t>.</a:t>
            </a:r>
          </a:p>
          <a:p>
            <a:r>
              <a:rPr lang="en-US" altLang="ko-KR" sz="800"/>
              <a:t>- </a:t>
            </a:r>
            <a:r>
              <a:rPr lang="ko-KR" altLang="en-US" sz="800"/>
              <a:t>조건 </a:t>
            </a:r>
            <a:r>
              <a:rPr lang="en-US" altLang="ko-KR" sz="800"/>
              <a:t>: generic </a:t>
            </a:r>
            <a:r>
              <a:rPr lang="ko-KR" altLang="en-US" sz="800"/>
              <a:t>내부의 </a:t>
            </a:r>
            <a:r>
              <a:rPr lang="en-US" altLang="ko-KR" sz="800"/>
              <a:t>Ops</a:t>
            </a:r>
            <a:r>
              <a:rPr lang="ko-KR" altLang="en-US" sz="800"/>
              <a:t>가 </a:t>
            </a:r>
            <a:r>
              <a:rPr lang="en-US" altLang="ko-KR" sz="800"/>
              <a:t>input output</a:t>
            </a:r>
            <a:r>
              <a:rPr lang="ko-KR" altLang="en-US" sz="800"/>
              <a:t>에 대해 </a:t>
            </a:r>
            <a:r>
              <a:rPr lang="en-US" altLang="ko-KR" sz="800"/>
              <a:t>scalar</a:t>
            </a:r>
            <a:r>
              <a:rPr lang="ko-KR" altLang="en-US" sz="800"/>
              <a:t>와 </a:t>
            </a:r>
            <a:r>
              <a:rPr lang="en-US" altLang="ko-KR" sz="800"/>
              <a:t>tensor </a:t>
            </a:r>
            <a:r>
              <a:rPr lang="ko-KR" altLang="en-US" sz="800"/>
              <a:t>모두 포함할 수 있어야 함</a:t>
            </a:r>
            <a:r>
              <a:rPr lang="en-US" altLang="ko-KR" sz="800"/>
              <a:t>. </a:t>
            </a:r>
          </a:p>
          <a:p>
            <a:r>
              <a:rPr lang="en-US" altLang="ko-KR" sz="800"/>
              <a:t>- </a:t>
            </a:r>
            <a:r>
              <a:rPr lang="ko-KR" altLang="en-US" sz="800"/>
              <a:t>이 패스는 더 수정할 필요가 없지만</a:t>
            </a:r>
            <a:r>
              <a:rPr lang="en-US" altLang="ko-KR" sz="800"/>
              <a:t>, generic</a:t>
            </a:r>
            <a:r>
              <a:rPr lang="ko-KR" altLang="en-US" sz="800"/>
              <a:t>을 사용할 수 있도록 앞선 패스들을 조정해야 할 필요는 있음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417FC67-A318-4CF5-9F01-6697783585B1}"/>
              </a:ext>
            </a:extLst>
          </p:cNvPr>
          <p:cNvSpPr txBox="1"/>
          <p:nvPr/>
        </p:nvSpPr>
        <p:spPr>
          <a:xfrm>
            <a:off x="4555006" y="3440718"/>
            <a:ext cx="23029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/>
              <a:t>(260220 update)</a:t>
            </a:r>
          </a:p>
          <a:p>
            <a:r>
              <a:rPr lang="en-US" altLang="ko-KR" sz="800" b="1"/>
              <a:t>yolo10_top3_qdq</a:t>
            </a:r>
            <a:r>
              <a:rPr lang="ko-KR" altLang="en-US" sz="800" b="1"/>
              <a:t>에 대해서는 모두 구현되었으나</a:t>
            </a:r>
            <a:r>
              <a:rPr lang="en-US" altLang="ko-KR" sz="800" b="1"/>
              <a:t>, </a:t>
            </a:r>
          </a:p>
          <a:p>
            <a:r>
              <a:rPr lang="ko-KR" altLang="en-US" sz="800" b="1"/>
              <a:t>다른 타겟 모델에 대해 지속적으로 업데이트 해야 함</a:t>
            </a:r>
          </a:p>
        </p:txBody>
      </p:sp>
      <p:cxnSp>
        <p:nvCxnSpPr>
          <p:cNvPr id="4" name="연결선: 구부러짐 3">
            <a:extLst>
              <a:ext uri="{FF2B5EF4-FFF2-40B4-BE49-F238E27FC236}">
                <a16:creationId xmlns:a16="http://schemas.microsoft.com/office/drawing/2014/main" id="{46AE9823-D189-427E-80FF-DC2EEA872FFA}"/>
              </a:ext>
            </a:extLst>
          </p:cNvPr>
          <p:cNvCxnSpPr>
            <a:endCxn id="69" idx="1"/>
          </p:cNvCxnSpPr>
          <p:nvPr/>
        </p:nvCxnSpPr>
        <p:spPr>
          <a:xfrm>
            <a:off x="3267921" y="2897152"/>
            <a:ext cx="1287085" cy="897509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연결선: 구부러짐 70">
            <a:extLst>
              <a:ext uri="{FF2B5EF4-FFF2-40B4-BE49-F238E27FC236}">
                <a16:creationId xmlns:a16="http://schemas.microsoft.com/office/drawing/2014/main" id="{24FCCBD5-9E80-4A9F-8061-C7A299764F08}"/>
              </a:ext>
            </a:extLst>
          </p:cNvPr>
          <p:cNvCxnSpPr>
            <a:cxnSpLocks/>
            <a:stCxn id="46" idx="3"/>
            <a:endCxn id="69" idx="1"/>
          </p:cNvCxnSpPr>
          <p:nvPr/>
        </p:nvCxnSpPr>
        <p:spPr>
          <a:xfrm flipV="1">
            <a:off x="3267921" y="3794661"/>
            <a:ext cx="1287085" cy="467743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연결선: 구부러짐 71">
            <a:extLst>
              <a:ext uri="{FF2B5EF4-FFF2-40B4-BE49-F238E27FC236}">
                <a16:creationId xmlns:a16="http://schemas.microsoft.com/office/drawing/2014/main" id="{B4D2D5EF-A537-4771-B721-0CD1F138D75A}"/>
              </a:ext>
            </a:extLst>
          </p:cNvPr>
          <p:cNvCxnSpPr>
            <a:cxnSpLocks/>
            <a:stCxn id="53" idx="3"/>
            <a:endCxn id="69" idx="1"/>
          </p:cNvCxnSpPr>
          <p:nvPr/>
        </p:nvCxnSpPr>
        <p:spPr>
          <a:xfrm flipV="1">
            <a:off x="3267921" y="3794661"/>
            <a:ext cx="1287085" cy="183139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연결선: 구부러짐 72">
            <a:extLst>
              <a:ext uri="{FF2B5EF4-FFF2-40B4-BE49-F238E27FC236}">
                <a16:creationId xmlns:a16="http://schemas.microsoft.com/office/drawing/2014/main" id="{2E991225-1851-4ABA-BB61-FEBDE47ECD42}"/>
              </a:ext>
            </a:extLst>
          </p:cNvPr>
          <p:cNvCxnSpPr>
            <a:cxnSpLocks/>
            <a:stCxn id="64" idx="3"/>
            <a:endCxn id="69" idx="1"/>
          </p:cNvCxnSpPr>
          <p:nvPr/>
        </p:nvCxnSpPr>
        <p:spPr>
          <a:xfrm flipV="1">
            <a:off x="3267921" y="3794661"/>
            <a:ext cx="1287085" cy="455790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FAEEF65-10C7-43A6-A53B-64EB35C112FC}"/>
              </a:ext>
            </a:extLst>
          </p:cNvPr>
          <p:cNvSpPr/>
          <p:nvPr/>
        </p:nvSpPr>
        <p:spPr>
          <a:xfrm>
            <a:off x="611354" y="10973650"/>
            <a:ext cx="2015791" cy="2754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ExitIREE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D9AEA89-F8A9-439C-AB49-8E2F1A23A905}"/>
              </a:ext>
            </a:extLst>
          </p:cNvPr>
          <p:cNvSpPr/>
          <p:nvPr/>
        </p:nvSpPr>
        <p:spPr>
          <a:xfrm>
            <a:off x="2627145" y="10973801"/>
            <a:ext cx="640776" cy="27541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98D6B7D-FE7C-448D-9352-26043A74959E}"/>
              </a:ext>
            </a:extLst>
          </p:cNvPr>
          <p:cNvSpPr txBox="1"/>
          <p:nvPr/>
        </p:nvSpPr>
        <p:spPr>
          <a:xfrm>
            <a:off x="611354" y="11332244"/>
            <a:ext cx="3573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/>
              <a:t>- </a:t>
            </a:r>
            <a:r>
              <a:rPr lang="ko-KR" altLang="en-US" sz="800"/>
              <a:t>일부만 구현 됨</a:t>
            </a:r>
            <a:r>
              <a:rPr lang="en-US" altLang="ko-KR" sz="800"/>
              <a:t>. </a:t>
            </a:r>
            <a:endParaRPr lang="ko-KR" altLang="en-US" sz="800"/>
          </a:p>
        </p:txBody>
      </p:sp>
    </p:spTree>
    <p:extLst>
      <p:ext uri="{BB962C8B-B14F-4D97-AF65-F5344CB8AC3E}">
        <p14:creationId xmlns:p14="http://schemas.microsoft.com/office/powerpoint/2010/main" val="1986304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C42294A2-7D87-4991-8271-9B2C66B20B89}"/>
              </a:ext>
            </a:extLst>
          </p:cNvPr>
          <p:cNvSpPr/>
          <p:nvPr/>
        </p:nvSpPr>
        <p:spPr>
          <a:xfrm>
            <a:off x="2296009" y="3503090"/>
            <a:ext cx="2015791" cy="2754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1</a:t>
            </a:r>
            <a:r>
              <a:rPr lang="ko-KR" altLang="en-US" sz="1000">
                <a:solidFill>
                  <a:schemeClr val="tx1"/>
                </a:solidFill>
              </a:rPr>
              <a:t>순위 구현</a:t>
            </a:r>
          </a:p>
        </p:txBody>
      </p: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BB47274E-D2F1-45DF-AC90-AB1D672B958F}"/>
              </a:ext>
            </a:extLst>
          </p:cNvPr>
          <p:cNvSpPr/>
          <p:nvPr/>
        </p:nvSpPr>
        <p:spPr>
          <a:xfrm>
            <a:off x="4509509" y="3485453"/>
            <a:ext cx="640776" cy="27541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</a:rPr>
              <a:t>완성</a:t>
            </a:r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EE04C433-2BBF-4375-AC71-807CB1DBB574}"/>
              </a:ext>
            </a:extLst>
          </p:cNvPr>
          <p:cNvSpPr/>
          <p:nvPr/>
        </p:nvSpPr>
        <p:spPr>
          <a:xfrm>
            <a:off x="2296009" y="3864050"/>
            <a:ext cx="2015791" cy="27541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2</a:t>
            </a:r>
            <a:r>
              <a:rPr lang="ko-KR" altLang="en-US" sz="1000">
                <a:solidFill>
                  <a:schemeClr val="tx1"/>
                </a:solidFill>
              </a:rPr>
              <a:t>순위 구현</a:t>
            </a:r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92891D09-E426-4602-8F08-7AEBC183B3FE}"/>
              </a:ext>
            </a:extLst>
          </p:cNvPr>
          <p:cNvSpPr/>
          <p:nvPr/>
        </p:nvSpPr>
        <p:spPr>
          <a:xfrm>
            <a:off x="4509509" y="3846413"/>
            <a:ext cx="640776" cy="27541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</a:rPr>
              <a:t>최소구현</a:t>
            </a:r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38788297-D02F-4BE0-ACF3-FDDBF955E617}"/>
              </a:ext>
            </a:extLst>
          </p:cNvPr>
          <p:cNvSpPr/>
          <p:nvPr/>
        </p:nvSpPr>
        <p:spPr>
          <a:xfrm>
            <a:off x="2309146" y="4236965"/>
            <a:ext cx="2015791" cy="27541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3</a:t>
            </a:r>
            <a:r>
              <a:rPr lang="ko-KR" altLang="en-US" sz="1000">
                <a:solidFill>
                  <a:schemeClr val="tx1"/>
                </a:solidFill>
              </a:rPr>
              <a:t>순위 구현</a:t>
            </a:r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C9669444-F7E6-4A2D-ACFC-983B76200346}"/>
              </a:ext>
            </a:extLst>
          </p:cNvPr>
          <p:cNvSpPr/>
          <p:nvPr/>
        </p:nvSpPr>
        <p:spPr>
          <a:xfrm>
            <a:off x="4522646" y="4219328"/>
            <a:ext cx="640776" cy="2754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TODO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89A2E7FD-7CE5-4CD6-80BC-3F7CF6E4F69F}"/>
              </a:ext>
            </a:extLst>
          </p:cNvPr>
          <p:cNvSpPr/>
          <p:nvPr/>
        </p:nvSpPr>
        <p:spPr>
          <a:xfrm>
            <a:off x="2296009" y="3142127"/>
            <a:ext cx="2015791" cy="2754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</a:rPr>
              <a:t>구현 목록</a:t>
            </a: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33E3D7B5-52FF-4BF0-9865-2FDBA7AF2015}"/>
              </a:ext>
            </a:extLst>
          </p:cNvPr>
          <p:cNvSpPr/>
          <p:nvPr/>
        </p:nvSpPr>
        <p:spPr>
          <a:xfrm>
            <a:off x="4509509" y="3124490"/>
            <a:ext cx="640776" cy="2754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</a:rPr>
              <a:t>개발척도</a:t>
            </a:r>
          </a:p>
        </p:txBody>
      </p:sp>
    </p:spTree>
    <p:extLst>
      <p:ext uri="{BB962C8B-B14F-4D97-AF65-F5344CB8AC3E}">
        <p14:creationId xmlns:p14="http://schemas.microsoft.com/office/powerpoint/2010/main" val="3933136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F2A121C6-BEE8-4738-8922-8894D99F2177}"/>
              </a:ext>
            </a:extLst>
          </p:cNvPr>
          <p:cNvCxnSpPr/>
          <p:nvPr/>
        </p:nvCxnSpPr>
        <p:spPr>
          <a:xfrm>
            <a:off x="381000" y="3998487"/>
            <a:ext cx="6096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7374F25B-DD6F-44FB-AD96-E63624C45AF3}"/>
              </a:ext>
            </a:extLst>
          </p:cNvPr>
          <p:cNvCxnSpPr/>
          <p:nvPr/>
        </p:nvCxnSpPr>
        <p:spPr>
          <a:xfrm>
            <a:off x="381000" y="7515825"/>
            <a:ext cx="6096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732755C-DA09-40C0-9AEC-DA97A6C04BE4}"/>
              </a:ext>
            </a:extLst>
          </p:cNvPr>
          <p:cNvSpPr txBox="1"/>
          <p:nvPr/>
        </p:nvSpPr>
        <p:spPr>
          <a:xfrm>
            <a:off x="141550" y="1238128"/>
            <a:ext cx="2815772" cy="276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INF_CAP Layer (infetron-capability layer)</a:t>
            </a:r>
            <a:endParaRPr lang="ko-KR" altLang="en-US" sz="12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160D73-4970-461A-9958-22563D364635}"/>
              </a:ext>
            </a:extLst>
          </p:cNvPr>
          <p:cNvSpPr txBox="1"/>
          <p:nvPr/>
        </p:nvSpPr>
        <p:spPr>
          <a:xfrm>
            <a:off x="141550" y="4080841"/>
            <a:ext cx="2815772" cy="276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INF_ISA Layer (infetron-ISA layer)</a:t>
            </a:r>
            <a:endParaRPr lang="ko-KR" altLang="en-US" sz="12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3E492C-96F3-49C7-8187-8A17CC0C3B2E}"/>
              </a:ext>
            </a:extLst>
          </p:cNvPr>
          <p:cNvSpPr txBox="1"/>
          <p:nvPr/>
        </p:nvSpPr>
        <p:spPr>
          <a:xfrm>
            <a:off x="141550" y="7558695"/>
            <a:ext cx="2815772" cy="276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INF_EXP Layer (infetron-Export layer)</a:t>
            </a:r>
            <a:endParaRPr lang="ko-KR" altLang="en-US" sz="120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E9197D8-D3AC-481F-AB12-F6C24D502447}"/>
              </a:ext>
            </a:extLst>
          </p:cNvPr>
          <p:cNvSpPr/>
          <p:nvPr/>
        </p:nvSpPr>
        <p:spPr>
          <a:xfrm>
            <a:off x="1385217" y="4398276"/>
            <a:ext cx="2015791" cy="2754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To PCore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6E55AA7-4323-4136-ABB7-FE2B0AE99E41}"/>
              </a:ext>
            </a:extLst>
          </p:cNvPr>
          <p:cNvSpPr/>
          <p:nvPr/>
        </p:nvSpPr>
        <p:spPr>
          <a:xfrm>
            <a:off x="3401008" y="4399078"/>
            <a:ext cx="640776" cy="2754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4C170B2-42FE-4432-ACFA-4C4DF1610F05}"/>
              </a:ext>
            </a:extLst>
          </p:cNvPr>
          <p:cNvSpPr/>
          <p:nvPr/>
        </p:nvSpPr>
        <p:spPr>
          <a:xfrm>
            <a:off x="1385217" y="4945136"/>
            <a:ext cx="2015791" cy="27541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RecordLatency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CB5F9B9-DDDA-4A06-B8A3-1DD974CBD99E}"/>
              </a:ext>
            </a:extLst>
          </p:cNvPr>
          <p:cNvSpPr/>
          <p:nvPr/>
        </p:nvSpPr>
        <p:spPr>
          <a:xfrm>
            <a:off x="3401008" y="4945938"/>
            <a:ext cx="640776" cy="2754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C6F07B29-555C-4D82-A38B-25943C13F699}"/>
              </a:ext>
            </a:extLst>
          </p:cNvPr>
          <p:cNvSpPr/>
          <p:nvPr/>
        </p:nvSpPr>
        <p:spPr>
          <a:xfrm>
            <a:off x="1385217" y="5274977"/>
            <a:ext cx="2015791" cy="27541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SetOpPriority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C67F4DB-4472-4D09-BEC9-57C59390F984}"/>
              </a:ext>
            </a:extLst>
          </p:cNvPr>
          <p:cNvSpPr/>
          <p:nvPr/>
        </p:nvSpPr>
        <p:spPr>
          <a:xfrm>
            <a:off x="3401008" y="5275779"/>
            <a:ext cx="640776" cy="2754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88246CFF-47B2-4A48-B5A4-74458B7F8ABC}"/>
              </a:ext>
            </a:extLst>
          </p:cNvPr>
          <p:cNvSpPr/>
          <p:nvPr/>
        </p:nvSpPr>
        <p:spPr>
          <a:xfrm>
            <a:off x="4148858" y="3827433"/>
            <a:ext cx="2015791" cy="27541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To ACore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CB68DA58-414C-4A1C-B1FE-AD9530287392}"/>
              </a:ext>
            </a:extLst>
          </p:cNvPr>
          <p:cNvSpPr/>
          <p:nvPr/>
        </p:nvSpPr>
        <p:spPr>
          <a:xfrm>
            <a:off x="6164649" y="3828235"/>
            <a:ext cx="640776" cy="2754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C94AB98D-5DD0-43E9-9AA9-B1ED8D69333D}"/>
              </a:ext>
            </a:extLst>
          </p:cNvPr>
          <p:cNvSpPr/>
          <p:nvPr/>
        </p:nvSpPr>
        <p:spPr>
          <a:xfrm>
            <a:off x="4148858" y="4226042"/>
            <a:ext cx="2015791" cy="27541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FitToCore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B93DF95C-504E-480D-AAD4-5B57089EFB61}"/>
              </a:ext>
            </a:extLst>
          </p:cNvPr>
          <p:cNvSpPr/>
          <p:nvPr/>
        </p:nvSpPr>
        <p:spPr>
          <a:xfrm>
            <a:off x="6164649" y="4226844"/>
            <a:ext cx="640776" cy="2754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81596E46-A358-49BE-8E31-7B2849CCE512}"/>
              </a:ext>
            </a:extLst>
          </p:cNvPr>
          <p:cNvSpPr/>
          <p:nvPr/>
        </p:nvSpPr>
        <p:spPr>
          <a:xfrm>
            <a:off x="1371297" y="9167874"/>
            <a:ext cx="2015791" cy="2754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WeightBufferization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8C307A34-FFB1-439B-B2E1-6074D82A8441}"/>
              </a:ext>
            </a:extLst>
          </p:cNvPr>
          <p:cNvSpPr/>
          <p:nvPr/>
        </p:nvSpPr>
        <p:spPr>
          <a:xfrm>
            <a:off x="3387088" y="9168676"/>
            <a:ext cx="640776" cy="2754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FF1D71C3-8380-4EC2-8CB9-D8993F5F553C}"/>
              </a:ext>
            </a:extLst>
          </p:cNvPr>
          <p:cNvSpPr/>
          <p:nvPr/>
        </p:nvSpPr>
        <p:spPr>
          <a:xfrm>
            <a:off x="1389170" y="8660130"/>
            <a:ext cx="2015791" cy="2754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ISA BinGenerate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60856955-9A69-447B-A68A-74BC3763880D}"/>
              </a:ext>
            </a:extLst>
          </p:cNvPr>
          <p:cNvSpPr/>
          <p:nvPr/>
        </p:nvSpPr>
        <p:spPr>
          <a:xfrm>
            <a:off x="3404961" y="8660932"/>
            <a:ext cx="640776" cy="2754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88" name="왼쪽 중괄호 87">
            <a:extLst>
              <a:ext uri="{FF2B5EF4-FFF2-40B4-BE49-F238E27FC236}">
                <a16:creationId xmlns:a16="http://schemas.microsoft.com/office/drawing/2014/main" id="{0304C859-A350-4609-A73A-012FF716B4D0}"/>
              </a:ext>
            </a:extLst>
          </p:cNvPr>
          <p:cNvSpPr/>
          <p:nvPr/>
        </p:nvSpPr>
        <p:spPr>
          <a:xfrm>
            <a:off x="1016460" y="1732622"/>
            <a:ext cx="354956" cy="2128157"/>
          </a:xfrm>
          <a:prstGeom prst="leftBrace">
            <a:avLst>
              <a:gd name="adj1" fmla="val 152096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61E78192-5884-471D-A23E-476BC1A0B218}"/>
              </a:ext>
            </a:extLst>
          </p:cNvPr>
          <p:cNvSpPr txBox="1"/>
          <p:nvPr/>
        </p:nvSpPr>
        <p:spPr>
          <a:xfrm>
            <a:off x="-65630" y="2681214"/>
            <a:ext cx="11161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/>
              <a:t>IREE</a:t>
            </a:r>
            <a:r>
              <a:rPr lang="ko-KR" altLang="en-US" sz="1050"/>
              <a:t> </a:t>
            </a:r>
            <a:r>
              <a:rPr lang="en-US" altLang="ko-KR" sz="1050"/>
              <a:t>to CAP PP</a:t>
            </a:r>
            <a:endParaRPr lang="ko-KR" altLang="en-US" sz="105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AA514F4-529C-4C9F-ACA9-9BF118513596}"/>
              </a:ext>
            </a:extLst>
          </p:cNvPr>
          <p:cNvSpPr txBox="1"/>
          <p:nvPr/>
        </p:nvSpPr>
        <p:spPr>
          <a:xfrm>
            <a:off x="-159941" y="4412080"/>
            <a:ext cx="12801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/>
              <a:t>CAP to ISA PP</a:t>
            </a:r>
            <a:endParaRPr lang="ko-KR" altLang="en-US" sz="1050"/>
          </a:p>
        </p:txBody>
      </p:sp>
      <p:sp>
        <p:nvSpPr>
          <p:cNvPr id="92" name="왼쪽 중괄호 91">
            <a:extLst>
              <a:ext uri="{FF2B5EF4-FFF2-40B4-BE49-F238E27FC236}">
                <a16:creationId xmlns:a16="http://schemas.microsoft.com/office/drawing/2014/main" id="{3DC1F2BF-1585-40BE-9FB1-7519DBF47DD4}"/>
              </a:ext>
            </a:extLst>
          </p:cNvPr>
          <p:cNvSpPr/>
          <p:nvPr/>
        </p:nvSpPr>
        <p:spPr>
          <a:xfrm>
            <a:off x="1184510" y="4945135"/>
            <a:ext cx="200708" cy="1603061"/>
          </a:xfrm>
          <a:prstGeom prst="leftBrace">
            <a:avLst>
              <a:gd name="adj1" fmla="val 152096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7153FB6-7E80-41D0-8CC5-9DB5820C9335}"/>
              </a:ext>
            </a:extLst>
          </p:cNvPr>
          <p:cNvSpPr txBox="1"/>
          <p:nvPr/>
        </p:nvSpPr>
        <p:spPr>
          <a:xfrm>
            <a:off x="114300" y="5604249"/>
            <a:ext cx="103930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/>
              <a:t>Structural Scheduling PP</a:t>
            </a:r>
            <a:endParaRPr lang="ko-KR" altLang="en-US" sz="1050"/>
          </a:p>
        </p:txBody>
      </p:sp>
      <p:sp>
        <p:nvSpPr>
          <p:cNvPr id="98" name="왼쪽 중괄호 97">
            <a:extLst>
              <a:ext uri="{FF2B5EF4-FFF2-40B4-BE49-F238E27FC236}">
                <a16:creationId xmlns:a16="http://schemas.microsoft.com/office/drawing/2014/main" id="{2E187BBE-3447-4153-AD97-9B965916A3C0}"/>
              </a:ext>
            </a:extLst>
          </p:cNvPr>
          <p:cNvSpPr/>
          <p:nvPr/>
        </p:nvSpPr>
        <p:spPr>
          <a:xfrm>
            <a:off x="1242770" y="8033851"/>
            <a:ext cx="122448" cy="931673"/>
          </a:xfrm>
          <a:prstGeom prst="leftBrace">
            <a:avLst>
              <a:gd name="adj1" fmla="val 152096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2E74191C-00E8-491A-AE55-1D965C4009B5}"/>
              </a:ext>
            </a:extLst>
          </p:cNvPr>
          <p:cNvSpPr txBox="1"/>
          <p:nvPr/>
        </p:nvSpPr>
        <p:spPr>
          <a:xfrm>
            <a:off x="-48665" y="8368882"/>
            <a:ext cx="12801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/>
              <a:t>Core</a:t>
            </a:r>
            <a:r>
              <a:rPr lang="ko-KR" altLang="en-US" sz="1050"/>
              <a:t> </a:t>
            </a:r>
            <a:r>
              <a:rPr lang="en-US" altLang="ko-KR" sz="1050"/>
              <a:t>Bin</a:t>
            </a:r>
            <a:r>
              <a:rPr lang="ko-KR" altLang="en-US" sz="1050"/>
              <a:t> </a:t>
            </a:r>
            <a:r>
              <a:rPr lang="en-US" altLang="ko-KR" sz="1050"/>
              <a:t>Export</a:t>
            </a:r>
            <a:r>
              <a:rPr lang="ko-KR" altLang="en-US" sz="1050"/>
              <a:t> </a:t>
            </a:r>
            <a:r>
              <a:rPr lang="en-US" altLang="ko-KR" sz="1050"/>
              <a:t>PP</a:t>
            </a:r>
            <a:endParaRPr lang="ko-KR" altLang="en-US" sz="105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4F306FD5-DC43-45CA-B1D7-A229CE93053F}"/>
              </a:ext>
            </a:extLst>
          </p:cNvPr>
          <p:cNvSpPr txBox="1"/>
          <p:nvPr/>
        </p:nvSpPr>
        <p:spPr>
          <a:xfrm>
            <a:off x="360" y="9683369"/>
            <a:ext cx="12801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/>
              <a:t>Plan Export</a:t>
            </a:r>
            <a:r>
              <a:rPr lang="ko-KR" altLang="en-US" sz="1050"/>
              <a:t> </a:t>
            </a:r>
            <a:r>
              <a:rPr lang="en-US" altLang="ko-KR" sz="1050"/>
              <a:t>PP</a:t>
            </a:r>
            <a:endParaRPr lang="ko-KR" altLang="en-US" sz="1050"/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C42294A2-7D87-4991-8271-9B2C66B20B89}"/>
              </a:ext>
            </a:extLst>
          </p:cNvPr>
          <p:cNvSpPr/>
          <p:nvPr/>
        </p:nvSpPr>
        <p:spPr>
          <a:xfrm>
            <a:off x="3647014" y="282096"/>
            <a:ext cx="2015791" cy="2754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1</a:t>
            </a:r>
            <a:r>
              <a:rPr lang="ko-KR" altLang="en-US" sz="1000">
                <a:solidFill>
                  <a:schemeClr val="tx1"/>
                </a:solidFill>
              </a:rPr>
              <a:t>순위 구현</a:t>
            </a:r>
          </a:p>
        </p:txBody>
      </p: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BB47274E-D2F1-45DF-AC90-AB1D672B958F}"/>
              </a:ext>
            </a:extLst>
          </p:cNvPr>
          <p:cNvSpPr/>
          <p:nvPr/>
        </p:nvSpPr>
        <p:spPr>
          <a:xfrm>
            <a:off x="5662805" y="282898"/>
            <a:ext cx="640776" cy="27541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</a:rPr>
              <a:t>완성</a:t>
            </a:r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EE04C433-2BBF-4375-AC71-807CB1DBB574}"/>
              </a:ext>
            </a:extLst>
          </p:cNvPr>
          <p:cNvSpPr/>
          <p:nvPr/>
        </p:nvSpPr>
        <p:spPr>
          <a:xfrm>
            <a:off x="3647014" y="643056"/>
            <a:ext cx="2015791" cy="27541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2</a:t>
            </a:r>
            <a:r>
              <a:rPr lang="ko-KR" altLang="en-US" sz="1000">
                <a:solidFill>
                  <a:schemeClr val="tx1"/>
                </a:solidFill>
              </a:rPr>
              <a:t>순위 구현</a:t>
            </a:r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92891D09-E426-4602-8F08-7AEBC183B3FE}"/>
              </a:ext>
            </a:extLst>
          </p:cNvPr>
          <p:cNvSpPr/>
          <p:nvPr/>
        </p:nvSpPr>
        <p:spPr>
          <a:xfrm>
            <a:off x="5662805" y="643858"/>
            <a:ext cx="640776" cy="27541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</a:rPr>
              <a:t>미숙</a:t>
            </a:r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38788297-D02F-4BE0-ACF3-FDDBF955E617}"/>
              </a:ext>
            </a:extLst>
          </p:cNvPr>
          <p:cNvSpPr/>
          <p:nvPr/>
        </p:nvSpPr>
        <p:spPr>
          <a:xfrm>
            <a:off x="3660151" y="1015971"/>
            <a:ext cx="2015791" cy="27541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3</a:t>
            </a:r>
            <a:r>
              <a:rPr lang="ko-KR" altLang="en-US" sz="1000">
                <a:solidFill>
                  <a:schemeClr val="tx1"/>
                </a:solidFill>
              </a:rPr>
              <a:t>순위 구현</a:t>
            </a:r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C9669444-F7E6-4A2D-ACFC-983B76200346}"/>
              </a:ext>
            </a:extLst>
          </p:cNvPr>
          <p:cNvSpPr/>
          <p:nvPr/>
        </p:nvSpPr>
        <p:spPr>
          <a:xfrm>
            <a:off x="5675942" y="1016773"/>
            <a:ext cx="640776" cy="2754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TODO</a:t>
            </a:r>
            <a:endParaRPr lang="ko-KR" altLang="en-US" sz="1000">
              <a:solidFill>
                <a:schemeClr val="tx1"/>
              </a:solidFill>
            </a:endParaRPr>
          </a:p>
        </p:txBody>
      </p: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3025141E-9C8E-42BF-B32B-A35A71393C55}"/>
              </a:ext>
            </a:extLst>
          </p:cNvPr>
          <p:cNvCxnSpPr/>
          <p:nvPr/>
        </p:nvCxnSpPr>
        <p:spPr>
          <a:xfrm>
            <a:off x="3343275" y="0"/>
            <a:ext cx="0" cy="1470361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5" name="직선 연결선 124">
            <a:extLst>
              <a:ext uri="{FF2B5EF4-FFF2-40B4-BE49-F238E27FC236}">
                <a16:creationId xmlns:a16="http://schemas.microsoft.com/office/drawing/2014/main" id="{6BB1F334-32E4-4924-B81F-316C062CA1A7}"/>
              </a:ext>
            </a:extLst>
          </p:cNvPr>
          <p:cNvCxnSpPr>
            <a:cxnSpLocks/>
          </p:cNvCxnSpPr>
          <p:nvPr/>
        </p:nvCxnSpPr>
        <p:spPr>
          <a:xfrm flipH="1" flipV="1">
            <a:off x="3343276" y="1470361"/>
            <a:ext cx="3514724" cy="7993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349DAED7-7C16-419D-96B0-E497865E70C3}"/>
              </a:ext>
            </a:extLst>
          </p:cNvPr>
          <p:cNvSpPr/>
          <p:nvPr/>
        </p:nvSpPr>
        <p:spPr>
          <a:xfrm>
            <a:off x="188686" y="675724"/>
            <a:ext cx="2015791" cy="27541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custom flow dispatch region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61958EBF-8CF9-45B2-AC6F-4F36386C236E}"/>
              </a:ext>
            </a:extLst>
          </p:cNvPr>
          <p:cNvSpPr/>
          <p:nvPr/>
        </p:nvSpPr>
        <p:spPr>
          <a:xfrm>
            <a:off x="2204477" y="676526"/>
            <a:ext cx="640776" cy="27541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260205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31" name="TextBox 130">
            <a:hlinkClick r:id="rId2" action="ppaction://hlinkfile"/>
            <a:extLst>
              <a:ext uri="{FF2B5EF4-FFF2-40B4-BE49-F238E27FC236}">
                <a16:creationId xmlns:a16="http://schemas.microsoft.com/office/drawing/2014/main" id="{DAEF28D4-8E01-4CA6-B7E3-BE27ACDD7B0B}"/>
              </a:ext>
            </a:extLst>
          </p:cNvPr>
          <p:cNvSpPr txBox="1"/>
          <p:nvPr/>
        </p:nvSpPr>
        <p:spPr>
          <a:xfrm>
            <a:off x="114300" y="217331"/>
            <a:ext cx="2705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/>
              <a:t>Workload (260227 old)</a:t>
            </a:r>
            <a:endParaRPr lang="ko-KR" altLang="en-US" b="1"/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3C1DC86F-3DF0-4373-85D0-650269296BF5}"/>
              </a:ext>
            </a:extLst>
          </p:cNvPr>
          <p:cNvSpPr/>
          <p:nvPr/>
        </p:nvSpPr>
        <p:spPr>
          <a:xfrm>
            <a:off x="1371415" y="1586460"/>
            <a:ext cx="2015791" cy="2754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QDQFusion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A9345CAE-10E7-40B3-9777-9EC24BD47F3B}"/>
              </a:ext>
            </a:extLst>
          </p:cNvPr>
          <p:cNvSpPr/>
          <p:nvPr/>
        </p:nvSpPr>
        <p:spPr>
          <a:xfrm>
            <a:off x="3387206" y="1587262"/>
            <a:ext cx="640776" cy="27541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1EEF7336-357A-44DD-96D1-C51E3C23E0DA}"/>
              </a:ext>
            </a:extLst>
          </p:cNvPr>
          <p:cNvSpPr/>
          <p:nvPr/>
        </p:nvSpPr>
        <p:spPr>
          <a:xfrm>
            <a:off x="1371415" y="1917100"/>
            <a:ext cx="2015791" cy="2754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OpFusion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BCAAB80A-6F37-4443-8137-6F7658190933}"/>
              </a:ext>
            </a:extLst>
          </p:cNvPr>
          <p:cNvSpPr/>
          <p:nvPr/>
        </p:nvSpPr>
        <p:spPr>
          <a:xfrm>
            <a:off x="3387206" y="1917902"/>
            <a:ext cx="640776" cy="27541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EC5D64E1-F1F6-47E3-813D-4203EBCDF1BE}"/>
              </a:ext>
            </a:extLst>
          </p:cNvPr>
          <p:cNvSpPr/>
          <p:nvPr/>
        </p:nvSpPr>
        <p:spPr>
          <a:xfrm>
            <a:off x="1371415" y="2251563"/>
            <a:ext cx="2015791" cy="2754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PostOpFusion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AFFD428D-C5D3-4C85-900C-130EFBAAA2FB}"/>
              </a:ext>
            </a:extLst>
          </p:cNvPr>
          <p:cNvSpPr/>
          <p:nvPr/>
        </p:nvSpPr>
        <p:spPr>
          <a:xfrm>
            <a:off x="3387206" y="2252365"/>
            <a:ext cx="640776" cy="27541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530BB15F-14F8-4913-89F1-30D38F2356B7}"/>
              </a:ext>
            </a:extLst>
          </p:cNvPr>
          <p:cNvSpPr/>
          <p:nvPr/>
        </p:nvSpPr>
        <p:spPr>
          <a:xfrm>
            <a:off x="1371415" y="2582809"/>
            <a:ext cx="2015791" cy="2754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MonoOpFusion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27086CA4-9F12-4239-B333-159F31EA60E8}"/>
              </a:ext>
            </a:extLst>
          </p:cNvPr>
          <p:cNvSpPr/>
          <p:nvPr/>
        </p:nvSpPr>
        <p:spPr>
          <a:xfrm>
            <a:off x="3387206" y="2583611"/>
            <a:ext cx="640776" cy="27541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5299ED1C-DBEC-419E-966F-24FF3A7356BF}"/>
              </a:ext>
            </a:extLst>
          </p:cNvPr>
          <p:cNvSpPr/>
          <p:nvPr/>
        </p:nvSpPr>
        <p:spPr>
          <a:xfrm>
            <a:off x="1376092" y="2918962"/>
            <a:ext cx="2015791" cy="2754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VailPad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A090D868-53B9-48B7-98AB-A79B08A2EC65}"/>
              </a:ext>
            </a:extLst>
          </p:cNvPr>
          <p:cNvSpPr/>
          <p:nvPr/>
        </p:nvSpPr>
        <p:spPr>
          <a:xfrm>
            <a:off x="3391883" y="2919764"/>
            <a:ext cx="640776" cy="27541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7EB54409-DCE4-47B3-BF6E-42AA16AC98A9}"/>
              </a:ext>
            </a:extLst>
          </p:cNvPr>
          <p:cNvSpPr/>
          <p:nvPr/>
        </p:nvSpPr>
        <p:spPr>
          <a:xfrm>
            <a:off x="1371415" y="3250749"/>
            <a:ext cx="2015791" cy="2754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QOpFusion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EF5E303A-807D-4781-95B6-A4DC7E1C754C}"/>
              </a:ext>
            </a:extLst>
          </p:cNvPr>
          <p:cNvSpPr/>
          <p:nvPr/>
        </p:nvSpPr>
        <p:spPr>
          <a:xfrm>
            <a:off x="3387206" y="3251551"/>
            <a:ext cx="640776" cy="27541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D8AE60AE-9AC5-40A4-A228-F9A7214CC03B}"/>
              </a:ext>
            </a:extLst>
          </p:cNvPr>
          <p:cNvSpPr/>
          <p:nvPr/>
        </p:nvSpPr>
        <p:spPr>
          <a:xfrm>
            <a:off x="1376092" y="3583281"/>
            <a:ext cx="2015791" cy="2754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GenericOpen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4577592B-A844-42B5-AC13-DAF8558D62E9}"/>
              </a:ext>
            </a:extLst>
          </p:cNvPr>
          <p:cNvSpPr/>
          <p:nvPr/>
        </p:nvSpPr>
        <p:spPr>
          <a:xfrm>
            <a:off x="3391883" y="3584083"/>
            <a:ext cx="640776" cy="27541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27AD2FAF-9B60-415D-8AF2-00EDB7D65BC9}"/>
              </a:ext>
            </a:extLst>
          </p:cNvPr>
          <p:cNvSpPr/>
          <p:nvPr/>
        </p:nvSpPr>
        <p:spPr>
          <a:xfrm>
            <a:off x="1385217" y="5611000"/>
            <a:ext cx="2015791" cy="27541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CoreArrange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2C2A1801-AB82-4F6B-9B84-65C40EFAE434}"/>
              </a:ext>
            </a:extLst>
          </p:cNvPr>
          <p:cNvSpPr/>
          <p:nvPr/>
        </p:nvSpPr>
        <p:spPr>
          <a:xfrm>
            <a:off x="3401008" y="5611802"/>
            <a:ext cx="640776" cy="2754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DDE108-FBB9-41B5-8BA3-6A59E79D1B57}"/>
              </a:ext>
            </a:extLst>
          </p:cNvPr>
          <p:cNvSpPr txBox="1"/>
          <p:nvPr/>
        </p:nvSpPr>
        <p:spPr>
          <a:xfrm>
            <a:off x="4118252" y="4855839"/>
            <a:ext cx="204216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/>
              <a:t>walk</a:t>
            </a:r>
            <a:r>
              <a:rPr lang="ko-KR" altLang="en-US" sz="700"/>
              <a:t> 사용</a:t>
            </a:r>
            <a:r>
              <a:rPr lang="en-US" altLang="ko-KR" sz="700"/>
              <a:t>) op</a:t>
            </a:r>
            <a:r>
              <a:rPr lang="ko-KR" altLang="en-US" sz="700"/>
              <a:t>별 </a:t>
            </a:r>
            <a:r>
              <a:rPr lang="en-US" altLang="ko-KR" sz="700"/>
              <a:t>latency </a:t>
            </a:r>
            <a:r>
              <a:rPr lang="ko-KR" altLang="en-US" sz="700"/>
              <a:t>기록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20DB98E2-84D7-4B6C-9C88-A4A7DFC84663}"/>
              </a:ext>
            </a:extLst>
          </p:cNvPr>
          <p:cNvSpPr txBox="1"/>
          <p:nvPr/>
        </p:nvSpPr>
        <p:spPr>
          <a:xfrm>
            <a:off x="4013542" y="5181191"/>
            <a:ext cx="23317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/>
              <a:t>walk, c++</a:t>
            </a:r>
            <a:r>
              <a:rPr lang="ko-KR" altLang="en-US" sz="700"/>
              <a:t>로 알고리즘</a:t>
            </a:r>
            <a:r>
              <a:rPr lang="en-US" altLang="ko-KR" sz="700"/>
              <a:t>) concat</a:t>
            </a:r>
            <a:r>
              <a:rPr lang="ko-KR" altLang="en-US" sz="700"/>
              <a:t>을 기준으로 </a:t>
            </a:r>
            <a:r>
              <a:rPr lang="en-US" altLang="ko-KR" sz="700"/>
              <a:t>region</a:t>
            </a:r>
            <a:r>
              <a:rPr lang="ko-KR" altLang="en-US" sz="700"/>
              <a:t>을 나눔</a:t>
            </a:r>
            <a:endParaRPr lang="en-US" altLang="ko-KR" sz="700"/>
          </a:p>
          <a:p>
            <a:r>
              <a:rPr lang="ko-KR" altLang="en-US" sz="700"/>
              <a:t>각 </a:t>
            </a:r>
            <a:r>
              <a:rPr lang="en-US" altLang="ko-KR" sz="700"/>
              <a:t>region</a:t>
            </a:r>
            <a:r>
              <a:rPr lang="ko-KR" altLang="en-US" sz="700"/>
              <a:t>에서 </a:t>
            </a:r>
            <a:r>
              <a:rPr lang="en-US" altLang="ko-KR" sz="700"/>
              <a:t>critical path</a:t>
            </a:r>
            <a:r>
              <a:rPr lang="ko-KR" altLang="en-US" sz="700"/>
              <a:t>를 찾아</a:t>
            </a:r>
            <a:r>
              <a:rPr lang="en-US" altLang="ko-KR" sz="700"/>
              <a:t>, </a:t>
            </a:r>
            <a:r>
              <a:rPr lang="ko-KR" altLang="en-US" sz="700"/>
              <a:t>우선순위 </a:t>
            </a:r>
            <a:r>
              <a:rPr lang="en-US" altLang="ko-KR" sz="700"/>
              <a:t>1</a:t>
            </a:r>
            <a:r>
              <a:rPr lang="ko-KR" altLang="en-US" sz="700"/>
              <a:t>순위 부여</a:t>
            </a:r>
            <a:endParaRPr lang="en-US" altLang="ko-KR" sz="700"/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142A804F-3FC7-49DF-9B33-27BA2B92923F}"/>
              </a:ext>
            </a:extLst>
          </p:cNvPr>
          <p:cNvSpPr/>
          <p:nvPr/>
        </p:nvSpPr>
        <p:spPr>
          <a:xfrm>
            <a:off x="1386655" y="5938526"/>
            <a:ext cx="2015791" cy="27541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CoreRearrange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AF5A9005-4201-42CA-A411-B1F4008E9E8E}"/>
              </a:ext>
            </a:extLst>
          </p:cNvPr>
          <p:cNvSpPr/>
          <p:nvPr/>
        </p:nvSpPr>
        <p:spPr>
          <a:xfrm>
            <a:off x="3402446" y="5939328"/>
            <a:ext cx="640776" cy="2754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9042E15E-825A-413D-8F14-DD3033556DE4}"/>
              </a:ext>
            </a:extLst>
          </p:cNvPr>
          <p:cNvSpPr txBox="1"/>
          <p:nvPr/>
        </p:nvSpPr>
        <p:spPr>
          <a:xfrm>
            <a:off x="4690093" y="3300983"/>
            <a:ext cx="204216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/>
              <a:t>pcore</a:t>
            </a:r>
            <a:r>
              <a:rPr lang="ko-KR" altLang="en-US" sz="700"/>
              <a:t>랑 </a:t>
            </a:r>
            <a:r>
              <a:rPr lang="en-US" altLang="ko-KR" sz="700"/>
              <a:t>acore</a:t>
            </a:r>
            <a:r>
              <a:rPr lang="ko-KR" altLang="en-US" sz="700"/>
              <a:t>는 </a:t>
            </a:r>
            <a:r>
              <a:rPr lang="en-US" altLang="ko-KR" sz="700"/>
              <a:t>pair</a:t>
            </a:r>
            <a:r>
              <a:rPr lang="ko-KR" altLang="en-US" sz="700"/>
              <a:t>라고 생각하고 진행</a:t>
            </a:r>
            <a:endParaRPr lang="en-US" altLang="ko-KR" sz="700"/>
          </a:p>
          <a:p>
            <a:r>
              <a:rPr lang="en-US" altLang="ko-KR" sz="700"/>
              <a:t>-&gt; pcore</a:t>
            </a:r>
            <a:r>
              <a:rPr lang="ko-KR" altLang="en-US" sz="700"/>
              <a:t>와 </a:t>
            </a:r>
            <a:r>
              <a:rPr lang="en-US" altLang="ko-KR" sz="700"/>
              <a:t>acore</a:t>
            </a:r>
            <a:r>
              <a:rPr lang="ko-KR" altLang="en-US" sz="700"/>
              <a:t>가 병렬로 컴퓨팅을 할 것 같지는 않음</a:t>
            </a:r>
            <a:r>
              <a:rPr lang="en-US" altLang="ko-KR" sz="700"/>
              <a:t>. </a:t>
            </a:r>
            <a:r>
              <a:rPr lang="ko-KR" altLang="en-US" sz="700"/>
              <a:t>병렬로 하더라도 규칙이 명확함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7278C40D-78B7-4FAF-B896-2F7837002C03}"/>
              </a:ext>
            </a:extLst>
          </p:cNvPr>
          <p:cNvSpPr txBox="1"/>
          <p:nvPr/>
        </p:nvSpPr>
        <p:spPr>
          <a:xfrm>
            <a:off x="4515979" y="4543273"/>
            <a:ext cx="236254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/>
              <a:t>데이터 포맷에 맞게 연산을 조정 </a:t>
            </a:r>
            <a:r>
              <a:rPr lang="en-US" altLang="ko-KR" sz="700"/>
              <a:t>(</a:t>
            </a:r>
            <a:r>
              <a:rPr lang="ko-KR" altLang="en-US" sz="700"/>
              <a:t>대표적으로 </a:t>
            </a:r>
            <a:r>
              <a:rPr lang="en-US" altLang="ko-KR" sz="700"/>
              <a:t>tiling)</a:t>
            </a:r>
            <a:endParaRPr lang="ko-KR" altLang="en-US" sz="700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4C5F7C30-282D-4BE0-B2A2-A5999C31917C}"/>
              </a:ext>
            </a:extLst>
          </p:cNvPr>
          <p:cNvSpPr txBox="1"/>
          <p:nvPr/>
        </p:nvSpPr>
        <p:spPr>
          <a:xfrm>
            <a:off x="4008572" y="5518592"/>
            <a:ext cx="23317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/>
              <a:t>core</a:t>
            </a:r>
            <a:r>
              <a:rPr lang="ko-KR" altLang="en-US" sz="700"/>
              <a:t>에 연산을 할당</a:t>
            </a:r>
            <a:r>
              <a:rPr lang="en-US" altLang="ko-KR" sz="700"/>
              <a:t>. </a:t>
            </a:r>
            <a:r>
              <a:rPr lang="ko-KR" altLang="en-US" sz="700"/>
              <a:t>아래의 우선순위로 연산 할당</a:t>
            </a:r>
            <a:endParaRPr lang="en-US" altLang="ko-KR" sz="700"/>
          </a:p>
          <a:p>
            <a:r>
              <a:rPr lang="en-US" altLang="ko-KR" sz="700"/>
              <a:t>1. critical path</a:t>
            </a:r>
            <a:r>
              <a:rPr lang="ko-KR" altLang="en-US" sz="700"/>
              <a:t>에 따른 우선순위에 따라 먼저 배치</a:t>
            </a:r>
            <a:endParaRPr lang="en-US" altLang="ko-KR" sz="700"/>
          </a:p>
          <a:p>
            <a:r>
              <a:rPr lang="en-US" altLang="ko-KR" sz="700"/>
              <a:t>2. </a:t>
            </a:r>
            <a:r>
              <a:rPr lang="ko-KR" altLang="en-US" sz="700"/>
              <a:t>연산이 긴 것을 노는 자리에 배치</a:t>
            </a:r>
            <a:endParaRPr lang="en-US" altLang="ko-KR" sz="700"/>
          </a:p>
          <a:p>
            <a:r>
              <a:rPr lang="en-US" altLang="ko-KR" sz="700"/>
              <a:t>3.  data locality</a:t>
            </a:r>
            <a:r>
              <a:rPr lang="ko-KR" altLang="en-US" sz="700"/>
              <a:t>를 보고 연산을 배치</a:t>
            </a:r>
            <a:endParaRPr lang="en-US" altLang="ko-KR" sz="70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4D03027D-541F-4E05-A886-E3A1F5C50DCC}"/>
              </a:ext>
            </a:extLst>
          </p:cNvPr>
          <p:cNvSpPr txBox="1"/>
          <p:nvPr/>
        </p:nvSpPr>
        <p:spPr>
          <a:xfrm>
            <a:off x="4060638" y="6035062"/>
            <a:ext cx="23317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/>
              <a:t>region</a:t>
            </a:r>
            <a:r>
              <a:rPr lang="ko-KR" altLang="en-US" sz="700"/>
              <a:t>과 </a:t>
            </a:r>
            <a:r>
              <a:rPr lang="en-US" altLang="ko-KR" sz="700"/>
              <a:t>region </a:t>
            </a:r>
            <a:r>
              <a:rPr lang="ko-KR" altLang="en-US" sz="700"/>
              <a:t>사이 연결지점에서 </a:t>
            </a:r>
            <a:r>
              <a:rPr lang="en-US" altLang="ko-KR" sz="700"/>
              <a:t>data locality</a:t>
            </a:r>
            <a:r>
              <a:rPr lang="ko-KR" altLang="en-US" sz="700"/>
              <a:t>를 보고 </a:t>
            </a:r>
            <a:r>
              <a:rPr lang="en-US" altLang="ko-KR" sz="700"/>
              <a:t>core</a:t>
            </a:r>
            <a:r>
              <a:rPr lang="ko-KR" altLang="en-US" sz="700"/>
              <a:t>에 할당한 연산 묶음을 재배치</a:t>
            </a:r>
            <a:endParaRPr lang="en-US" altLang="ko-KR" sz="700"/>
          </a:p>
        </p:txBody>
      </p: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6A588D42-C959-4026-AA09-3E52058C3F5D}"/>
              </a:ext>
            </a:extLst>
          </p:cNvPr>
          <p:cNvSpPr/>
          <p:nvPr/>
        </p:nvSpPr>
        <p:spPr>
          <a:xfrm>
            <a:off x="1385519" y="6669776"/>
            <a:ext cx="2015791" cy="27541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CreateDataMoveInfo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7807E4E9-3C79-4285-A576-AB878260D504}"/>
              </a:ext>
            </a:extLst>
          </p:cNvPr>
          <p:cNvSpPr/>
          <p:nvPr/>
        </p:nvSpPr>
        <p:spPr>
          <a:xfrm>
            <a:off x="3401310" y="6670578"/>
            <a:ext cx="640776" cy="2754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F7E1428D-F54D-4638-A135-2E46F81C15E0}"/>
              </a:ext>
            </a:extLst>
          </p:cNvPr>
          <p:cNvSpPr txBox="1"/>
          <p:nvPr/>
        </p:nvSpPr>
        <p:spPr>
          <a:xfrm>
            <a:off x="4088202" y="6854631"/>
            <a:ext cx="207221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/>
              <a:t>데이터 이동정보 </a:t>
            </a:r>
            <a:r>
              <a:rPr lang="en-US" altLang="ko-KR" sz="700"/>
              <a:t>(move : UB</a:t>
            </a:r>
            <a:r>
              <a:rPr lang="ko-KR" altLang="en-US" sz="700"/>
              <a:t>간 움직임</a:t>
            </a:r>
            <a:r>
              <a:rPr lang="en-US" altLang="ko-KR" sz="700"/>
              <a:t>, load/store: SM &lt;-&gt; UB </a:t>
            </a:r>
            <a:r>
              <a:rPr lang="ko-KR" altLang="en-US" sz="700"/>
              <a:t>간 데이터 이동</a:t>
            </a:r>
            <a:r>
              <a:rPr lang="en-US" altLang="ko-KR" sz="700"/>
              <a:t>)</a:t>
            </a:r>
            <a:r>
              <a:rPr lang="ko-KR" altLang="en-US" sz="700"/>
              <a:t>를 나타내는 </a:t>
            </a:r>
            <a:r>
              <a:rPr lang="en-US" altLang="ko-KR" sz="700"/>
              <a:t>ops </a:t>
            </a:r>
            <a:r>
              <a:rPr lang="ko-KR" altLang="en-US" sz="700"/>
              <a:t>추가</a:t>
            </a:r>
            <a:endParaRPr lang="en-US" altLang="ko-KR" sz="700"/>
          </a:p>
          <a:p>
            <a:r>
              <a:rPr lang="ko-KR" altLang="en-US" sz="700"/>
              <a:t>데이터의 위치를 타이트하게 관리</a:t>
            </a:r>
            <a:endParaRPr lang="en-US" altLang="ko-KR" sz="70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3DD6878B-F02D-452F-939B-ACEC6B9713E4}"/>
              </a:ext>
            </a:extLst>
          </p:cNvPr>
          <p:cNvSpPr txBox="1"/>
          <p:nvPr/>
        </p:nvSpPr>
        <p:spPr>
          <a:xfrm>
            <a:off x="4074282" y="9135511"/>
            <a:ext cx="20722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/>
              <a:t>arith.constant</a:t>
            </a:r>
            <a:r>
              <a:rPr lang="ko-KR" altLang="en-US" sz="700"/>
              <a:t>를 보고 </a:t>
            </a:r>
            <a:r>
              <a:rPr lang="en-US" altLang="ko-KR" sz="700"/>
              <a:t>SM</a:t>
            </a:r>
            <a:r>
              <a:rPr lang="ko-KR" altLang="en-US" sz="700"/>
              <a:t>에 저장할 </a:t>
            </a:r>
            <a:r>
              <a:rPr lang="en-US" altLang="ko-KR" sz="700"/>
              <a:t>weights</a:t>
            </a:r>
            <a:r>
              <a:rPr lang="ko-KR" altLang="en-US" sz="700"/>
              <a:t>를 정리</a:t>
            </a:r>
            <a:r>
              <a:rPr lang="en-US" altLang="ko-KR" sz="700"/>
              <a:t>, .wbin</a:t>
            </a:r>
            <a:r>
              <a:rPr lang="ko-KR" altLang="en-US" sz="700"/>
              <a:t>으로 저장</a:t>
            </a:r>
            <a:endParaRPr lang="en-US" altLang="ko-KR" sz="700"/>
          </a:p>
        </p:txBody>
      </p: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5B652090-1D89-4762-BB97-A55731C9677E}"/>
              </a:ext>
            </a:extLst>
          </p:cNvPr>
          <p:cNvSpPr/>
          <p:nvPr/>
        </p:nvSpPr>
        <p:spPr>
          <a:xfrm>
            <a:off x="1387768" y="8328886"/>
            <a:ext cx="2015791" cy="2754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CreateFinal ISA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7275A35E-E8BB-4062-B380-3BE7F59E6430}"/>
              </a:ext>
            </a:extLst>
          </p:cNvPr>
          <p:cNvSpPr/>
          <p:nvPr/>
        </p:nvSpPr>
        <p:spPr>
          <a:xfrm>
            <a:off x="3403559" y="8329688"/>
            <a:ext cx="640776" cy="2754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91CE738A-2451-4B1A-AB10-BB4005813B51}"/>
              </a:ext>
            </a:extLst>
          </p:cNvPr>
          <p:cNvSpPr txBox="1"/>
          <p:nvPr/>
        </p:nvSpPr>
        <p:spPr>
          <a:xfrm>
            <a:off x="4088202" y="8251227"/>
            <a:ext cx="207221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/>
              <a:t>주변 </a:t>
            </a:r>
            <a:r>
              <a:rPr lang="en-US" altLang="ko-KR" sz="700"/>
              <a:t>ops</a:t>
            </a:r>
            <a:r>
              <a:rPr lang="ko-KR" altLang="en-US" sz="700"/>
              <a:t>들을 결합하며</a:t>
            </a:r>
            <a:r>
              <a:rPr lang="en-US" altLang="ko-KR" sz="700"/>
              <a:t> </a:t>
            </a:r>
            <a:r>
              <a:rPr lang="ko-KR" altLang="en-US" sz="700"/>
              <a:t>문서에서 정의하는 </a:t>
            </a:r>
            <a:r>
              <a:rPr lang="en-US" altLang="ko-KR" sz="700"/>
              <a:t>ISA</a:t>
            </a:r>
            <a:r>
              <a:rPr lang="ko-KR" altLang="en-US" sz="700"/>
              <a:t>와 구조를 완벽히 일치</a:t>
            </a:r>
            <a:r>
              <a:rPr lang="en-US" altLang="ko-KR" sz="700"/>
              <a:t>, </a:t>
            </a:r>
            <a:r>
              <a:rPr lang="ko-KR" altLang="en-US" sz="700"/>
              <a:t>부족한 정보가 있을 경우 앞 쪽에 필요한 </a:t>
            </a:r>
            <a:r>
              <a:rPr lang="en-US" altLang="ko-KR" sz="700"/>
              <a:t>Pass</a:t>
            </a:r>
            <a:r>
              <a:rPr lang="ko-KR" altLang="en-US" sz="700"/>
              <a:t>를 추가로 정의</a:t>
            </a:r>
            <a:endParaRPr lang="en-US" altLang="ko-KR" sz="700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9FBF1609-1689-4D74-804F-FED3A9A8D707}"/>
              </a:ext>
            </a:extLst>
          </p:cNvPr>
          <p:cNvSpPr txBox="1"/>
          <p:nvPr/>
        </p:nvSpPr>
        <p:spPr>
          <a:xfrm>
            <a:off x="2233755" y="4025223"/>
            <a:ext cx="20722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/>
              <a:t>ISA</a:t>
            </a:r>
            <a:r>
              <a:rPr lang="ko-KR" altLang="en-US" sz="700"/>
              <a:t>의 </a:t>
            </a:r>
            <a:r>
              <a:rPr lang="en-US" altLang="ko-KR" sz="700"/>
              <a:t>opcode</a:t>
            </a:r>
            <a:r>
              <a:rPr lang="ko-KR" altLang="en-US" sz="700"/>
              <a:t>를 중심으로 제작</a:t>
            </a:r>
            <a:endParaRPr lang="en-US" altLang="ko-KR" sz="700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02FEE484-3054-4384-8B2D-40521C5D1941}"/>
              </a:ext>
            </a:extLst>
          </p:cNvPr>
          <p:cNvSpPr txBox="1"/>
          <p:nvPr/>
        </p:nvSpPr>
        <p:spPr>
          <a:xfrm>
            <a:off x="-80330" y="6643151"/>
            <a:ext cx="12801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/>
              <a:t>DataInfo PP</a:t>
            </a:r>
            <a:endParaRPr lang="ko-KR" altLang="en-US" sz="1050"/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5F95A9A0-1E09-4CDA-9C70-80ED323A7DA9}"/>
              </a:ext>
            </a:extLst>
          </p:cNvPr>
          <p:cNvSpPr txBox="1"/>
          <p:nvPr/>
        </p:nvSpPr>
        <p:spPr>
          <a:xfrm>
            <a:off x="4097727" y="8680402"/>
            <a:ext cx="20722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/>
              <a:t>ISA</a:t>
            </a:r>
            <a:r>
              <a:rPr lang="ko-KR" altLang="en-US" sz="700"/>
              <a:t>를 </a:t>
            </a:r>
            <a:r>
              <a:rPr lang="en-US" altLang="ko-KR" sz="700"/>
              <a:t>core</a:t>
            </a:r>
            <a:r>
              <a:rPr lang="ko-KR" altLang="en-US" sz="700"/>
              <a:t>별로 </a:t>
            </a:r>
            <a:r>
              <a:rPr lang="en-US" altLang="ko-KR" sz="700"/>
              <a:t>.cbin</a:t>
            </a:r>
            <a:r>
              <a:rPr lang="ko-KR" altLang="en-US" sz="700"/>
              <a:t>으로 저장</a:t>
            </a:r>
            <a:endParaRPr lang="en-US" altLang="ko-KR" sz="700"/>
          </a:p>
        </p:txBody>
      </p:sp>
      <p:sp>
        <p:nvSpPr>
          <p:cNvPr id="151" name="직사각형 150">
            <a:extLst>
              <a:ext uri="{FF2B5EF4-FFF2-40B4-BE49-F238E27FC236}">
                <a16:creationId xmlns:a16="http://schemas.microsoft.com/office/drawing/2014/main" id="{F36E99B2-4732-40CC-9B34-CC83A6B38F5B}"/>
              </a:ext>
            </a:extLst>
          </p:cNvPr>
          <p:cNvSpPr/>
          <p:nvPr/>
        </p:nvSpPr>
        <p:spPr>
          <a:xfrm>
            <a:off x="3399862" y="7064224"/>
            <a:ext cx="640776" cy="2754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8D4BC9DC-1CAC-4EDC-A725-15F088D8F0A9}"/>
              </a:ext>
            </a:extLst>
          </p:cNvPr>
          <p:cNvSpPr/>
          <p:nvPr/>
        </p:nvSpPr>
        <p:spPr>
          <a:xfrm>
            <a:off x="1384072" y="7062680"/>
            <a:ext cx="2015791" cy="27541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CopyOp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3D1EEFC1-F425-446B-AE19-E8868554D4AD}"/>
              </a:ext>
            </a:extLst>
          </p:cNvPr>
          <p:cNvSpPr/>
          <p:nvPr/>
        </p:nvSpPr>
        <p:spPr>
          <a:xfrm>
            <a:off x="6590325" y="2593692"/>
            <a:ext cx="1796879" cy="529062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rgbClr val="FF0000"/>
                </a:solidFill>
              </a:rPr>
              <a:t>A/P Core </a:t>
            </a:r>
            <a:r>
              <a:rPr lang="ko-KR" altLang="en-US" sz="1200">
                <a:solidFill>
                  <a:srgbClr val="FF0000"/>
                </a:solidFill>
              </a:rPr>
              <a:t>하드웨어 규격이 같은지</a:t>
            </a:r>
            <a:r>
              <a:rPr lang="en-US" altLang="ko-KR" sz="1200">
                <a:solidFill>
                  <a:srgbClr val="FF0000"/>
                </a:solidFill>
              </a:rPr>
              <a:t>?</a:t>
            </a:r>
            <a:endParaRPr lang="ko-KR" altLang="en-US" sz="1200">
              <a:solidFill>
                <a:srgbClr val="FF0000"/>
              </a:solidFill>
            </a:endParaRPr>
          </a:p>
        </p:txBody>
      </p:sp>
      <p:sp>
        <p:nvSpPr>
          <p:cNvPr id="156" name="타원 155">
            <a:extLst>
              <a:ext uri="{FF2B5EF4-FFF2-40B4-BE49-F238E27FC236}">
                <a16:creationId xmlns:a16="http://schemas.microsoft.com/office/drawing/2014/main" id="{E3BAB7AA-C7C7-4D7F-BCFC-93DC7CA0EBCD}"/>
              </a:ext>
            </a:extLst>
          </p:cNvPr>
          <p:cNvSpPr/>
          <p:nvPr/>
        </p:nvSpPr>
        <p:spPr>
          <a:xfrm>
            <a:off x="7228146" y="3208816"/>
            <a:ext cx="1796879" cy="529062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rgbClr val="FF0000"/>
                </a:solidFill>
              </a:rPr>
              <a:t>layer</a:t>
            </a:r>
            <a:r>
              <a:rPr lang="ko-KR" altLang="en-US" sz="1200">
                <a:solidFill>
                  <a:srgbClr val="FF0000"/>
                </a:solidFill>
              </a:rPr>
              <a:t>의 완벽한 정의</a:t>
            </a:r>
          </a:p>
        </p:txBody>
      </p:sp>
      <p:sp>
        <p:nvSpPr>
          <p:cNvPr id="157" name="타원 156">
            <a:extLst>
              <a:ext uri="{FF2B5EF4-FFF2-40B4-BE49-F238E27FC236}">
                <a16:creationId xmlns:a16="http://schemas.microsoft.com/office/drawing/2014/main" id="{0B7CF026-30BF-48BA-A604-EC0FAD80F99F}"/>
              </a:ext>
            </a:extLst>
          </p:cNvPr>
          <p:cNvSpPr/>
          <p:nvPr/>
        </p:nvSpPr>
        <p:spPr>
          <a:xfrm>
            <a:off x="6590324" y="7570832"/>
            <a:ext cx="1796879" cy="529062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rgbClr val="FF0000"/>
                </a:solidFill>
              </a:rPr>
              <a:t>연산</a:t>
            </a:r>
            <a:r>
              <a:rPr lang="en-US" altLang="ko-KR" sz="1200">
                <a:solidFill>
                  <a:srgbClr val="FF0000"/>
                </a:solidFill>
              </a:rPr>
              <a:t>, </a:t>
            </a:r>
            <a:r>
              <a:rPr lang="ko-KR" altLang="en-US" sz="1200">
                <a:solidFill>
                  <a:srgbClr val="FF0000"/>
                </a:solidFill>
              </a:rPr>
              <a:t>데이터 이동에 걸리는 시간</a:t>
            </a:r>
          </a:p>
        </p:txBody>
      </p:sp>
      <p:sp>
        <p:nvSpPr>
          <p:cNvPr id="159" name="직사각형 158">
            <a:extLst>
              <a:ext uri="{FF2B5EF4-FFF2-40B4-BE49-F238E27FC236}">
                <a16:creationId xmlns:a16="http://schemas.microsoft.com/office/drawing/2014/main" id="{429E767B-44C1-4464-9F8E-D71AF41004F3}"/>
              </a:ext>
            </a:extLst>
          </p:cNvPr>
          <p:cNvSpPr/>
          <p:nvPr/>
        </p:nvSpPr>
        <p:spPr>
          <a:xfrm>
            <a:off x="1371297" y="9658036"/>
            <a:ext cx="2015791" cy="2754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CreatePlan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60" name="직사각형 159">
            <a:extLst>
              <a:ext uri="{FF2B5EF4-FFF2-40B4-BE49-F238E27FC236}">
                <a16:creationId xmlns:a16="http://schemas.microsoft.com/office/drawing/2014/main" id="{42F79087-A2DC-4822-8F70-E5FD4DC22AC4}"/>
              </a:ext>
            </a:extLst>
          </p:cNvPr>
          <p:cNvSpPr/>
          <p:nvPr/>
        </p:nvSpPr>
        <p:spPr>
          <a:xfrm>
            <a:off x="3387088" y="9658838"/>
            <a:ext cx="640776" cy="2754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3674860F-343F-496D-BFF7-C1284CCE4404}"/>
              </a:ext>
            </a:extLst>
          </p:cNvPr>
          <p:cNvSpPr txBox="1"/>
          <p:nvPr/>
        </p:nvSpPr>
        <p:spPr>
          <a:xfrm>
            <a:off x="-64772" y="9155879"/>
            <a:ext cx="145566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/>
              <a:t>Weight</a:t>
            </a:r>
            <a:r>
              <a:rPr lang="ko-KR" altLang="en-US" sz="1050"/>
              <a:t> </a:t>
            </a:r>
            <a:r>
              <a:rPr lang="en-US" altLang="ko-KR" sz="1050"/>
              <a:t>Bin</a:t>
            </a:r>
            <a:r>
              <a:rPr lang="ko-KR" altLang="en-US" sz="1050"/>
              <a:t> </a:t>
            </a:r>
            <a:r>
              <a:rPr lang="en-US" altLang="ko-KR" sz="1050"/>
              <a:t>Export</a:t>
            </a:r>
            <a:r>
              <a:rPr lang="ko-KR" altLang="en-US" sz="1050"/>
              <a:t> </a:t>
            </a:r>
            <a:r>
              <a:rPr lang="en-US" altLang="ko-KR" sz="1050"/>
              <a:t>PP</a:t>
            </a:r>
            <a:endParaRPr lang="ko-KR" altLang="en-US" sz="105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343E21A9-A8EB-4140-853F-49317AF2AEA8}"/>
              </a:ext>
            </a:extLst>
          </p:cNvPr>
          <p:cNvSpPr txBox="1"/>
          <p:nvPr/>
        </p:nvSpPr>
        <p:spPr>
          <a:xfrm>
            <a:off x="4118134" y="9658036"/>
            <a:ext cx="20722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/>
              <a:t>Plan.json </a:t>
            </a:r>
            <a:r>
              <a:rPr lang="ko-KR" altLang="en-US" sz="700"/>
              <a:t>생성</a:t>
            </a:r>
            <a:endParaRPr lang="en-US" altLang="ko-KR" sz="700"/>
          </a:p>
        </p:txBody>
      </p:sp>
      <p:sp>
        <p:nvSpPr>
          <p:cNvPr id="31" name="화살표: 오른쪽 30">
            <a:extLst>
              <a:ext uri="{FF2B5EF4-FFF2-40B4-BE49-F238E27FC236}">
                <a16:creationId xmlns:a16="http://schemas.microsoft.com/office/drawing/2014/main" id="{84EA6701-50E9-4028-888A-28A3350A6DB8}"/>
              </a:ext>
            </a:extLst>
          </p:cNvPr>
          <p:cNvSpPr/>
          <p:nvPr/>
        </p:nvSpPr>
        <p:spPr>
          <a:xfrm>
            <a:off x="164961" y="10241744"/>
            <a:ext cx="1185511" cy="610141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17DAFCD-B058-4284-AB91-94220A569C00}"/>
              </a:ext>
            </a:extLst>
          </p:cNvPr>
          <p:cNvSpPr txBox="1"/>
          <p:nvPr/>
        </p:nvSpPr>
        <p:spPr>
          <a:xfrm>
            <a:off x="1438442" y="9958904"/>
            <a:ext cx="365261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결과물</a:t>
            </a:r>
            <a:endParaRPr lang="en-US" altLang="ko-KR"/>
          </a:p>
          <a:p>
            <a:r>
              <a:rPr lang="en-US" altLang="ko-KR"/>
              <a:t>- binary : out_bin.ihnn</a:t>
            </a:r>
          </a:p>
          <a:p>
            <a:r>
              <a:rPr lang="en-US" altLang="ko-KR"/>
              <a:t>- plan : plan.json</a:t>
            </a:r>
          </a:p>
          <a:p>
            <a:r>
              <a:rPr lang="en-US" altLang="ko-KR"/>
              <a:t>- out.mlir =&gt; sub</a:t>
            </a:r>
            <a:r>
              <a:rPr lang="ko-KR" altLang="en-US"/>
              <a:t> </a:t>
            </a:r>
            <a:r>
              <a:rPr lang="en-US" altLang="ko-KR"/>
              <a:t>tool</a:t>
            </a:r>
            <a:r>
              <a:rPr lang="ko-KR" altLang="en-US"/>
              <a:t>을 결합하여 </a:t>
            </a:r>
            <a:r>
              <a:rPr lang="en-US" altLang="ko-KR"/>
              <a:t>profile + Debug </a:t>
            </a:r>
            <a:r>
              <a:rPr lang="ko-KR" altLang="en-US"/>
              <a:t>파일 생성</a:t>
            </a:r>
          </a:p>
        </p:txBody>
      </p: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48462175-3CAC-42CA-82AA-39E2F2F01A3E}"/>
              </a:ext>
            </a:extLst>
          </p:cNvPr>
          <p:cNvSpPr/>
          <p:nvPr/>
        </p:nvSpPr>
        <p:spPr>
          <a:xfrm>
            <a:off x="4709281" y="11195615"/>
            <a:ext cx="2015791" cy="6139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Runtime </a:t>
            </a:r>
            <a:r>
              <a:rPr lang="ko-KR" altLang="en-US" sz="1000">
                <a:solidFill>
                  <a:schemeClr val="tx1"/>
                </a:solidFill>
              </a:rPr>
              <a:t>제작</a:t>
            </a: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E5908F4E-8E7D-44AA-87F0-418EF4FD3C14}"/>
              </a:ext>
            </a:extLst>
          </p:cNvPr>
          <p:cNvCxnSpPr/>
          <p:nvPr/>
        </p:nvCxnSpPr>
        <p:spPr>
          <a:xfrm flipH="1">
            <a:off x="2845253" y="9709001"/>
            <a:ext cx="4042679" cy="2482999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EAAC5B14-4ADB-4B5F-9E76-0C50AC7F8E9F}"/>
              </a:ext>
            </a:extLst>
          </p:cNvPr>
          <p:cNvSpPr txBox="1"/>
          <p:nvPr/>
        </p:nvSpPr>
        <p:spPr>
          <a:xfrm>
            <a:off x="-37557" y="7083765"/>
            <a:ext cx="135977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/>
              <a:t>Data-Flow Aligner PP</a:t>
            </a:r>
            <a:endParaRPr lang="ko-KR" altLang="en-US" sz="1050"/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CC328C71-DBD4-4AB0-91EA-DA39473727ED}"/>
              </a:ext>
            </a:extLst>
          </p:cNvPr>
          <p:cNvSpPr/>
          <p:nvPr/>
        </p:nvSpPr>
        <p:spPr>
          <a:xfrm>
            <a:off x="1384072" y="6274020"/>
            <a:ext cx="2015791" cy="27541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CreateStall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69" name="직사각형 168">
            <a:extLst>
              <a:ext uri="{FF2B5EF4-FFF2-40B4-BE49-F238E27FC236}">
                <a16:creationId xmlns:a16="http://schemas.microsoft.com/office/drawing/2014/main" id="{C55CAED6-6D1C-4198-88BE-A96757FEB5DA}"/>
              </a:ext>
            </a:extLst>
          </p:cNvPr>
          <p:cNvSpPr/>
          <p:nvPr/>
        </p:nvSpPr>
        <p:spPr>
          <a:xfrm>
            <a:off x="3399863" y="6274822"/>
            <a:ext cx="640776" cy="2754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4C66EFFA-9FDB-4AC7-A065-814BEF0A7404}"/>
              </a:ext>
            </a:extLst>
          </p:cNvPr>
          <p:cNvSpPr txBox="1"/>
          <p:nvPr/>
        </p:nvSpPr>
        <p:spPr>
          <a:xfrm>
            <a:off x="4040638" y="6271809"/>
            <a:ext cx="23691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/>
              <a:t>virtual stall </a:t>
            </a:r>
            <a:r>
              <a:rPr lang="ko-KR" altLang="en-US" sz="700"/>
              <a:t>삽입</a:t>
            </a:r>
            <a:r>
              <a:rPr lang="en-US" altLang="ko-KR" sz="700"/>
              <a:t>. </a:t>
            </a:r>
            <a:r>
              <a:rPr lang="ko-KR" altLang="en-US" sz="700"/>
              <a:t>계산에만 사용하고 최종 바이너리에서 </a:t>
            </a:r>
            <a:r>
              <a:rPr lang="en-US" altLang="ko-KR" sz="700"/>
              <a:t>stall</a:t>
            </a:r>
            <a:r>
              <a:rPr lang="ko-KR" altLang="en-US" sz="700"/>
              <a:t>은 삭제</a:t>
            </a:r>
            <a:r>
              <a:rPr lang="en-US" altLang="ko-KR" sz="700"/>
              <a:t>. stall</a:t>
            </a:r>
            <a:r>
              <a:rPr lang="ko-KR" altLang="en-US" sz="700"/>
              <a:t>을 확인하고 최적화를 하기 위해 추가함</a:t>
            </a:r>
            <a:endParaRPr lang="en-US" altLang="ko-KR" sz="700"/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9F9F1231-AEE6-4C79-8095-3029F927BE6A}"/>
              </a:ext>
            </a:extLst>
          </p:cNvPr>
          <p:cNvSpPr txBox="1"/>
          <p:nvPr/>
        </p:nvSpPr>
        <p:spPr>
          <a:xfrm>
            <a:off x="4097727" y="8009871"/>
            <a:ext cx="20722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/>
              <a:t>stall</a:t>
            </a:r>
            <a:r>
              <a:rPr lang="ko-KR" altLang="en-US" sz="700"/>
              <a:t>은 최적화에 이미 모두 활용되었으므로 삭제</a:t>
            </a:r>
            <a:endParaRPr lang="en-US" altLang="ko-KR" sz="700"/>
          </a:p>
        </p:txBody>
      </p: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9635146A-16EE-44CC-8C9D-D4C52D0E7B3B}"/>
              </a:ext>
            </a:extLst>
          </p:cNvPr>
          <p:cNvSpPr/>
          <p:nvPr/>
        </p:nvSpPr>
        <p:spPr>
          <a:xfrm>
            <a:off x="1398427" y="8009069"/>
            <a:ext cx="2015791" cy="27541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DestroyStall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BC5FBB6E-7208-49EC-AF19-13A00AA69095}"/>
              </a:ext>
            </a:extLst>
          </p:cNvPr>
          <p:cNvSpPr/>
          <p:nvPr/>
        </p:nvSpPr>
        <p:spPr>
          <a:xfrm>
            <a:off x="3414218" y="8009871"/>
            <a:ext cx="640776" cy="2754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5308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F2A121C6-BEE8-4738-8922-8894D99F2177}"/>
              </a:ext>
            </a:extLst>
          </p:cNvPr>
          <p:cNvCxnSpPr/>
          <p:nvPr/>
        </p:nvCxnSpPr>
        <p:spPr>
          <a:xfrm>
            <a:off x="381000" y="3998487"/>
            <a:ext cx="6096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7374F25B-DD6F-44FB-AD96-E63624C45AF3}"/>
              </a:ext>
            </a:extLst>
          </p:cNvPr>
          <p:cNvCxnSpPr/>
          <p:nvPr/>
        </p:nvCxnSpPr>
        <p:spPr>
          <a:xfrm>
            <a:off x="381000" y="7091619"/>
            <a:ext cx="6096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732755C-DA09-40C0-9AEC-DA97A6C04BE4}"/>
              </a:ext>
            </a:extLst>
          </p:cNvPr>
          <p:cNvSpPr txBox="1"/>
          <p:nvPr/>
        </p:nvSpPr>
        <p:spPr>
          <a:xfrm>
            <a:off x="188686" y="1238128"/>
            <a:ext cx="2815772" cy="276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INF_CAP Layer (infetron-capability layer)</a:t>
            </a:r>
            <a:endParaRPr lang="ko-KR" altLang="en-US" sz="12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160D73-4970-461A-9958-22563D364635}"/>
              </a:ext>
            </a:extLst>
          </p:cNvPr>
          <p:cNvSpPr txBox="1"/>
          <p:nvPr/>
        </p:nvSpPr>
        <p:spPr>
          <a:xfrm>
            <a:off x="188686" y="4080841"/>
            <a:ext cx="2815772" cy="276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INF_ISA Layer (infetron-ISA layer)</a:t>
            </a:r>
            <a:endParaRPr lang="ko-KR" altLang="en-US" sz="12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3E492C-96F3-49C7-8187-8A17CC0C3B2E}"/>
              </a:ext>
            </a:extLst>
          </p:cNvPr>
          <p:cNvSpPr txBox="1"/>
          <p:nvPr/>
        </p:nvSpPr>
        <p:spPr>
          <a:xfrm>
            <a:off x="188686" y="7200476"/>
            <a:ext cx="2815772" cy="276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INF_EXP Layer (infetron-Export layer)</a:t>
            </a:r>
            <a:endParaRPr lang="ko-KR" altLang="en-US" sz="120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E9197D8-D3AC-481F-AB12-F6C24D502447}"/>
              </a:ext>
            </a:extLst>
          </p:cNvPr>
          <p:cNvSpPr/>
          <p:nvPr/>
        </p:nvSpPr>
        <p:spPr>
          <a:xfrm>
            <a:off x="2101659" y="4398276"/>
            <a:ext cx="2015791" cy="2754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To PCore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6E55AA7-4323-4136-ABB7-FE2B0AE99E41}"/>
              </a:ext>
            </a:extLst>
          </p:cNvPr>
          <p:cNvSpPr/>
          <p:nvPr/>
        </p:nvSpPr>
        <p:spPr>
          <a:xfrm>
            <a:off x="4117450" y="4399078"/>
            <a:ext cx="640776" cy="2754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4C170B2-42FE-4432-ACFA-4C4DF1610F05}"/>
              </a:ext>
            </a:extLst>
          </p:cNvPr>
          <p:cNvSpPr/>
          <p:nvPr/>
        </p:nvSpPr>
        <p:spPr>
          <a:xfrm>
            <a:off x="2101659" y="4945136"/>
            <a:ext cx="2015791" cy="27541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RecordLatency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CB5F9B9-DDDA-4A06-B8A3-1DD974CBD99E}"/>
              </a:ext>
            </a:extLst>
          </p:cNvPr>
          <p:cNvSpPr/>
          <p:nvPr/>
        </p:nvSpPr>
        <p:spPr>
          <a:xfrm>
            <a:off x="4117450" y="4945938"/>
            <a:ext cx="640776" cy="2754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C6F07B29-555C-4D82-A38B-25943C13F699}"/>
              </a:ext>
            </a:extLst>
          </p:cNvPr>
          <p:cNvSpPr/>
          <p:nvPr/>
        </p:nvSpPr>
        <p:spPr>
          <a:xfrm>
            <a:off x="2101659" y="5274977"/>
            <a:ext cx="2015791" cy="27541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SetOpPriority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C67F4DB-4472-4D09-BEC9-57C59390F984}"/>
              </a:ext>
            </a:extLst>
          </p:cNvPr>
          <p:cNvSpPr/>
          <p:nvPr/>
        </p:nvSpPr>
        <p:spPr>
          <a:xfrm>
            <a:off x="4117450" y="5275779"/>
            <a:ext cx="640776" cy="2754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88246CFF-47B2-4A48-B5A4-74458B7F8ABC}"/>
              </a:ext>
            </a:extLst>
          </p:cNvPr>
          <p:cNvSpPr/>
          <p:nvPr/>
        </p:nvSpPr>
        <p:spPr>
          <a:xfrm>
            <a:off x="5295685" y="3705687"/>
            <a:ext cx="2015791" cy="27541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To ACore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CB68DA58-414C-4A1C-B1FE-AD9530287392}"/>
              </a:ext>
            </a:extLst>
          </p:cNvPr>
          <p:cNvSpPr/>
          <p:nvPr/>
        </p:nvSpPr>
        <p:spPr>
          <a:xfrm>
            <a:off x="7311476" y="3706489"/>
            <a:ext cx="640776" cy="2754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C94AB98D-5DD0-43E9-9AA9-B1ED8D69333D}"/>
              </a:ext>
            </a:extLst>
          </p:cNvPr>
          <p:cNvSpPr/>
          <p:nvPr/>
        </p:nvSpPr>
        <p:spPr>
          <a:xfrm>
            <a:off x="5295685" y="4104296"/>
            <a:ext cx="2015791" cy="27541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FitToCore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B93DF95C-504E-480D-AAD4-5B57089EFB61}"/>
              </a:ext>
            </a:extLst>
          </p:cNvPr>
          <p:cNvSpPr/>
          <p:nvPr/>
        </p:nvSpPr>
        <p:spPr>
          <a:xfrm>
            <a:off x="7311476" y="4105098"/>
            <a:ext cx="640776" cy="2754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81596E46-A358-49BE-8E31-7B2849CCE512}"/>
              </a:ext>
            </a:extLst>
          </p:cNvPr>
          <p:cNvSpPr/>
          <p:nvPr/>
        </p:nvSpPr>
        <p:spPr>
          <a:xfrm>
            <a:off x="2087739" y="8498572"/>
            <a:ext cx="2015791" cy="2754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WeightBufferization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8C307A34-FFB1-439B-B2E1-6074D82A8441}"/>
              </a:ext>
            </a:extLst>
          </p:cNvPr>
          <p:cNvSpPr/>
          <p:nvPr/>
        </p:nvSpPr>
        <p:spPr>
          <a:xfrm>
            <a:off x="4103530" y="8499374"/>
            <a:ext cx="640776" cy="2754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FF1D71C3-8380-4EC2-8CB9-D8993F5F553C}"/>
              </a:ext>
            </a:extLst>
          </p:cNvPr>
          <p:cNvSpPr/>
          <p:nvPr/>
        </p:nvSpPr>
        <p:spPr>
          <a:xfrm>
            <a:off x="2105612" y="7990828"/>
            <a:ext cx="2015791" cy="2754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ISA BinGenerate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60856955-9A69-447B-A68A-74BC3763880D}"/>
              </a:ext>
            </a:extLst>
          </p:cNvPr>
          <p:cNvSpPr/>
          <p:nvPr/>
        </p:nvSpPr>
        <p:spPr>
          <a:xfrm>
            <a:off x="4121403" y="7991630"/>
            <a:ext cx="640776" cy="2754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A1385EC1-0BC0-4A4B-9606-E46B2F46ECBF}"/>
              </a:ext>
            </a:extLst>
          </p:cNvPr>
          <p:cNvSpPr/>
          <p:nvPr/>
        </p:nvSpPr>
        <p:spPr>
          <a:xfrm>
            <a:off x="2087739" y="9087977"/>
            <a:ext cx="2015791" cy="2754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CreateHAL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33321B27-1075-41B2-86A9-4FCB3C22401D}"/>
              </a:ext>
            </a:extLst>
          </p:cNvPr>
          <p:cNvSpPr/>
          <p:nvPr/>
        </p:nvSpPr>
        <p:spPr>
          <a:xfrm>
            <a:off x="4103530" y="9088779"/>
            <a:ext cx="640776" cy="2754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88" name="왼쪽 중괄호 87">
            <a:extLst>
              <a:ext uri="{FF2B5EF4-FFF2-40B4-BE49-F238E27FC236}">
                <a16:creationId xmlns:a16="http://schemas.microsoft.com/office/drawing/2014/main" id="{0304C859-A350-4609-A73A-012FF716B4D0}"/>
              </a:ext>
            </a:extLst>
          </p:cNvPr>
          <p:cNvSpPr/>
          <p:nvPr/>
        </p:nvSpPr>
        <p:spPr>
          <a:xfrm>
            <a:off x="1732902" y="1732622"/>
            <a:ext cx="354956" cy="2128157"/>
          </a:xfrm>
          <a:prstGeom prst="leftBrace">
            <a:avLst>
              <a:gd name="adj1" fmla="val 152096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61E78192-5884-471D-A23E-476BC1A0B218}"/>
              </a:ext>
            </a:extLst>
          </p:cNvPr>
          <p:cNvSpPr txBox="1"/>
          <p:nvPr/>
        </p:nvSpPr>
        <p:spPr>
          <a:xfrm>
            <a:off x="452741" y="2145588"/>
            <a:ext cx="12801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/>
              <a:t>IREE</a:t>
            </a:r>
            <a:r>
              <a:rPr lang="ko-KR" altLang="en-US" sz="1050"/>
              <a:t> </a:t>
            </a:r>
            <a:r>
              <a:rPr lang="en-US" altLang="ko-KR" sz="1050"/>
              <a:t>to CAP PP</a:t>
            </a:r>
            <a:endParaRPr lang="ko-KR" altLang="en-US" sz="105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AA514F4-529C-4C9F-ACA9-9BF118513596}"/>
              </a:ext>
            </a:extLst>
          </p:cNvPr>
          <p:cNvSpPr txBox="1"/>
          <p:nvPr/>
        </p:nvSpPr>
        <p:spPr>
          <a:xfrm>
            <a:off x="556501" y="4412080"/>
            <a:ext cx="12801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/>
              <a:t>CAP to ISA PP</a:t>
            </a:r>
            <a:endParaRPr lang="ko-KR" altLang="en-US" sz="1050"/>
          </a:p>
        </p:txBody>
      </p:sp>
      <p:sp>
        <p:nvSpPr>
          <p:cNvPr id="92" name="왼쪽 중괄호 91">
            <a:extLst>
              <a:ext uri="{FF2B5EF4-FFF2-40B4-BE49-F238E27FC236}">
                <a16:creationId xmlns:a16="http://schemas.microsoft.com/office/drawing/2014/main" id="{3DC1F2BF-1585-40BE-9FB1-7519DBF47DD4}"/>
              </a:ext>
            </a:extLst>
          </p:cNvPr>
          <p:cNvSpPr/>
          <p:nvPr/>
        </p:nvSpPr>
        <p:spPr>
          <a:xfrm>
            <a:off x="1910048" y="4945136"/>
            <a:ext cx="191611" cy="1243450"/>
          </a:xfrm>
          <a:prstGeom prst="leftBrace">
            <a:avLst>
              <a:gd name="adj1" fmla="val 152096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7153FB6-7E80-41D0-8CC5-9DB5820C9335}"/>
              </a:ext>
            </a:extLst>
          </p:cNvPr>
          <p:cNvSpPr txBox="1"/>
          <p:nvPr/>
        </p:nvSpPr>
        <p:spPr>
          <a:xfrm>
            <a:off x="620791" y="5422470"/>
            <a:ext cx="12801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/>
              <a:t>Optimization PP</a:t>
            </a:r>
            <a:endParaRPr lang="ko-KR" altLang="en-US" sz="1050"/>
          </a:p>
        </p:txBody>
      </p:sp>
      <p:sp>
        <p:nvSpPr>
          <p:cNvPr id="98" name="왼쪽 중괄호 97">
            <a:extLst>
              <a:ext uri="{FF2B5EF4-FFF2-40B4-BE49-F238E27FC236}">
                <a16:creationId xmlns:a16="http://schemas.microsoft.com/office/drawing/2014/main" id="{2E187BBE-3447-4153-AD97-9B965916A3C0}"/>
              </a:ext>
            </a:extLst>
          </p:cNvPr>
          <p:cNvSpPr/>
          <p:nvPr/>
        </p:nvSpPr>
        <p:spPr>
          <a:xfrm>
            <a:off x="1907401" y="7686081"/>
            <a:ext cx="174259" cy="610141"/>
          </a:xfrm>
          <a:prstGeom prst="leftBrace">
            <a:avLst>
              <a:gd name="adj1" fmla="val 152096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2E74191C-00E8-491A-AE55-1D965C4009B5}"/>
              </a:ext>
            </a:extLst>
          </p:cNvPr>
          <p:cNvSpPr txBox="1"/>
          <p:nvPr/>
        </p:nvSpPr>
        <p:spPr>
          <a:xfrm>
            <a:off x="556501" y="7823814"/>
            <a:ext cx="12801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/>
              <a:t>Core</a:t>
            </a:r>
            <a:r>
              <a:rPr lang="ko-KR" altLang="en-US" sz="1050"/>
              <a:t> </a:t>
            </a:r>
            <a:r>
              <a:rPr lang="en-US" altLang="ko-KR" sz="1050"/>
              <a:t>Bin</a:t>
            </a:r>
            <a:r>
              <a:rPr lang="ko-KR" altLang="en-US" sz="1050"/>
              <a:t> </a:t>
            </a:r>
            <a:r>
              <a:rPr lang="en-US" altLang="ko-KR" sz="1050"/>
              <a:t>Export</a:t>
            </a:r>
            <a:r>
              <a:rPr lang="ko-KR" altLang="en-US" sz="1050"/>
              <a:t> </a:t>
            </a:r>
            <a:r>
              <a:rPr lang="en-US" altLang="ko-KR" sz="1050"/>
              <a:t>PP</a:t>
            </a:r>
            <a:endParaRPr lang="ko-KR" altLang="en-US" sz="105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4F306FD5-DC43-45CA-B1D7-A229CE93053F}"/>
              </a:ext>
            </a:extLst>
          </p:cNvPr>
          <p:cNvSpPr txBox="1"/>
          <p:nvPr/>
        </p:nvSpPr>
        <p:spPr>
          <a:xfrm>
            <a:off x="594251" y="9278020"/>
            <a:ext cx="12801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/>
              <a:t>Plan Export</a:t>
            </a:r>
            <a:r>
              <a:rPr lang="ko-KR" altLang="en-US" sz="1050"/>
              <a:t> </a:t>
            </a:r>
            <a:r>
              <a:rPr lang="en-US" altLang="ko-KR" sz="1050"/>
              <a:t>PP</a:t>
            </a:r>
            <a:endParaRPr lang="ko-KR" altLang="en-US" sz="1050"/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C42294A2-7D87-4991-8271-9B2C66B20B89}"/>
              </a:ext>
            </a:extLst>
          </p:cNvPr>
          <p:cNvSpPr/>
          <p:nvPr/>
        </p:nvSpPr>
        <p:spPr>
          <a:xfrm>
            <a:off x="3647014" y="282096"/>
            <a:ext cx="2015791" cy="2754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1</a:t>
            </a:r>
            <a:r>
              <a:rPr lang="ko-KR" altLang="en-US" sz="1000">
                <a:solidFill>
                  <a:schemeClr val="tx1"/>
                </a:solidFill>
              </a:rPr>
              <a:t>순위 구현</a:t>
            </a:r>
          </a:p>
        </p:txBody>
      </p: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BB47274E-D2F1-45DF-AC90-AB1D672B958F}"/>
              </a:ext>
            </a:extLst>
          </p:cNvPr>
          <p:cNvSpPr/>
          <p:nvPr/>
        </p:nvSpPr>
        <p:spPr>
          <a:xfrm>
            <a:off x="5662805" y="282898"/>
            <a:ext cx="640776" cy="27541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</a:rPr>
              <a:t>완성</a:t>
            </a:r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EE04C433-2BBF-4375-AC71-807CB1DBB574}"/>
              </a:ext>
            </a:extLst>
          </p:cNvPr>
          <p:cNvSpPr/>
          <p:nvPr/>
        </p:nvSpPr>
        <p:spPr>
          <a:xfrm>
            <a:off x="3647014" y="643056"/>
            <a:ext cx="2015791" cy="27541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2</a:t>
            </a:r>
            <a:r>
              <a:rPr lang="ko-KR" altLang="en-US" sz="1000">
                <a:solidFill>
                  <a:schemeClr val="tx1"/>
                </a:solidFill>
              </a:rPr>
              <a:t>순위 구현</a:t>
            </a:r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92891D09-E426-4602-8F08-7AEBC183B3FE}"/>
              </a:ext>
            </a:extLst>
          </p:cNvPr>
          <p:cNvSpPr/>
          <p:nvPr/>
        </p:nvSpPr>
        <p:spPr>
          <a:xfrm>
            <a:off x="5662805" y="643858"/>
            <a:ext cx="640776" cy="27541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</a:rPr>
              <a:t>미숙</a:t>
            </a:r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38788297-D02F-4BE0-ACF3-FDDBF955E617}"/>
              </a:ext>
            </a:extLst>
          </p:cNvPr>
          <p:cNvSpPr/>
          <p:nvPr/>
        </p:nvSpPr>
        <p:spPr>
          <a:xfrm>
            <a:off x="3660151" y="1015971"/>
            <a:ext cx="2015791" cy="27541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3</a:t>
            </a:r>
            <a:r>
              <a:rPr lang="ko-KR" altLang="en-US" sz="1000">
                <a:solidFill>
                  <a:schemeClr val="tx1"/>
                </a:solidFill>
              </a:rPr>
              <a:t>순위 구현</a:t>
            </a:r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C9669444-F7E6-4A2D-ACFC-983B76200346}"/>
              </a:ext>
            </a:extLst>
          </p:cNvPr>
          <p:cNvSpPr/>
          <p:nvPr/>
        </p:nvSpPr>
        <p:spPr>
          <a:xfrm>
            <a:off x="5675942" y="1016773"/>
            <a:ext cx="640776" cy="2754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TODO</a:t>
            </a:r>
            <a:endParaRPr lang="ko-KR" altLang="en-US" sz="1000">
              <a:solidFill>
                <a:schemeClr val="tx1"/>
              </a:solidFill>
            </a:endParaRPr>
          </a:p>
        </p:txBody>
      </p: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3025141E-9C8E-42BF-B32B-A35A71393C55}"/>
              </a:ext>
            </a:extLst>
          </p:cNvPr>
          <p:cNvCxnSpPr/>
          <p:nvPr/>
        </p:nvCxnSpPr>
        <p:spPr>
          <a:xfrm>
            <a:off x="3343275" y="0"/>
            <a:ext cx="0" cy="1470361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5" name="직선 연결선 124">
            <a:extLst>
              <a:ext uri="{FF2B5EF4-FFF2-40B4-BE49-F238E27FC236}">
                <a16:creationId xmlns:a16="http://schemas.microsoft.com/office/drawing/2014/main" id="{6BB1F334-32E4-4924-B81F-316C062CA1A7}"/>
              </a:ext>
            </a:extLst>
          </p:cNvPr>
          <p:cNvCxnSpPr>
            <a:cxnSpLocks/>
          </p:cNvCxnSpPr>
          <p:nvPr/>
        </p:nvCxnSpPr>
        <p:spPr>
          <a:xfrm flipH="1" flipV="1">
            <a:off x="3343276" y="1470361"/>
            <a:ext cx="3514724" cy="7993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349DAED7-7C16-419D-96B0-E497865E70C3}"/>
              </a:ext>
            </a:extLst>
          </p:cNvPr>
          <p:cNvSpPr/>
          <p:nvPr/>
        </p:nvSpPr>
        <p:spPr>
          <a:xfrm>
            <a:off x="188686" y="675724"/>
            <a:ext cx="2015791" cy="27541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custom flow dispatch region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61958EBF-8CF9-45B2-AC6F-4F36386C236E}"/>
              </a:ext>
            </a:extLst>
          </p:cNvPr>
          <p:cNvSpPr/>
          <p:nvPr/>
        </p:nvSpPr>
        <p:spPr>
          <a:xfrm>
            <a:off x="2204477" y="676526"/>
            <a:ext cx="640776" cy="27541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260205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31" name="TextBox 130">
            <a:hlinkClick r:id="rId2" action="ppaction://hlinkfile"/>
            <a:extLst>
              <a:ext uri="{FF2B5EF4-FFF2-40B4-BE49-F238E27FC236}">
                <a16:creationId xmlns:a16="http://schemas.microsoft.com/office/drawing/2014/main" id="{DAEF28D4-8E01-4CA6-B7E3-BE27ACDD7B0B}"/>
              </a:ext>
            </a:extLst>
          </p:cNvPr>
          <p:cNvSpPr txBox="1"/>
          <p:nvPr/>
        </p:nvSpPr>
        <p:spPr>
          <a:xfrm>
            <a:off x="114300" y="217331"/>
            <a:ext cx="2705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/>
              <a:t>Workload (260225 old)</a:t>
            </a:r>
            <a:endParaRPr lang="ko-KR" altLang="en-US" b="1"/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3C1DC86F-3DF0-4373-85D0-650269296BF5}"/>
              </a:ext>
            </a:extLst>
          </p:cNvPr>
          <p:cNvSpPr/>
          <p:nvPr/>
        </p:nvSpPr>
        <p:spPr>
          <a:xfrm>
            <a:off x="2087857" y="1586460"/>
            <a:ext cx="2015791" cy="2754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QDQFusion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A9345CAE-10E7-40B3-9777-9EC24BD47F3B}"/>
              </a:ext>
            </a:extLst>
          </p:cNvPr>
          <p:cNvSpPr/>
          <p:nvPr/>
        </p:nvSpPr>
        <p:spPr>
          <a:xfrm>
            <a:off x="4103648" y="1587262"/>
            <a:ext cx="640776" cy="27541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1EEF7336-357A-44DD-96D1-C51E3C23E0DA}"/>
              </a:ext>
            </a:extLst>
          </p:cNvPr>
          <p:cNvSpPr/>
          <p:nvPr/>
        </p:nvSpPr>
        <p:spPr>
          <a:xfrm>
            <a:off x="2087857" y="1917100"/>
            <a:ext cx="2015791" cy="2754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OpFusion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BCAAB80A-6F37-4443-8137-6F7658190933}"/>
              </a:ext>
            </a:extLst>
          </p:cNvPr>
          <p:cNvSpPr/>
          <p:nvPr/>
        </p:nvSpPr>
        <p:spPr>
          <a:xfrm>
            <a:off x="4103648" y="1917902"/>
            <a:ext cx="640776" cy="27541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EC5D64E1-F1F6-47E3-813D-4203EBCDF1BE}"/>
              </a:ext>
            </a:extLst>
          </p:cNvPr>
          <p:cNvSpPr/>
          <p:nvPr/>
        </p:nvSpPr>
        <p:spPr>
          <a:xfrm>
            <a:off x="2087857" y="2251563"/>
            <a:ext cx="2015791" cy="2754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PostOpFusion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AFFD428D-C5D3-4C85-900C-130EFBAAA2FB}"/>
              </a:ext>
            </a:extLst>
          </p:cNvPr>
          <p:cNvSpPr/>
          <p:nvPr/>
        </p:nvSpPr>
        <p:spPr>
          <a:xfrm>
            <a:off x="4103648" y="2252365"/>
            <a:ext cx="640776" cy="27541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530BB15F-14F8-4913-89F1-30D38F2356B7}"/>
              </a:ext>
            </a:extLst>
          </p:cNvPr>
          <p:cNvSpPr/>
          <p:nvPr/>
        </p:nvSpPr>
        <p:spPr>
          <a:xfrm>
            <a:off x="2087857" y="2582809"/>
            <a:ext cx="2015791" cy="2754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MonoOpFusion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27086CA4-9F12-4239-B333-159F31EA60E8}"/>
              </a:ext>
            </a:extLst>
          </p:cNvPr>
          <p:cNvSpPr/>
          <p:nvPr/>
        </p:nvSpPr>
        <p:spPr>
          <a:xfrm>
            <a:off x="4103648" y="2583611"/>
            <a:ext cx="640776" cy="27541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5299ED1C-DBEC-419E-966F-24FF3A7356BF}"/>
              </a:ext>
            </a:extLst>
          </p:cNvPr>
          <p:cNvSpPr/>
          <p:nvPr/>
        </p:nvSpPr>
        <p:spPr>
          <a:xfrm>
            <a:off x="2092534" y="2918962"/>
            <a:ext cx="2015791" cy="2754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VailPad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A090D868-53B9-48B7-98AB-A79B08A2EC65}"/>
              </a:ext>
            </a:extLst>
          </p:cNvPr>
          <p:cNvSpPr/>
          <p:nvPr/>
        </p:nvSpPr>
        <p:spPr>
          <a:xfrm>
            <a:off x="4108325" y="2919764"/>
            <a:ext cx="640776" cy="27541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7EB54409-DCE4-47B3-BF6E-42AA16AC98A9}"/>
              </a:ext>
            </a:extLst>
          </p:cNvPr>
          <p:cNvSpPr/>
          <p:nvPr/>
        </p:nvSpPr>
        <p:spPr>
          <a:xfrm>
            <a:off x="2087857" y="3250749"/>
            <a:ext cx="2015791" cy="2754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QOpFusion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EF5E303A-807D-4781-95B6-A4DC7E1C754C}"/>
              </a:ext>
            </a:extLst>
          </p:cNvPr>
          <p:cNvSpPr/>
          <p:nvPr/>
        </p:nvSpPr>
        <p:spPr>
          <a:xfrm>
            <a:off x="4103648" y="3251551"/>
            <a:ext cx="640776" cy="27541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D8AE60AE-9AC5-40A4-A228-F9A7214CC03B}"/>
              </a:ext>
            </a:extLst>
          </p:cNvPr>
          <p:cNvSpPr/>
          <p:nvPr/>
        </p:nvSpPr>
        <p:spPr>
          <a:xfrm>
            <a:off x="2092534" y="3583281"/>
            <a:ext cx="2015791" cy="2754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GenericOpen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4577592B-A844-42B5-AC13-DAF8558D62E9}"/>
              </a:ext>
            </a:extLst>
          </p:cNvPr>
          <p:cNvSpPr/>
          <p:nvPr/>
        </p:nvSpPr>
        <p:spPr>
          <a:xfrm>
            <a:off x="4108325" y="3584083"/>
            <a:ext cx="640776" cy="27541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27AD2FAF-9B60-415D-8AF2-00EDB7D65BC9}"/>
              </a:ext>
            </a:extLst>
          </p:cNvPr>
          <p:cNvSpPr/>
          <p:nvPr/>
        </p:nvSpPr>
        <p:spPr>
          <a:xfrm>
            <a:off x="2101659" y="5611000"/>
            <a:ext cx="2015791" cy="27541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CoreArrange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2C2A1801-AB82-4F6B-9B84-65C40EFAE434}"/>
              </a:ext>
            </a:extLst>
          </p:cNvPr>
          <p:cNvSpPr/>
          <p:nvPr/>
        </p:nvSpPr>
        <p:spPr>
          <a:xfrm>
            <a:off x="4117450" y="5611802"/>
            <a:ext cx="640776" cy="2754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DDE108-FBB9-41B5-8BA3-6A59E79D1B57}"/>
              </a:ext>
            </a:extLst>
          </p:cNvPr>
          <p:cNvSpPr txBox="1"/>
          <p:nvPr/>
        </p:nvSpPr>
        <p:spPr>
          <a:xfrm>
            <a:off x="4815840" y="4855839"/>
            <a:ext cx="204216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/>
              <a:t>walk</a:t>
            </a:r>
            <a:r>
              <a:rPr lang="ko-KR" altLang="en-US" sz="700"/>
              <a:t> 사용</a:t>
            </a:r>
            <a:r>
              <a:rPr lang="en-US" altLang="ko-KR" sz="700"/>
              <a:t>) op</a:t>
            </a:r>
            <a:r>
              <a:rPr lang="ko-KR" altLang="en-US" sz="700"/>
              <a:t>별 </a:t>
            </a:r>
            <a:r>
              <a:rPr lang="en-US" altLang="ko-KR" sz="700"/>
              <a:t>latency </a:t>
            </a:r>
            <a:r>
              <a:rPr lang="ko-KR" altLang="en-US" sz="700"/>
              <a:t>기록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20DB98E2-84D7-4B6C-9C88-A4A7DFC84663}"/>
              </a:ext>
            </a:extLst>
          </p:cNvPr>
          <p:cNvSpPr txBox="1"/>
          <p:nvPr/>
        </p:nvSpPr>
        <p:spPr>
          <a:xfrm>
            <a:off x="4711130" y="5181191"/>
            <a:ext cx="23317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/>
              <a:t>walk, c++</a:t>
            </a:r>
            <a:r>
              <a:rPr lang="ko-KR" altLang="en-US" sz="700"/>
              <a:t>로 알고리즘</a:t>
            </a:r>
            <a:r>
              <a:rPr lang="en-US" altLang="ko-KR" sz="700"/>
              <a:t>) concat</a:t>
            </a:r>
            <a:r>
              <a:rPr lang="ko-KR" altLang="en-US" sz="700"/>
              <a:t>을 기준으로 </a:t>
            </a:r>
            <a:r>
              <a:rPr lang="en-US" altLang="ko-KR" sz="700"/>
              <a:t>region</a:t>
            </a:r>
            <a:r>
              <a:rPr lang="ko-KR" altLang="en-US" sz="700"/>
              <a:t>을 나눔</a:t>
            </a:r>
            <a:endParaRPr lang="en-US" altLang="ko-KR" sz="700"/>
          </a:p>
          <a:p>
            <a:r>
              <a:rPr lang="ko-KR" altLang="en-US" sz="700"/>
              <a:t>각 </a:t>
            </a:r>
            <a:r>
              <a:rPr lang="en-US" altLang="ko-KR" sz="700"/>
              <a:t>region</a:t>
            </a:r>
            <a:r>
              <a:rPr lang="ko-KR" altLang="en-US" sz="700"/>
              <a:t>에서 </a:t>
            </a:r>
            <a:r>
              <a:rPr lang="en-US" altLang="ko-KR" sz="700"/>
              <a:t>critical path</a:t>
            </a:r>
            <a:r>
              <a:rPr lang="ko-KR" altLang="en-US" sz="700"/>
              <a:t>를 찾아</a:t>
            </a:r>
            <a:r>
              <a:rPr lang="en-US" altLang="ko-KR" sz="700"/>
              <a:t>, </a:t>
            </a:r>
            <a:r>
              <a:rPr lang="ko-KR" altLang="en-US" sz="700"/>
              <a:t>우선순위 </a:t>
            </a:r>
            <a:r>
              <a:rPr lang="en-US" altLang="ko-KR" sz="700"/>
              <a:t>1</a:t>
            </a:r>
            <a:r>
              <a:rPr lang="ko-KR" altLang="en-US" sz="700"/>
              <a:t>순위 부여</a:t>
            </a:r>
            <a:endParaRPr lang="en-US" altLang="ko-KR" sz="700"/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142A804F-3FC7-49DF-9B33-27BA2B92923F}"/>
              </a:ext>
            </a:extLst>
          </p:cNvPr>
          <p:cNvSpPr/>
          <p:nvPr/>
        </p:nvSpPr>
        <p:spPr>
          <a:xfrm>
            <a:off x="2103097" y="5938526"/>
            <a:ext cx="2015791" cy="27541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CoreRearrange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AF5A9005-4201-42CA-A411-B1F4008E9E8E}"/>
              </a:ext>
            </a:extLst>
          </p:cNvPr>
          <p:cNvSpPr/>
          <p:nvPr/>
        </p:nvSpPr>
        <p:spPr>
          <a:xfrm>
            <a:off x="4118888" y="5939328"/>
            <a:ext cx="640776" cy="2754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9042E15E-825A-413D-8F14-DD3033556DE4}"/>
              </a:ext>
            </a:extLst>
          </p:cNvPr>
          <p:cNvSpPr txBox="1"/>
          <p:nvPr/>
        </p:nvSpPr>
        <p:spPr>
          <a:xfrm>
            <a:off x="5836920" y="3179237"/>
            <a:ext cx="204216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/>
              <a:t>pcore</a:t>
            </a:r>
            <a:r>
              <a:rPr lang="ko-KR" altLang="en-US" sz="700"/>
              <a:t>랑 </a:t>
            </a:r>
            <a:r>
              <a:rPr lang="en-US" altLang="ko-KR" sz="700"/>
              <a:t>acore</a:t>
            </a:r>
            <a:r>
              <a:rPr lang="ko-KR" altLang="en-US" sz="700"/>
              <a:t>는 </a:t>
            </a:r>
            <a:r>
              <a:rPr lang="en-US" altLang="ko-KR" sz="700"/>
              <a:t>pair</a:t>
            </a:r>
            <a:r>
              <a:rPr lang="ko-KR" altLang="en-US" sz="700"/>
              <a:t>라고 생각하고 진행</a:t>
            </a:r>
            <a:endParaRPr lang="en-US" altLang="ko-KR" sz="700"/>
          </a:p>
          <a:p>
            <a:r>
              <a:rPr lang="en-US" altLang="ko-KR" sz="700"/>
              <a:t>-&gt; pcore</a:t>
            </a:r>
            <a:r>
              <a:rPr lang="ko-KR" altLang="en-US" sz="700"/>
              <a:t>와 </a:t>
            </a:r>
            <a:r>
              <a:rPr lang="en-US" altLang="ko-KR" sz="700"/>
              <a:t>acore</a:t>
            </a:r>
            <a:r>
              <a:rPr lang="ko-KR" altLang="en-US" sz="700"/>
              <a:t>가 병렬로 컴퓨팅을 할 것 같지는 않음</a:t>
            </a:r>
            <a:r>
              <a:rPr lang="en-US" altLang="ko-KR" sz="700"/>
              <a:t>. </a:t>
            </a:r>
            <a:r>
              <a:rPr lang="ko-KR" altLang="en-US" sz="700"/>
              <a:t>병렬로 하더라도 규칙이 명확함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7278C40D-78B7-4FAF-B896-2F7837002C03}"/>
              </a:ext>
            </a:extLst>
          </p:cNvPr>
          <p:cNvSpPr txBox="1"/>
          <p:nvPr/>
        </p:nvSpPr>
        <p:spPr>
          <a:xfrm>
            <a:off x="5662806" y="4421527"/>
            <a:ext cx="236254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/>
              <a:t>데이터 포맷에 맞게 연산을 조정 </a:t>
            </a:r>
            <a:r>
              <a:rPr lang="en-US" altLang="ko-KR" sz="700"/>
              <a:t>(</a:t>
            </a:r>
            <a:r>
              <a:rPr lang="ko-KR" altLang="en-US" sz="700"/>
              <a:t>대표적으로 </a:t>
            </a:r>
            <a:r>
              <a:rPr lang="en-US" altLang="ko-KR" sz="700"/>
              <a:t>tiling)</a:t>
            </a:r>
            <a:endParaRPr lang="ko-KR" altLang="en-US" sz="700"/>
          </a:p>
        </p:txBody>
      </p:sp>
      <p:cxnSp>
        <p:nvCxnSpPr>
          <p:cNvPr id="5" name="연결선: 구부러짐 4">
            <a:extLst>
              <a:ext uri="{FF2B5EF4-FFF2-40B4-BE49-F238E27FC236}">
                <a16:creationId xmlns:a16="http://schemas.microsoft.com/office/drawing/2014/main" id="{D5F52626-DDD8-4F93-BD94-FAFECF9C4D11}"/>
              </a:ext>
            </a:extLst>
          </p:cNvPr>
          <p:cNvCxnSpPr>
            <a:stCxn id="41" idx="1"/>
          </p:cNvCxnSpPr>
          <p:nvPr/>
        </p:nvCxnSpPr>
        <p:spPr>
          <a:xfrm rot="10800000" flipV="1">
            <a:off x="4815841" y="3843394"/>
            <a:ext cx="479845" cy="362690"/>
          </a:xfrm>
          <a:prstGeom prst="curved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0" name="연결선: 구부러짐 109">
            <a:extLst>
              <a:ext uri="{FF2B5EF4-FFF2-40B4-BE49-F238E27FC236}">
                <a16:creationId xmlns:a16="http://schemas.microsoft.com/office/drawing/2014/main" id="{60F3F90E-73C2-470C-AC74-727AC7030AF0}"/>
              </a:ext>
            </a:extLst>
          </p:cNvPr>
          <p:cNvCxnSpPr>
            <a:cxnSpLocks/>
            <a:stCxn id="44" idx="1"/>
          </p:cNvCxnSpPr>
          <p:nvPr/>
        </p:nvCxnSpPr>
        <p:spPr>
          <a:xfrm rot="10800000" flipV="1">
            <a:off x="4815841" y="4242002"/>
            <a:ext cx="479845" cy="55677"/>
          </a:xfrm>
          <a:prstGeom prst="curved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연결선: 구부러짐 111">
            <a:extLst>
              <a:ext uri="{FF2B5EF4-FFF2-40B4-BE49-F238E27FC236}">
                <a16:creationId xmlns:a16="http://schemas.microsoft.com/office/drawing/2014/main" id="{C9E876C3-879E-4E06-89D1-81D674A237F5}"/>
              </a:ext>
            </a:extLst>
          </p:cNvPr>
          <p:cNvCxnSpPr>
            <a:cxnSpLocks/>
            <a:stCxn id="44" idx="1"/>
          </p:cNvCxnSpPr>
          <p:nvPr/>
        </p:nvCxnSpPr>
        <p:spPr>
          <a:xfrm rot="10800000" flipV="1">
            <a:off x="4305301" y="4242002"/>
            <a:ext cx="990385" cy="613835"/>
          </a:xfrm>
          <a:prstGeom prst="curved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3" name="연결선: 구부러짐 112">
            <a:extLst>
              <a:ext uri="{FF2B5EF4-FFF2-40B4-BE49-F238E27FC236}">
                <a16:creationId xmlns:a16="http://schemas.microsoft.com/office/drawing/2014/main" id="{07C9AC8A-69E5-48A5-9719-D3A0640261B4}"/>
              </a:ext>
            </a:extLst>
          </p:cNvPr>
          <p:cNvCxnSpPr>
            <a:cxnSpLocks/>
            <a:stCxn id="41" idx="1"/>
          </p:cNvCxnSpPr>
          <p:nvPr/>
        </p:nvCxnSpPr>
        <p:spPr>
          <a:xfrm rot="10800000" flipV="1">
            <a:off x="4184189" y="3843393"/>
            <a:ext cx="1111496" cy="1012445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B3A12D5-D394-45DB-8B85-99D68AA9D77B}"/>
              </a:ext>
            </a:extLst>
          </p:cNvPr>
          <p:cNvSpPr txBox="1"/>
          <p:nvPr/>
        </p:nvSpPr>
        <p:spPr>
          <a:xfrm>
            <a:off x="4975298" y="3931088"/>
            <a:ext cx="640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solidFill>
                  <a:srgbClr val="FF0000"/>
                </a:solidFill>
              </a:rPr>
              <a:t>??</a:t>
            </a:r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4C5F7C30-282D-4BE0-B2A2-A5999C31917C}"/>
              </a:ext>
            </a:extLst>
          </p:cNvPr>
          <p:cNvSpPr txBox="1"/>
          <p:nvPr/>
        </p:nvSpPr>
        <p:spPr>
          <a:xfrm>
            <a:off x="4706160" y="5518592"/>
            <a:ext cx="23317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/>
              <a:t>core</a:t>
            </a:r>
            <a:r>
              <a:rPr lang="ko-KR" altLang="en-US" sz="700"/>
              <a:t>에 연산을 할당</a:t>
            </a:r>
            <a:r>
              <a:rPr lang="en-US" altLang="ko-KR" sz="700"/>
              <a:t>. </a:t>
            </a:r>
            <a:r>
              <a:rPr lang="ko-KR" altLang="en-US" sz="700"/>
              <a:t>아래의 우선순위로 연산 할당</a:t>
            </a:r>
            <a:endParaRPr lang="en-US" altLang="ko-KR" sz="700"/>
          </a:p>
          <a:p>
            <a:r>
              <a:rPr lang="en-US" altLang="ko-KR" sz="700"/>
              <a:t>1. critical path</a:t>
            </a:r>
            <a:r>
              <a:rPr lang="ko-KR" altLang="en-US" sz="700"/>
              <a:t>에 따른 우선순위에 따라 먼저 배치</a:t>
            </a:r>
            <a:endParaRPr lang="en-US" altLang="ko-KR" sz="700"/>
          </a:p>
          <a:p>
            <a:r>
              <a:rPr lang="en-US" altLang="ko-KR" sz="700"/>
              <a:t>2. </a:t>
            </a:r>
            <a:r>
              <a:rPr lang="ko-KR" altLang="en-US" sz="700"/>
              <a:t>연산이 긴 것을 노는 자리에 배치</a:t>
            </a:r>
            <a:endParaRPr lang="en-US" altLang="ko-KR" sz="700"/>
          </a:p>
          <a:p>
            <a:r>
              <a:rPr lang="en-US" altLang="ko-KR" sz="700"/>
              <a:t>3.  data locality</a:t>
            </a:r>
            <a:r>
              <a:rPr lang="ko-KR" altLang="en-US" sz="700"/>
              <a:t>를 보고 연산을 배치</a:t>
            </a:r>
            <a:endParaRPr lang="en-US" altLang="ko-KR" sz="70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4D03027D-541F-4E05-A886-E3A1F5C50DCC}"/>
              </a:ext>
            </a:extLst>
          </p:cNvPr>
          <p:cNvSpPr txBox="1"/>
          <p:nvPr/>
        </p:nvSpPr>
        <p:spPr>
          <a:xfrm>
            <a:off x="4758226" y="6035062"/>
            <a:ext cx="23317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/>
              <a:t>region</a:t>
            </a:r>
            <a:r>
              <a:rPr lang="ko-KR" altLang="en-US" sz="700"/>
              <a:t>과 </a:t>
            </a:r>
            <a:r>
              <a:rPr lang="en-US" altLang="ko-KR" sz="700"/>
              <a:t>region </a:t>
            </a:r>
            <a:r>
              <a:rPr lang="ko-KR" altLang="en-US" sz="700"/>
              <a:t>사이 연결지점에서 </a:t>
            </a:r>
            <a:r>
              <a:rPr lang="en-US" altLang="ko-KR" sz="700"/>
              <a:t>data locality</a:t>
            </a:r>
            <a:r>
              <a:rPr lang="ko-KR" altLang="en-US" sz="700"/>
              <a:t>를 보고 </a:t>
            </a:r>
            <a:r>
              <a:rPr lang="en-US" altLang="ko-KR" sz="700"/>
              <a:t>core</a:t>
            </a:r>
            <a:r>
              <a:rPr lang="ko-KR" altLang="en-US" sz="700"/>
              <a:t>에 할당한 연산 묶음을 재배치</a:t>
            </a:r>
            <a:endParaRPr lang="en-US" altLang="ko-KR" sz="700"/>
          </a:p>
        </p:txBody>
      </p: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6A588D42-C959-4026-AA09-3E52058C3F5D}"/>
              </a:ext>
            </a:extLst>
          </p:cNvPr>
          <p:cNvSpPr/>
          <p:nvPr/>
        </p:nvSpPr>
        <p:spPr>
          <a:xfrm>
            <a:off x="2094039" y="6519001"/>
            <a:ext cx="2015791" cy="27541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CreateDataMoveInfo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7807E4E9-3C79-4285-A576-AB878260D504}"/>
              </a:ext>
            </a:extLst>
          </p:cNvPr>
          <p:cNvSpPr/>
          <p:nvPr/>
        </p:nvSpPr>
        <p:spPr>
          <a:xfrm>
            <a:off x="4109830" y="6519803"/>
            <a:ext cx="640776" cy="2754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F7E1428D-F54D-4638-A135-2E46F81C15E0}"/>
              </a:ext>
            </a:extLst>
          </p:cNvPr>
          <p:cNvSpPr txBox="1"/>
          <p:nvPr/>
        </p:nvSpPr>
        <p:spPr>
          <a:xfrm>
            <a:off x="4785790" y="6505841"/>
            <a:ext cx="207221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/>
              <a:t>데이터 이동정보 </a:t>
            </a:r>
            <a:r>
              <a:rPr lang="en-US" altLang="ko-KR" sz="700"/>
              <a:t>(move : UB</a:t>
            </a:r>
            <a:r>
              <a:rPr lang="ko-KR" altLang="en-US" sz="700"/>
              <a:t>간 움직임</a:t>
            </a:r>
            <a:r>
              <a:rPr lang="en-US" altLang="ko-KR" sz="700"/>
              <a:t>, load/store: SM &lt;-&gt; UB </a:t>
            </a:r>
            <a:r>
              <a:rPr lang="ko-KR" altLang="en-US" sz="700"/>
              <a:t>간 데이터 이동</a:t>
            </a:r>
            <a:r>
              <a:rPr lang="en-US" altLang="ko-KR" sz="700"/>
              <a:t>)</a:t>
            </a:r>
            <a:r>
              <a:rPr lang="ko-KR" altLang="en-US" sz="700"/>
              <a:t>를 나타내는 </a:t>
            </a:r>
            <a:r>
              <a:rPr lang="en-US" altLang="ko-KR" sz="700"/>
              <a:t>ops </a:t>
            </a:r>
            <a:r>
              <a:rPr lang="ko-KR" altLang="en-US" sz="700"/>
              <a:t>추가</a:t>
            </a:r>
            <a:endParaRPr lang="en-US" altLang="ko-KR" sz="700"/>
          </a:p>
          <a:p>
            <a:r>
              <a:rPr lang="ko-KR" altLang="en-US" sz="700"/>
              <a:t>데이터의 위치를 타이트하게 관리</a:t>
            </a:r>
            <a:endParaRPr lang="en-US" altLang="ko-KR" sz="70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3DD6878B-F02D-452F-939B-ACEC6B9713E4}"/>
              </a:ext>
            </a:extLst>
          </p:cNvPr>
          <p:cNvSpPr txBox="1"/>
          <p:nvPr/>
        </p:nvSpPr>
        <p:spPr>
          <a:xfrm>
            <a:off x="4771870" y="8466209"/>
            <a:ext cx="20722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/>
              <a:t>arith.constant</a:t>
            </a:r>
            <a:r>
              <a:rPr lang="ko-KR" altLang="en-US" sz="700"/>
              <a:t>를 보고 </a:t>
            </a:r>
            <a:r>
              <a:rPr lang="en-US" altLang="ko-KR" sz="700"/>
              <a:t>SM</a:t>
            </a:r>
            <a:r>
              <a:rPr lang="ko-KR" altLang="en-US" sz="700"/>
              <a:t>에 저장할 </a:t>
            </a:r>
            <a:r>
              <a:rPr lang="en-US" altLang="ko-KR" sz="700"/>
              <a:t>weights</a:t>
            </a:r>
            <a:r>
              <a:rPr lang="ko-KR" altLang="en-US" sz="700"/>
              <a:t>를 정리</a:t>
            </a:r>
            <a:r>
              <a:rPr lang="en-US" altLang="ko-KR" sz="700"/>
              <a:t>, .wbin</a:t>
            </a:r>
            <a:r>
              <a:rPr lang="ko-KR" altLang="en-US" sz="700"/>
              <a:t>으로 저장</a:t>
            </a:r>
            <a:endParaRPr lang="en-US" altLang="ko-KR" sz="700"/>
          </a:p>
        </p:txBody>
      </p: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5B652090-1D89-4762-BB97-A55731C9677E}"/>
              </a:ext>
            </a:extLst>
          </p:cNvPr>
          <p:cNvSpPr/>
          <p:nvPr/>
        </p:nvSpPr>
        <p:spPr>
          <a:xfrm>
            <a:off x="2104210" y="7659584"/>
            <a:ext cx="2015791" cy="2754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CreateFinal ISA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7275A35E-E8BB-4062-B380-3BE7F59E6430}"/>
              </a:ext>
            </a:extLst>
          </p:cNvPr>
          <p:cNvSpPr/>
          <p:nvPr/>
        </p:nvSpPr>
        <p:spPr>
          <a:xfrm>
            <a:off x="4120001" y="7660386"/>
            <a:ext cx="640776" cy="2754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91CE738A-2451-4B1A-AB10-BB4005813B51}"/>
              </a:ext>
            </a:extLst>
          </p:cNvPr>
          <p:cNvSpPr txBox="1"/>
          <p:nvPr/>
        </p:nvSpPr>
        <p:spPr>
          <a:xfrm>
            <a:off x="4785790" y="7581925"/>
            <a:ext cx="207221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/>
              <a:t>주변 </a:t>
            </a:r>
            <a:r>
              <a:rPr lang="en-US" altLang="ko-KR" sz="700"/>
              <a:t>ops</a:t>
            </a:r>
            <a:r>
              <a:rPr lang="ko-KR" altLang="en-US" sz="700"/>
              <a:t>들을 결합하며</a:t>
            </a:r>
            <a:r>
              <a:rPr lang="en-US" altLang="ko-KR" sz="700"/>
              <a:t> </a:t>
            </a:r>
            <a:r>
              <a:rPr lang="ko-KR" altLang="en-US" sz="700"/>
              <a:t>문서에서 정의하는 </a:t>
            </a:r>
            <a:r>
              <a:rPr lang="en-US" altLang="ko-KR" sz="700"/>
              <a:t>ISA</a:t>
            </a:r>
            <a:r>
              <a:rPr lang="ko-KR" altLang="en-US" sz="700"/>
              <a:t>와 구조를 완벽히 일치</a:t>
            </a:r>
            <a:r>
              <a:rPr lang="en-US" altLang="ko-KR" sz="700"/>
              <a:t>, </a:t>
            </a:r>
            <a:r>
              <a:rPr lang="ko-KR" altLang="en-US" sz="700"/>
              <a:t>부족한 정보가 있을 경우 앞 쪽에 필요한 </a:t>
            </a:r>
            <a:r>
              <a:rPr lang="en-US" altLang="ko-KR" sz="700"/>
              <a:t>Pass</a:t>
            </a:r>
            <a:r>
              <a:rPr lang="ko-KR" altLang="en-US" sz="700"/>
              <a:t>를 추가로 정의</a:t>
            </a:r>
            <a:endParaRPr lang="en-US" altLang="ko-KR" sz="700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9FBF1609-1689-4D74-804F-FED3A9A8D707}"/>
              </a:ext>
            </a:extLst>
          </p:cNvPr>
          <p:cNvSpPr txBox="1"/>
          <p:nvPr/>
        </p:nvSpPr>
        <p:spPr>
          <a:xfrm>
            <a:off x="2337452" y="4025223"/>
            <a:ext cx="20722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/>
              <a:t>ISA</a:t>
            </a:r>
            <a:r>
              <a:rPr lang="ko-KR" altLang="en-US" sz="700"/>
              <a:t>의 </a:t>
            </a:r>
            <a:r>
              <a:rPr lang="en-US" altLang="ko-KR" sz="700"/>
              <a:t>opcode</a:t>
            </a:r>
            <a:r>
              <a:rPr lang="ko-KR" altLang="en-US" sz="700"/>
              <a:t>를 중심으로 제작</a:t>
            </a:r>
            <a:endParaRPr lang="en-US" altLang="ko-KR" sz="700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02FEE484-3054-4384-8B2D-40521C5D1941}"/>
              </a:ext>
            </a:extLst>
          </p:cNvPr>
          <p:cNvSpPr txBox="1"/>
          <p:nvPr/>
        </p:nvSpPr>
        <p:spPr>
          <a:xfrm>
            <a:off x="650511" y="6473363"/>
            <a:ext cx="12801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/>
              <a:t>DataInfo PP</a:t>
            </a:r>
            <a:endParaRPr lang="ko-KR" altLang="en-US" sz="1050"/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5F95A9A0-1E09-4CDA-9C70-80ED323A7DA9}"/>
              </a:ext>
            </a:extLst>
          </p:cNvPr>
          <p:cNvSpPr txBox="1"/>
          <p:nvPr/>
        </p:nvSpPr>
        <p:spPr>
          <a:xfrm>
            <a:off x="4795315" y="8011100"/>
            <a:ext cx="20722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/>
              <a:t>ISA</a:t>
            </a:r>
            <a:r>
              <a:rPr lang="ko-KR" altLang="en-US" sz="700"/>
              <a:t>를 </a:t>
            </a:r>
            <a:r>
              <a:rPr lang="en-US" altLang="ko-KR" sz="700"/>
              <a:t>core</a:t>
            </a:r>
            <a:r>
              <a:rPr lang="ko-KR" altLang="en-US" sz="700"/>
              <a:t>별로 </a:t>
            </a:r>
            <a:r>
              <a:rPr lang="en-US" altLang="ko-KR" sz="700"/>
              <a:t>.cbin</a:t>
            </a:r>
            <a:r>
              <a:rPr lang="ko-KR" altLang="en-US" sz="700"/>
              <a:t>으로 저장</a:t>
            </a:r>
            <a:endParaRPr lang="en-US" altLang="ko-KR" sz="700"/>
          </a:p>
        </p:txBody>
      </p:sp>
      <p:sp>
        <p:nvSpPr>
          <p:cNvPr id="151" name="직사각형 150">
            <a:extLst>
              <a:ext uri="{FF2B5EF4-FFF2-40B4-BE49-F238E27FC236}">
                <a16:creationId xmlns:a16="http://schemas.microsoft.com/office/drawing/2014/main" id="{F36E99B2-4732-40CC-9B34-CC83A6B38F5B}"/>
              </a:ext>
            </a:extLst>
          </p:cNvPr>
          <p:cNvSpPr/>
          <p:nvPr/>
        </p:nvSpPr>
        <p:spPr>
          <a:xfrm>
            <a:off x="8810768" y="5761192"/>
            <a:ext cx="640776" cy="2754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D9333C2D-0050-4A41-8ECB-B06FF8BD417C}"/>
              </a:ext>
            </a:extLst>
          </p:cNvPr>
          <p:cNvSpPr txBox="1"/>
          <p:nvPr/>
        </p:nvSpPr>
        <p:spPr>
          <a:xfrm>
            <a:off x="7162098" y="6077621"/>
            <a:ext cx="23625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/>
              <a:t>코어가 무의미하게 놀고 있는 경우</a:t>
            </a:r>
            <a:r>
              <a:rPr lang="en-US" altLang="ko-KR" sz="700"/>
              <a:t>, </a:t>
            </a:r>
            <a:r>
              <a:rPr lang="ko-KR" altLang="en-US" sz="700"/>
              <a:t>다른 코어의 연산 결과를 기다리는 것보다 연산을 복사해서 직접 계산하는 것이 더 빠를 것</a:t>
            </a:r>
            <a:r>
              <a:rPr lang="en-US" altLang="ko-KR" sz="700"/>
              <a:t>.</a:t>
            </a:r>
          </a:p>
          <a:p>
            <a:r>
              <a:rPr lang="en-US" altLang="ko-KR" sz="700"/>
              <a:t>-&gt; </a:t>
            </a:r>
            <a:r>
              <a:rPr lang="ko-KR" altLang="en-US" sz="700"/>
              <a:t>넣을지 말지</a:t>
            </a:r>
            <a:r>
              <a:rPr lang="en-US" altLang="ko-KR" sz="700"/>
              <a:t>?</a:t>
            </a:r>
          </a:p>
        </p:txBody>
      </p:sp>
      <p:cxnSp>
        <p:nvCxnSpPr>
          <p:cNvPr id="153" name="연결선: 구부러짐 152">
            <a:extLst>
              <a:ext uri="{FF2B5EF4-FFF2-40B4-BE49-F238E27FC236}">
                <a16:creationId xmlns:a16="http://schemas.microsoft.com/office/drawing/2014/main" id="{8621028B-5DD1-42F3-81CF-E3B4C5789201}"/>
              </a:ext>
            </a:extLst>
          </p:cNvPr>
          <p:cNvCxnSpPr>
            <a:cxnSpLocks/>
          </p:cNvCxnSpPr>
          <p:nvPr/>
        </p:nvCxnSpPr>
        <p:spPr>
          <a:xfrm rot="10800000" flipV="1">
            <a:off x="6315133" y="5898096"/>
            <a:ext cx="479845" cy="55677"/>
          </a:xfrm>
          <a:prstGeom prst="curved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4" name="TextBox 153">
            <a:extLst>
              <a:ext uri="{FF2B5EF4-FFF2-40B4-BE49-F238E27FC236}">
                <a16:creationId xmlns:a16="http://schemas.microsoft.com/office/drawing/2014/main" id="{EAEF2508-4DFC-4206-A1C0-D2573519D707}"/>
              </a:ext>
            </a:extLst>
          </p:cNvPr>
          <p:cNvSpPr txBox="1"/>
          <p:nvPr/>
        </p:nvSpPr>
        <p:spPr>
          <a:xfrm>
            <a:off x="6474590" y="5587182"/>
            <a:ext cx="640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solidFill>
                  <a:srgbClr val="FF0000"/>
                </a:solidFill>
              </a:rPr>
              <a:t>??</a:t>
            </a:r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8D4BC9DC-1CAC-4EDC-A725-15F088D8F0A9}"/>
              </a:ext>
            </a:extLst>
          </p:cNvPr>
          <p:cNvSpPr/>
          <p:nvPr/>
        </p:nvSpPr>
        <p:spPr>
          <a:xfrm>
            <a:off x="6794978" y="5759648"/>
            <a:ext cx="2015791" cy="27541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CopyOp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3D1EEFC1-F425-446B-AE19-E8868554D4AD}"/>
              </a:ext>
            </a:extLst>
          </p:cNvPr>
          <p:cNvSpPr/>
          <p:nvPr/>
        </p:nvSpPr>
        <p:spPr>
          <a:xfrm>
            <a:off x="7089946" y="2593692"/>
            <a:ext cx="1796879" cy="529062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rgbClr val="FF0000"/>
                </a:solidFill>
              </a:rPr>
              <a:t>A/P Core </a:t>
            </a:r>
            <a:r>
              <a:rPr lang="ko-KR" altLang="en-US" sz="1200">
                <a:solidFill>
                  <a:srgbClr val="FF0000"/>
                </a:solidFill>
              </a:rPr>
              <a:t>하드웨어 규격이 같은지</a:t>
            </a:r>
            <a:r>
              <a:rPr lang="en-US" altLang="ko-KR" sz="1200">
                <a:solidFill>
                  <a:srgbClr val="FF0000"/>
                </a:solidFill>
              </a:rPr>
              <a:t>?</a:t>
            </a:r>
            <a:endParaRPr lang="ko-KR" altLang="en-US" sz="1200">
              <a:solidFill>
                <a:srgbClr val="FF0000"/>
              </a:solidFill>
            </a:endParaRPr>
          </a:p>
        </p:txBody>
      </p:sp>
      <p:sp>
        <p:nvSpPr>
          <p:cNvPr id="156" name="타원 155">
            <a:extLst>
              <a:ext uri="{FF2B5EF4-FFF2-40B4-BE49-F238E27FC236}">
                <a16:creationId xmlns:a16="http://schemas.microsoft.com/office/drawing/2014/main" id="{E3BAB7AA-C7C7-4D7F-BCFC-93DC7CA0EBCD}"/>
              </a:ext>
            </a:extLst>
          </p:cNvPr>
          <p:cNvSpPr/>
          <p:nvPr/>
        </p:nvSpPr>
        <p:spPr>
          <a:xfrm>
            <a:off x="7162098" y="4698138"/>
            <a:ext cx="1796879" cy="529062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rgbClr val="FF0000"/>
                </a:solidFill>
              </a:rPr>
              <a:t>layer</a:t>
            </a:r>
            <a:r>
              <a:rPr lang="ko-KR" altLang="en-US" sz="1200">
                <a:solidFill>
                  <a:srgbClr val="FF0000"/>
                </a:solidFill>
              </a:rPr>
              <a:t>의 완벽한 정의</a:t>
            </a:r>
          </a:p>
        </p:txBody>
      </p:sp>
      <p:sp>
        <p:nvSpPr>
          <p:cNvPr id="157" name="타원 156">
            <a:extLst>
              <a:ext uri="{FF2B5EF4-FFF2-40B4-BE49-F238E27FC236}">
                <a16:creationId xmlns:a16="http://schemas.microsoft.com/office/drawing/2014/main" id="{0B7CF026-30BF-48BA-A604-EC0FAD80F99F}"/>
              </a:ext>
            </a:extLst>
          </p:cNvPr>
          <p:cNvSpPr/>
          <p:nvPr/>
        </p:nvSpPr>
        <p:spPr>
          <a:xfrm>
            <a:off x="7162097" y="5261978"/>
            <a:ext cx="1796879" cy="529062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rgbClr val="FF0000"/>
                </a:solidFill>
              </a:rPr>
              <a:t>연산</a:t>
            </a:r>
            <a:r>
              <a:rPr lang="en-US" altLang="ko-KR" sz="1200">
                <a:solidFill>
                  <a:srgbClr val="FF0000"/>
                </a:solidFill>
              </a:rPr>
              <a:t>, </a:t>
            </a:r>
            <a:r>
              <a:rPr lang="ko-KR" altLang="en-US" sz="1200">
                <a:solidFill>
                  <a:srgbClr val="FF0000"/>
                </a:solidFill>
              </a:rPr>
              <a:t>데이터 이동에 걸리는 시간</a:t>
            </a:r>
          </a:p>
        </p:txBody>
      </p:sp>
      <p:sp>
        <p:nvSpPr>
          <p:cNvPr id="158" name="타원 157">
            <a:extLst>
              <a:ext uri="{FF2B5EF4-FFF2-40B4-BE49-F238E27FC236}">
                <a16:creationId xmlns:a16="http://schemas.microsoft.com/office/drawing/2014/main" id="{612E919A-9BC2-4100-8895-A9849753E0F0}"/>
              </a:ext>
            </a:extLst>
          </p:cNvPr>
          <p:cNvSpPr/>
          <p:nvPr/>
        </p:nvSpPr>
        <p:spPr>
          <a:xfrm>
            <a:off x="6980640" y="8874122"/>
            <a:ext cx="1796879" cy="529062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rgbClr val="FF0000"/>
                </a:solidFill>
              </a:rPr>
              <a:t>Plan??</a:t>
            </a:r>
          </a:p>
          <a:p>
            <a:pPr algn="ctr"/>
            <a:r>
              <a:rPr lang="en-US" altLang="ko-KR" sz="1200">
                <a:solidFill>
                  <a:srgbClr val="FF0000"/>
                </a:solidFill>
              </a:rPr>
              <a:t>Runtime??</a:t>
            </a:r>
          </a:p>
          <a:p>
            <a:pPr algn="ctr"/>
            <a:r>
              <a:rPr lang="en-US" altLang="ko-KR" sz="1200">
                <a:solidFill>
                  <a:srgbClr val="FF0000"/>
                </a:solidFill>
              </a:rPr>
              <a:t>HAL??</a:t>
            </a:r>
            <a:endParaRPr lang="ko-KR" altLang="en-US" sz="1200">
              <a:solidFill>
                <a:srgbClr val="FF0000"/>
              </a:solidFill>
            </a:endParaRPr>
          </a:p>
        </p:txBody>
      </p:sp>
      <p:sp>
        <p:nvSpPr>
          <p:cNvPr id="159" name="직사각형 158">
            <a:extLst>
              <a:ext uri="{FF2B5EF4-FFF2-40B4-BE49-F238E27FC236}">
                <a16:creationId xmlns:a16="http://schemas.microsoft.com/office/drawing/2014/main" id="{429E767B-44C1-4464-9F8E-D71AF41004F3}"/>
              </a:ext>
            </a:extLst>
          </p:cNvPr>
          <p:cNvSpPr/>
          <p:nvPr/>
        </p:nvSpPr>
        <p:spPr>
          <a:xfrm>
            <a:off x="2087739" y="9422368"/>
            <a:ext cx="2015791" cy="2754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CreatePlan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60" name="직사각형 159">
            <a:extLst>
              <a:ext uri="{FF2B5EF4-FFF2-40B4-BE49-F238E27FC236}">
                <a16:creationId xmlns:a16="http://schemas.microsoft.com/office/drawing/2014/main" id="{42F79087-A2DC-4822-8F70-E5FD4DC22AC4}"/>
              </a:ext>
            </a:extLst>
          </p:cNvPr>
          <p:cNvSpPr/>
          <p:nvPr/>
        </p:nvSpPr>
        <p:spPr>
          <a:xfrm>
            <a:off x="4103530" y="9423170"/>
            <a:ext cx="640776" cy="2754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3674860F-343F-496D-BFF7-C1284CCE4404}"/>
              </a:ext>
            </a:extLst>
          </p:cNvPr>
          <p:cNvSpPr txBox="1"/>
          <p:nvPr/>
        </p:nvSpPr>
        <p:spPr>
          <a:xfrm>
            <a:off x="529119" y="8486577"/>
            <a:ext cx="145566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/>
              <a:t>Weight</a:t>
            </a:r>
            <a:r>
              <a:rPr lang="ko-KR" altLang="en-US" sz="1050"/>
              <a:t> </a:t>
            </a:r>
            <a:r>
              <a:rPr lang="en-US" altLang="ko-KR" sz="1050"/>
              <a:t>Bin</a:t>
            </a:r>
            <a:r>
              <a:rPr lang="ko-KR" altLang="en-US" sz="1050"/>
              <a:t> </a:t>
            </a:r>
            <a:r>
              <a:rPr lang="en-US" altLang="ko-KR" sz="1050"/>
              <a:t>Export</a:t>
            </a:r>
            <a:r>
              <a:rPr lang="ko-KR" altLang="en-US" sz="1050"/>
              <a:t> </a:t>
            </a:r>
            <a:r>
              <a:rPr lang="en-US" altLang="ko-KR" sz="1050"/>
              <a:t>PP</a:t>
            </a:r>
            <a:endParaRPr lang="ko-KR" altLang="en-US" sz="1050"/>
          </a:p>
        </p:txBody>
      </p:sp>
      <p:sp>
        <p:nvSpPr>
          <p:cNvPr id="162" name="타원 161">
            <a:extLst>
              <a:ext uri="{FF2B5EF4-FFF2-40B4-BE49-F238E27FC236}">
                <a16:creationId xmlns:a16="http://schemas.microsoft.com/office/drawing/2014/main" id="{95FF38C3-6037-4DC0-97BE-F8935D5F562F}"/>
              </a:ext>
            </a:extLst>
          </p:cNvPr>
          <p:cNvSpPr/>
          <p:nvPr/>
        </p:nvSpPr>
        <p:spPr>
          <a:xfrm>
            <a:off x="8958976" y="6706687"/>
            <a:ext cx="1796879" cy="529062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rgbClr val="FF0000"/>
                </a:solidFill>
              </a:rPr>
              <a:t>Profile?</a:t>
            </a:r>
          </a:p>
          <a:p>
            <a:pPr algn="ctr"/>
            <a:r>
              <a:rPr lang="en-US" altLang="ko-KR" sz="1200">
                <a:solidFill>
                  <a:srgbClr val="FF0000"/>
                </a:solidFill>
              </a:rPr>
              <a:t>Debug?</a:t>
            </a:r>
            <a:endParaRPr lang="ko-KR" altLang="en-US" sz="1200">
              <a:solidFill>
                <a:srgbClr val="FF0000"/>
              </a:solidFill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B14FF863-45C8-46C3-993D-DFE401177E29}"/>
              </a:ext>
            </a:extLst>
          </p:cNvPr>
          <p:cNvSpPr txBox="1"/>
          <p:nvPr/>
        </p:nvSpPr>
        <p:spPr>
          <a:xfrm>
            <a:off x="8393263" y="6733905"/>
            <a:ext cx="640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solidFill>
                  <a:srgbClr val="FF0000"/>
                </a:solidFill>
              </a:rPr>
              <a:t>??</a:t>
            </a:r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164" name="연결선: 구부러짐 163">
            <a:extLst>
              <a:ext uri="{FF2B5EF4-FFF2-40B4-BE49-F238E27FC236}">
                <a16:creationId xmlns:a16="http://schemas.microsoft.com/office/drawing/2014/main" id="{7F199C6A-E23C-42DC-842F-9BFC31A15BE2}"/>
              </a:ext>
            </a:extLst>
          </p:cNvPr>
          <p:cNvCxnSpPr>
            <a:cxnSpLocks/>
          </p:cNvCxnSpPr>
          <p:nvPr/>
        </p:nvCxnSpPr>
        <p:spPr>
          <a:xfrm rot="10800000" flipV="1">
            <a:off x="7802873" y="7025048"/>
            <a:ext cx="1156104" cy="175427"/>
          </a:xfrm>
          <a:prstGeom prst="curved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5" name="TextBox 164">
            <a:extLst>
              <a:ext uri="{FF2B5EF4-FFF2-40B4-BE49-F238E27FC236}">
                <a16:creationId xmlns:a16="http://schemas.microsoft.com/office/drawing/2014/main" id="{BB794DA3-AE0D-4814-A9FB-5994D814E295}"/>
              </a:ext>
            </a:extLst>
          </p:cNvPr>
          <p:cNvSpPr txBox="1"/>
          <p:nvPr/>
        </p:nvSpPr>
        <p:spPr>
          <a:xfrm>
            <a:off x="4804228" y="9053583"/>
            <a:ext cx="20722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/>
              <a:t>Custom HAL </a:t>
            </a:r>
            <a:r>
              <a:rPr lang="ko-KR" altLang="en-US" sz="700"/>
              <a:t>생성</a:t>
            </a:r>
            <a:r>
              <a:rPr lang="en-US" altLang="ko-KR" sz="700"/>
              <a:t>, -&gt; </a:t>
            </a:r>
            <a:r>
              <a:rPr lang="ko-KR" altLang="en-US" sz="700"/>
              <a:t>필요한가</a:t>
            </a:r>
            <a:r>
              <a:rPr lang="en-US" altLang="ko-KR" sz="700"/>
              <a:t>? Plan</a:t>
            </a:r>
            <a:r>
              <a:rPr lang="ko-KR" altLang="en-US" sz="700"/>
              <a:t>과 </a:t>
            </a:r>
            <a:r>
              <a:rPr lang="en-US" altLang="ko-KR" sz="700"/>
              <a:t>Runtime</a:t>
            </a:r>
            <a:r>
              <a:rPr lang="ko-KR" altLang="en-US" sz="700"/>
              <a:t>이 어떻게 되는지에 따라 필요없을 수도</a:t>
            </a:r>
            <a:endParaRPr lang="en-US" altLang="ko-KR" sz="70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343E21A9-A8EB-4140-853F-49317AF2AEA8}"/>
              </a:ext>
            </a:extLst>
          </p:cNvPr>
          <p:cNvSpPr txBox="1"/>
          <p:nvPr/>
        </p:nvSpPr>
        <p:spPr>
          <a:xfrm>
            <a:off x="4815722" y="9422368"/>
            <a:ext cx="20722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/>
              <a:t>Plan.json </a:t>
            </a:r>
            <a:r>
              <a:rPr lang="ko-KR" altLang="en-US" sz="700"/>
              <a:t>생성</a:t>
            </a:r>
            <a:endParaRPr lang="en-US" altLang="ko-KR" sz="700"/>
          </a:p>
        </p:txBody>
      </p:sp>
      <p:sp>
        <p:nvSpPr>
          <p:cNvPr id="167" name="왼쪽 중괄호 166">
            <a:extLst>
              <a:ext uri="{FF2B5EF4-FFF2-40B4-BE49-F238E27FC236}">
                <a16:creationId xmlns:a16="http://schemas.microsoft.com/office/drawing/2014/main" id="{7C2704DA-0CEB-49FB-A68D-F88E1D09919A}"/>
              </a:ext>
            </a:extLst>
          </p:cNvPr>
          <p:cNvSpPr/>
          <p:nvPr/>
        </p:nvSpPr>
        <p:spPr>
          <a:xfrm>
            <a:off x="1887434" y="9098860"/>
            <a:ext cx="174259" cy="610141"/>
          </a:xfrm>
          <a:prstGeom prst="leftBrace">
            <a:avLst>
              <a:gd name="adj1" fmla="val 152096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화살표: 오른쪽 30">
            <a:extLst>
              <a:ext uri="{FF2B5EF4-FFF2-40B4-BE49-F238E27FC236}">
                <a16:creationId xmlns:a16="http://schemas.microsoft.com/office/drawing/2014/main" id="{84EA6701-50E9-4028-888A-28A3350A6DB8}"/>
              </a:ext>
            </a:extLst>
          </p:cNvPr>
          <p:cNvSpPr/>
          <p:nvPr/>
        </p:nvSpPr>
        <p:spPr>
          <a:xfrm>
            <a:off x="211324" y="10303843"/>
            <a:ext cx="1185511" cy="610141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17DAFCD-B058-4284-AB91-94220A569C00}"/>
              </a:ext>
            </a:extLst>
          </p:cNvPr>
          <p:cNvSpPr txBox="1"/>
          <p:nvPr/>
        </p:nvSpPr>
        <p:spPr>
          <a:xfrm>
            <a:off x="1571899" y="10067368"/>
            <a:ext cx="32438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결과물</a:t>
            </a:r>
            <a:endParaRPr lang="en-US" altLang="ko-KR"/>
          </a:p>
          <a:p>
            <a:r>
              <a:rPr lang="en-US" altLang="ko-KR"/>
              <a:t>- core</a:t>
            </a:r>
            <a:r>
              <a:rPr lang="ko-KR" altLang="en-US"/>
              <a:t>별 </a:t>
            </a:r>
            <a:r>
              <a:rPr lang="en-US" altLang="ko-KR"/>
              <a:t>binary : .cbin</a:t>
            </a:r>
          </a:p>
          <a:p>
            <a:r>
              <a:rPr lang="en-US" altLang="ko-KR"/>
              <a:t>- meta data binary : .wbin</a:t>
            </a:r>
          </a:p>
          <a:p>
            <a:r>
              <a:rPr lang="en-US" altLang="ko-KR"/>
              <a:t>- plan : plan.json(?)</a:t>
            </a:r>
            <a:endParaRPr lang="ko-KR" altLang="en-US"/>
          </a:p>
        </p:txBody>
      </p: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48462175-3CAC-42CA-82AA-39E2F2F01A3E}"/>
              </a:ext>
            </a:extLst>
          </p:cNvPr>
          <p:cNvSpPr/>
          <p:nvPr/>
        </p:nvSpPr>
        <p:spPr>
          <a:xfrm>
            <a:off x="4709281" y="11195615"/>
            <a:ext cx="2015791" cy="6139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Runtime </a:t>
            </a:r>
            <a:r>
              <a:rPr lang="ko-KR" altLang="en-US" sz="1000">
                <a:solidFill>
                  <a:schemeClr val="tx1"/>
                </a:solidFill>
              </a:rPr>
              <a:t>제작</a:t>
            </a: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E5908F4E-8E7D-44AA-87F0-418EF4FD3C14}"/>
              </a:ext>
            </a:extLst>
          </p:cNvPr>
          <p:cNvCxnSpPr/>
          <p:nvPr/>
        </p:nvCxnSpPr>
        <p:spPr>
          <a:xfrm flipH="1">
            <a:off x="2845253" y="9709001"/>
            <a:ext cx="4042679" cy="2482999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B8E9DD51-512A-4C82-9B19-58A7328A3F34}"/>
              </a:ext>
            </a:extLst>
          </p:cNvPr>
          <p:cNvSpPr txBox="1"/>
          <p:nvPr/>
        </p:nvSpPr>
        <p:spPr>
          <a:xfrm>
            <a:off x="3767238" y="9067669"/>
            <a:ext cx="12848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>
                <a:solidFill>
                  <a:srgbClr val="FF0000"/>
                </a:solidFill>
              </a:rPr>
              <a:t>??</a:t>
            </a:r>
            <a:endParaRPr lang="ko-KR" altLang="en-US" sz="40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88257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F2A121C6-BEE8-4738-8922-8894D99F2177}"/>
              </a:ext>
            </a:extLst>
          </p:cNvPr>
          <p:cNvCxnSpPr/>
          <p:nvPr/>
        </p:nvCxnSpPr>
        <p:spPr>
          <a:xfrm>
            <a:off x="381000" y="3998487"/>
            <a:ext cx="6096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7374F25B-DD6F-44FB-AD96-E63624C45AF3}"/>
              </a:ext>
            </a:extLst>
          </p:cNvPr>
          <p:cNvCxnSpPr/>
          <p:nvPr/>
        </p:nvCxnSpPr>
        <p:spPr>
          <a:xfrm>
            <a:off x="381943" y="8010782"/>
            <a:ext cx="6096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732755C-DA09-40C0-9AEC-DA97A6C04BE4}"/>
              </a:ext>
            </a:extLst>
          </p:cNvPr>
          <p:cNvSpPr txBox="1"/>
          <p:nvPr/>
        </p:nvSpPr>
        <p:spPr>
          <a:xfrm>
            <a:off x="188686" y="1238128"/>
            <a:ext cx="2815772" cy="276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INF_CAP Layer (infetron-capability layer)</a:t>
            </a:r>
            <a:endParaRPr lang="ko-KR" altLang="en-US" sz="12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160D73-4970-461A-9958-22563D364635}"/>
              </a:ext>
            </a:extLst>
          </p:cNvPr>
          <p:cNvSpPr txBox="1"/>
          <p:nvPr/>
        </p:nvSpPr>
        <p:spPr>
          <a:xfrm>
            <a:off x="188686" y="4080841"/>
            <a:ext cx="2815772" cy="276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INF_ISA Layer (infetron-ISA layer)</a:t>
            </a:r>
            <a:endParaRPr lang="ko-KR" altLang="en-US" sz="12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3E492C-96F3-49C7-8187-8A17CC0C3B2E}"/>
              </a:ext>
            </a:extLst>
          </p:cNvPr>
          <p:cNvSpPr txBox="1"/>
          <p:nvPr/>
        </p:nvSpPr>
        <p:spPr>
          <a:xfrm>
            <a:off x="189629" y="8119639"/>
            <a:ext cx="2815772" cy="276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INF_Q Layer (infetron-Queue layer)</a:t>
            </a:r>
            <a:endParaRPr lang="ko-KR" altLang="en-US" sz="120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E9197D8-D3AC-481F-AB12-F6C24D502447}"/>
              </a:ext>
            </a:extLst>
          </p:cNvPr>
          <p:cNvSpPr/>
          <p:nvPr/>
        </p:nvSpPr>
        <p:spPr>
          <a:xfrm>
            <a:off x="2101659" y="4398276"/>
            <a:ext cx="2015791" cy="2754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To NCore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6E55AA7-4323-4136-ABB7-FE2B0AE99E41}"/>
              </a:ext>
            </a:extLst>
          </p:cNvPr>
          <p:cNvSpPr/>
          <p:nvPr/>
        </p:nvSpPr>
        <p:spPr>
          <a:xfrm>
            <a:off x="4117450" y="4399078"/>
            <a:ext cx="640776" cy="2754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DB61691-8164-4485-AC68-63DDC1288AA5}"/>
              </a:ext>
            </a:extLst>
          </p:cNvPr>
          <p:cNvSpPr/>
          <p:nvPr/>
        </p:nvSpPr>
        <p:spPr>
          <a:xfrm>
            <a:off x="2101659" y="4810272"/>
            <a:ext cx="2015791" cy="2754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To APCore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BD05411-0082-4DB0-A56A-E1C954F44E2F}"/>
              </a:ext>
            </a:extLst>
          </p:cNvPr>
          <p:cNvSpPr/>
          <p:nvPr/>
        </p:nvSpPr>
        <p:spPr>
          <a:xfrm>
            <a:off x="4117450" y="4811074"/>
            <a:ext cx="640776" cy="2754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4C170B2-42FE-4432-ACFA-4C4DF1610F05}"/>
              </a:ext>
            </a:extLst>
          </p:cNvPr>
          <p:cNvSpPr/>
          <p:nvPr/>
        </p:nvSpPr>
        <p:spPr>
          <a:xfrm>
            <a:off x="3656139" y="5424465"/>
            <a:ext cx="2015791" cy="2754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PCore VLIW</a:t>
            </a:r>
            <a:r>
              <a:rPr lang="ko-KR" altLang="en-US" sz="1000">
                <a:solidFill>
                  <a:schemeClr val="tx1"/>
                </a:solidFill>
              </a:rPr>
              <a:t> </a:t>
            </a:r>
            <a:r>
              <a:rPr lang="en-US" altLang="ko-KR" sz="1000">
                <a:solidFill>
                  <a:schemeClr val="tx1"/>
                </a:solidFill>
              </a:rPr>
              <a:t>Packing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CB5F9B9-DDDA-4A06-B8A3-1DD974CBD99E}"/>
              </a:ext>
            </a:extLst>
          </p:cNvPr>
          <p:cNvSpPr/>
          <p:nvPr/>
        </p:nvSpPr>
        <p:spPr>
          <a:xfrm>
            <a:off x="5671930" y="5425267"/>
            <a:ext cx="640776" cy="2754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C6F07B29-555C-4D82-A38B-25943C13F699}"/>
              </a:ext>
            </a:extLst>
          </p:cNvPr>
          <p:cNvSpPr/>
          <p:nvPr/>
        </p:nvSpPr>
        <p:spPr>
          <a:xfrm>
            <a:off x="3656139" y="5808735"/>
            <a:ext cx="2015791" cy="27541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PCore Order Free Packing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C67F4DB-4472-4D09-BEC9-57C59390F984}"/>
              </a:ext>
            </a:extLst>
          </p:cNvPr>
          <p:cNvSpPr/>
          <p:nvPr/>
        </p:nvSpPr>
        <p:spPr>
          <a:xfrm>
            <a:off x="5671930" y="5809537"/>
            <a:ext cx="640776" cy="2754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76677B69-AD01-43FD-BB95-A96BB3ADFDF6}"/>
              </a:ext>
            </a:extLst>
          </p:cNvPr>
          <p:cNvSpPr/>
          <p:nvPr/>
        </p:nvSpPr>
        <p:spPr>
          <a:xfrm>
            <a:off x="3656139" y="6408541"/>
            <a:ext cx="2015791" cy="2754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PCore OrderingAndMarking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80FF052C-422A-4ACC-A65D-65EAF972A6D5}"/>
              </a:ext>
            </a:extLst>
          </p:cNvPr>
          <p:cNvSpPr/>
          <p:nvPr/>
        </p:nvSpPr>
        <p:spPr>
          <a:xfrm>
            <a:off x="5671930" y="6409343"/>
            <a:ext cx="640776" cy="2754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88246CFF-47B2-4A48-B5A4-74458B7F8ABC}"/>
              </a:ext>
            </a:extLst>
          </p:cNvPr>
          <p:cNvSpPr/>
          <p:nvPr/>
        </p:nvSpPr>
        <p:spPr>
          <a:xfrm>
            <a:off x="3656139" y="6792811"/>
            <a:ext cx="2015791" cy="27541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PCore Spreading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CB68DA58-414C-4A1C-B1FE-AD9530287392}"/>
              </a:ext>
            </a:extLst>
          </p:cNvPr>
          <p:cNvSpPr/>
          <p:nvPr/>
        </p:nvSpPr>
        <p:spPr>
          <a:xfrm>
            <a:off x="5671930" y="6793613"/>
            <a:ext cx="640776" cy="2754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C94AB98D-5DD0-43E9-9AA9-B1ED8D69333D}"/>
              </a:ext>
            </a:extLst>
          </p:cNvPr>
          <p:cNvSpPr/>
          <p:nvPr/>
        </p:nvSpPr>
        <p:spPr>
          <a:xfrm>
            <a:off x="3656139" y="7191420"/>
            <a:ext cx="2015791" cy="27541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PCore Folding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B93DF95C-504E-480D-AAD4-5B57089EFB61}"/>
              </a:ext>
            </a:extLst>
          </p:cNvPr>
          <p:cNvSpPr/>
          <p:nvPr/>
        </p:nvSpPr>
        <p:spPr>
          <a:xfrm>
            <a:off x="5671930" y="7192222"/>
            <a:ext cx="640776" cy="2754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1882D0AD-DAF7-4FEF-A3CC-B8B85147D545}"/>
              </a:ext>
            </a:extLst>
          </p:cNvPr>
          <p:cNvSpPr/>
          <p:nvPr/>
        </p:nvSpPr>
        <p:spPr>
          <a:xfrm>
            <a:off x="3656139" y="7575690"/>
            <a:ext cx="2015791" cy="27541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PCore ISA</a:t>
            </a:r>
            <a:r>
              <a:rPr lang="ko-KR" altLang="en-US" sz="1000">
                <a:solidFill>
                  <a:schemeClr val="tx1"/>
                </a:solidFill>
              </a:rPr>
              <a:t> </a:t>
            </a:r>
            <a:r>
              <a:rPr lang="en-US" altLang="ko-KR" sz="1000">
                <a:solidFill>
                  <a:schemeClr val="tx1"/>
                </a:solidFill>
              </a:rPr>
              <a:t>Canonicalization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B1B278A0-0E25-430F-969E-51A8A8919A61}"/>
              </a:ext>
            </a:extLst>
          </p:cNvPr>
          <p:cNvSpPr/>
          <p:nvPr/>
        </p:nvSpPr>
        <p:spPr>
          <a:xfrm>
            <a:off x="5671930" y="7576492"/>
            <a:ext cx="640776" cy="2754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B54A50FA-DE19-425B-A861-B5EDF1766960}"/>
              </a:ext>
            </a:extLst>
          </p:cNvPr>
          <p:cNvSpPr/>
          <p:nvPr/>
        </p:nvSpPr>
        <p:spPr>
          <a:xfrm>
            <a:off x="348834" y="6503063"/>
            <a:ext cx="2015791" cy="275414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A core BlackBox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304B3B21-7DC7-417C-B7AB-4DE3E428F7DF}"/>
              </a:ext>
            </a:extLst>
          </p:cNvPr>
          <p:cNvSpPr/>
          <p:nvPr/>
        </p:nvSpPr>
        <p:spPr>
          <a:xfrm>
            <a:off x="2364625" y="6503865"/>
            <a:ext cx="640776" cy="2754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E1C7CB67-DD0E-49B0-A0C6-DF4378CDCE55}"/>
              </a:ext>
            </a:extLst>
          </p:cNvPr>
          <p:cNvSpPr/>
          <p:nvPr/>
        </p:nvSpPr>
        <p:spPr>
          <a:xfrm>
            <a:off x="2101659" y="8623817"/>
            <a:ext cx="2015791" cy="27541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Create QMManager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7800EA20-9F98-4CA1-A507-825E72CE4ACB}"/>
              </a:ext>
            </a:extLst>
          </p:cNvPr>
          <p:cNvSpPr/>
          <p:nvPr/>
        </p:nvSpPr>
        <p:spPr>
          <a:xfrm>
            <a:off x="4117450" y="8624619"/>
            <a:ext cx="640776" cy="2754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67909824-C02B-4221-B3B4-426D8EAF9BFE}"/>
              </a:ext>
            </a:extLst>
          </p:cNvPr>
          <p:cNvSpPr/>
          <p:nvPr/>
        </p:nvSpPr>
        <p:spPr>
          <a:xfrm>
            <a:off x="2101659" y="9008984"/>
            <a:ext cx="2015791" cy="2754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ISA To Q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8024498E-4286-47AB-8C5C-71047F74F076}"/>
              </a:ext>
            </a:extLst>
          </p:cNvPr>
          <p:cNvSpPr/>
          <p:nvPr/>
        </p:nvSpPr>
        <p:spPr>
          <a:xfrm>
            <a:off x="4117450" y="9009786"/>
            <a:ext cx="640776" cy="2754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81596E46-A358-49BE-8E31-7B2849CCE512}"/>
              </a:ext>
            </a:extLst>
          </p:cNvPr>
          <p:cNvSpPr/>
          <p:nvPr/>
        </p:nvSpPr>
        <p:spPr>
          <a:xfrm>
            <a:off x="2101659" y="9420980"/>
            <a:ext cx="2015791" cy="27541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Reordering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8C307A34-FFB1-439B-B2E1-6074D82A8441}"/>
              </a:ext>
            </a:extLst>
          </p:cNvPr>
          <p:cNvSpPr/>
          <p:nvPr/>
        </p:nvSpPr>
        <p:spPr>
          <a:xfrm>
            <a:off x="4117450" y="9421782"/>
            <a:ext cx="640776" cy="2754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AB97E2B7-92BE-4758-855D-E6636EB319C1}"/>
              </a:ext>
            </a:extLst>
          </p:cNvPr>
          <p:cNvSpPr/>
          <p:nvPr/>
        </p:nvSpPr>
        <p:spPr>
          <a:xfrm>
            <a:off x="2101659" y="9832177"/>
            <a:ext cx="2015791" cy="27541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Destroy QMManager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B934AE09-0482-4B01-92F9-9023AD538FE0}"/>
              </a:ext>
            </a:extLst>
          </p:cNvPr>
          <p:cNvSpPr/>
          <p:nvPr/>
        </p:nvSpPr>
        <p:spPr>
          <a:xfrm>
            <a:off x="4117450" y="9832979"/>
            <a:ext cx="640776" cy="2754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FF1D71C3-8380-4EC2-8CB9-D8993F5F553C}"/>
              </a:ext>
            </a:extLst>
          </p:cNvPr>
          <p:cNvSpPr/>
          <p:nvPr/>
        </p:nvSpPr>
        <p:spPr>
          <a:xfrm>
            <a:off x="2101659" y="10285755"/>
            <a:ext cx="2015791" cy="2754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Q Bufferization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60856955-9A69-447B-A68A-74BC3763880D}"/>
              </a:ext>
            </a:extLst>
          </p:cNvPr>
          <p:cNvSpPr/>
          <p:nvPr/>
        </p:nvSpPr>
        <p:spPr>
          <a:xfrm>
            <a:off x="4117450" y="10286557"/>
            <a:ext cx="640776" cy="2754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0FC9829A-3CA3-4BA8-9E17-79BD6E548AE1}"/>
              </a:ext>
            </a:extLst>
          </p:cNvPr>
          <p:cNvSpPr/>
          <p:nvPr/>
        </p:nvSpPr>
        <p:spPr>
          <a:xfrm>
            <a:off x="2101659" y="10697751"/>
            <a:ext cx="2015791" cy="2754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CodeGen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AA5D2766-813F-4241-BB1E-E3E3B54A9B8E}"/>
              </a:ext>
            </a:extLst>
          </p:cNvPr>
          <p:cNvSpPr/>
          <p:nvPr/>
        </p:nvSpPr>
        <p:spPr>
          <a:xfrm>
            <a:off x="4117450" y="10698553"/>
            <a:ext cx="640776" cy="2754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A1385EC1-0BC0-4A4B-9606-E46B2F46ECBF}"/>
              </a:ext>
            </a:extLst>
          </p:cNvPr>
          <p:cNvSpPr/>
          <p:nvPr/>
        </p:nvSpPr>
        <p:spPr>
          <a:xfrm>
            <a:off x="2101659" y="11108948"/>
            <a:ext cx="2015791" cy="2754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Q To HAL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33321B27-1075-41B2-86A9-4FCB3C22401D}"/>
              </a:ext>
            </a:extLst>
          </p:cNvPr>
          <p:cNvSpPr/>
          <p:nvPr/>
        </p:nvSpPr>
        <p:spPr>
          <a:xfrm>
            <a:off x="4117450" y="11109750"/>
            <a:ext cx="640776" cy="2754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10BEB3E1-4F15-4E21-9142-B51DA7B5CA4E}"/>
              </a:ext>
            </a:extLst>
          </p:cNvPr>
          <p:cNvSpPr/>
          <p:nvPr/>
        </p:nvSpPr>
        <p:spPr>
          <a:xfrm>
            <a:off x="2101659" y="11583477"/>
            <a:ext cx="2015791" cy="2754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Serialization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B321EA60-041D-4C17-9B93-2BDEEB443624}"/>
              </a:ext>
            </a:extLst>
          </p:cNvPr>
          <p:cNvSpPr/>
          <p:nvPr/>
        </p:nvSpPr>
        <p:spPr>
          <a:xfrm>
            <a:off x="4117450" y="11584279"/>
            <a:ext cx="640776" cy="2754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88" name="왼쪽 중괄호 87">
            <a:extLst>
              <a:ext uri="{FF2B5EF4-FFF2-40B4-BE49-F238E27FC236}">
                <a16:creationId xmlns:a16="http://schemas.microsoft.com/office/drawing/2014/main" id="{0304C859-A350-4609-A73A-012FF716B4D0}"/>
              </a:ext>
            </a:extLst>
          </p:cNvPr>
          <p:cNvSpPr/>
          <p:nvPr/>
        </p:nvSpPr>
        <p:spPr>
          <a:xfrm>
            <a:off x="1732902" y="1732622"/>
            <a:ext cx="354956" cy="2128157"/>
          </a:xfrm>
          <a:prstGeom prst="leftBrace">
            <a:avLst>
              <a:gd name="adj1" fmla="val 152096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61E78192-5884-471D-A23E-476BC1A0B218}"/>
              </a:ext>
            </a:extLst>
          </p:cNvPr>
          <p:cNvSpPr txBox="1"/>
          <p:nvPr/>
        </p:nvSpPr>
        <p:spPr>
          <a:xfrm>
            <a:off x="452741" y="2145588"/>
            <a:ext cx="12801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/>
              <a:t>IREE</a:t>
            </a:r>
            <a:r>
              <a:rPr lang="ko-KR" altLang="en-US" sz="1050"/>
              <a:t> </a:t>
            </a:r>
            <a:r>
              <a:rPr lang="en-US" altLang="ko-KR" sz="1050"/>
              <a:t>to CAP PP</a:t>
            </a:r>
            <a:endParaRPr lang="ko-KR" altLang="en-US" sz="1050"/>
          </a:p>
        </p:txBody>
      </p:sp>
      <p:sp>
        <p:nvSpPr>
          <p:cNvPr id="90" name="왼쪽 중괄호 89">
            <a:extLst>
              <a:ext uri="{FF2B5EF4-FFF2-40B4-BE49-F238E27FC236}">
                <a16:creationId xmlns:a16="http://schemas.microsoft.com/office/drawing/2014/main" id="{481D57A5-2F5D-4C57-BCF2-8E0EF68E8F3F}"/>
              </a:ext>
            </a:extLst>
          </p:cNvPr>
          <p:cNvSpPr/>
          <p:nvPr/>
        </p:nvSpPr>
        <p:spPr>
          <a:xfrm>
            <a:off x="1766243" y="4407169"/>
            <a:ext cx="322557" cy="692782"/>
          </a:xfrm>
          <a:prstGeom prst="leftBrace">
            <a:avLst>
              <a:gd name="adj1" fmla="val 152096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AA514F4-529C-4C9F-ACA9-9BF118513596}"/>
              </a:ext>
            </a:extLst>
          </p:cNvPr>
          <p:cNvSpPr txBox="1"/>
          <p:nvPr/>
        </p:nvSpPr>
        <p:spPr>
          <a:xfrm>
            <a:off x="459169" y="4612323"/>
            <a:ext cx="12801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/>
              <a:t>CAP to ISA PP</a:t>
            </a:r>
            <a:endParaRPr lang="ko-KR" altLang="en-US" sz="1050"/>
          </a:p>
        </p:txBody>
      </p:sp>
      <p:sp>
        <p:nvSpPr>
          <p:cNvPr id="92" name="왼쪽 중괄호 91">
            <a:extLst>
              <a:ext uri="{FF2B5EF4-FFF2-40B4-BE49-F238E27FC236}">
                <a16:creationId xmlns:a16="http://schemas.microsoft.com/office/drawing/2014/main" id="{3DC1F2BF-1585-40BE-9FB1-7519DBF47DD4}"/>
              </a:ext>
            </a:extLst>
          </p:cNvPr>
          <p:cNvSpPr/>
          <p:nvPr/>
        </p:nvSpPr>
        <p:spPr>
          <a:xfrm>
            <a:off x="3464528" y="5424465"/>
            <a:ext cx="191611" cy="660481"/>
          </a:xfrm>
          <a:prstGeom prst="leftBrace">
            <a:avLst>
              <a:gd name="adj1" fmla="val 152096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7153FB6-7E80-41D0-8CC5-9DB5820C9335}"/>
              </a:ext>
            </a:extLst>
          </p:cNvPr>
          <p:cNvSpPr txBox="1"/>
          <p:nvPr/>
        </p:nvSpPr>
        <p:spPr>
          <a:xfrm>
            <a:off x="2193244" y="5604369"/>
            <a:ext cx="12801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/>
              <a:t>PCore Packing PP</a:t>
            </a:r>
            <a:endParaRPr lang="ko-KR" altLang="en-US" sz="1050"/>
          </a:p>
        </p:txBody>
      </p:sp>
      <p:sp>
        <p:nvSpPr>
          <p:cNvPr id="94" name="왼쪽 중괄호 93">
            <a:extLst>
              <a:ext uri="{FF2B5EF4-FFF2-40B4-BE49-F238E27FC236}">
                <a16:creationId xmlns:a16="http://schemas.microsoft.com/office/drawing/2014/main" id="{094CD9D3-652B-4E69-BB47-FD4880E4D325}"/>
              </a:ext>
            </a:extLst>
          </p:cNvPr>
          <p:cNvSpPr/>
          <p:nvPr/>
        </p:nvSpPr>
        <p:spPr>
          <a:xfrm>
            <a:off x="3456346" y="6421099"/>
            <a:ext cx="191611" cy="1430004"/>
          </a:xfrm>
          <a:prstGeom prst="leftBrace">
            <a:avLst>
              <a:gd name="adj1" fmla="val 152096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2F06C8E6-A07E-496F-B3BE-D639E8F15304}"/>
              </a:ext>
            </a:extLst>
          </p:cNvPr>
          <p:cNvSpPr txBox="1"/>
          <p:nvPr/>
        </p:nvSpPr>
        <p:spPr>
          <a:xfrm>
            <a:off x="2168004" y="7003690"/>
            <a:ext cx="12801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/>
              <a:t>PCore Packing PP</a:t>
            </a:r>
            <a:endParaRPr lang="ko-KR" altLang="en-US" sz="1050"/>
          </a:p>
        </p:txBody>
      </p:sp>
      <p:sp>
        <p:nvSpPr>
          <p:cNvPr id="96" name="왼쪽 중괄호 95">
            <a:extLst>
              <a:ext uri="{FF2B5EF4-FFF2-40B4-BE49-F238E27FC236}">
                <a16:creationId xmlns:a16="http://schemas.microsoft.com/office/drawing/2014/main" id="{98F2D920-6188-4D25-976F-704FBE6BD076}"/>
              </a:ext>
            </a:extLst>
          </p:cNvPr>
          <p:cNvSpPr/>
          <p:nvPr/>
        </p:nvSpPr>
        <p:spPr>
          <a:xfrm>
            <a:off x="1910048" y="8623018"/>
            <a:ext cx="191611" cy="1472588"/>
          </a:xfrm>
          <a:prstGeom prst="leftBrace">
            <a:avLst>
              <a:gd name="adj1" fmla="val 152096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2D4B4F9A-3AFD-46BD-B56D-D604C8E90C04}"/>
              </a:ext>
            </a:extLst>
          </p:cNvPr>
          <p:cNvSpPr txBox="1"/>
          <p:nvPr/>
        </p:nvSpPr>
        <p:spPr>
          <a:xfrm>
            <a:off x="629192" y="9223687"/>
            <a:ext cx="12801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/>
              <a:t>ISA</a:t>
            </a:r>
            <a:r>
              <a:rPr lang="ko-KR" altLang="en-US" sz="1050"/>
              <a:t> </a:t>
            </a:r>
            <a:r>
              <a:rPr lang="en-US" altLang="ko-KR" sz="1050"/>
              <a:t>to</a:t>
            </a:r>
            <a:r>
              <a:rPr lang="ko-KR" altLang="en-US" sz="1050"/>
              <a:t> </a:t>
            </a:r>
            <a:r>
              <a:rPr lang="en-US" altLang="ko-KR" sz="1050"/>
              <a:t>Q</a:t>
            </a:r>
            <a:r>
              <a:rPr lang="ko-KR" altLang="en-US" sz="1050"/>
              <a:t> </a:t>
            </a:r>
            <a:r>
              <a:rPr lang="en-US" altLang="ko-KR" sz="1050"/>
              <a:t>PP</a:t>
            </a:r>
            <a:endParaRPr lang="ko-KR" altLang="en-US" sz="1050"/>
          </a:p>
        </p:txBody>
      </p:sp>
      <p:sp>
        <p:nvSpPr>
          <p:cNvPr id="98" name="왼쪽 중괄호 97">
            <a:extLst>
              <a:ext uri="{FF2B5EF4-FFF2-40B4-BE49-F238E27FC236}">
                <a16:creationId xmlns:a16="http://schemas.microsoft.com/office/drawing/2014/main" id="{2E187BBE-3447-4153-AD97-9B965916A3C0}"/>
              </a:ext>
            </a:extLst>
          </p:cNvPr>
          <p:cNvSpPr/>
          <p:nvPr/>
        </p:nvSpPr>
        <p:spPr>
          <a:xfrm>
            <a:off x="1897189" y="10285755"/>
            <a:ext cx="191611" cy="1098607"/>
          </a:xfrm>
          <a:prstGeom prst="leftBrace">
            <a:avLst>
              <a:gd name="adj1" fmla="val 152096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2E74191C-00E8-491A-AE55-1D965C4009B5}"/>
              </a:ext>
            </a:extLst>
          </p:cNvPr>
          <p:cNvSpPr txBox="1"/>
          <p:nvPr/>
        </p:nvSpPr>
        <p:spPr>
          <a:xfrm>
            <a:off x="616870" y="10715939"/>
            <a:ext cx="12801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/>
              <a:t>Q to HAL</a:t>
            </a:r>
            <a:r>
              <a:rPr lang="ko-KR" altLang="en-US" sz="1050"/>
              <a:t> </a:t>
            </a:r>
            <a:r>
              <a:rPr lang="en-US" altLang="ko-KR" sz="1050"/>
              <a:t>PP</a:t>
            </a:r>
            <a:endParaRPr lang="ko-KR" altLang="en-US" sz="105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4F306FD5-DC43-45CA-B1D7-A229CE93053F}"/>
              </a:ext>
            </a:extLst>
          </p:cNvPr>
          <p:cNvSpPr txBox="1"/>
          <p:nvPr/>
        </p:nvSpPr>
        <p:spPr>
          <a:xfrm>
            <a:off x="616870" y="11578423"/>
            <a:ext cx="12801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/>
              <a:t>Serialization</a:t>
            </a:r>
            <a:r>
              <a:rPr lang="ko-KR" altLang="en-US" sz="1050"/>
              <a:t> </a:t>
            </a:r>
            <a:r>
              <a:rPr lang="en-US" altLang="ko-KR" sz="1050"/>
              <a:t>PP</a:t>
            </a:r>
            <a:endParaRPr lang="ko-KR" altLang="en-US" sz="1050"/>
          </a:p>
        </p:txBody>
      </p:sp>
      <p:cxnSp>
        <p:nvCxnSpPr>
          <p:cNvPr id="102" name="연결선: 구부러짐 101">
            <a:extLst>
              <a:ext uri="{FF2B5EF4-FFF2-40B4-BE49-F238E27FC236}">
                <a16:creationId xmlns:a16="http://schemas.microsoft.com/office/drawing/2014/main" id="{FA924854-6C70-4747-B722-CFD875FEFF4D}"/>
              </a:ext>
            </a:extLst>
          </p:cNvPr>
          <p:cNvCxnSpPr>
            <a:stCxn id="26" idx="2"/>
            <a:endCxn id="50" idx="0"/>
          </p:cNvCxnSpPr>
          <p:nvPr/>
        </p:nvCxnSpPr>
        <p:spPr>
          <a:xfrm rot="5400000">
            <a:off x="1524455" y="4917962"/>
            <a:ext cx="1417377" cy="1752825"/>
          </a:xfrm>
          <a:prstGeom prst="curvedConnector3">
            <a:avLst>
              <a:gd name="adj1" fmla="val 2043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연결선: 구부러짐 103">
            <a:extLst>
              <a:ext uri="{FF2B5EF4-FFF2-40B4-BE49-F238E27FC236}">
                <a16:creationId xmlns:a16="http://schemas.microsoft.com/office/drawing/2014/main" id="{0C155DE9-FE17-4CA2-BA61-9B5D1CCEFC87}"/>
              </a:ext>
            </a:extLst>
          </p:cNvPr>
          <p:cNvCxnSpPr>
            <a:cxnSpLocks/>
            <a:stCxn id="26" idx="2"/>
            <a:endCxn id="29" idx="0"/>
          </p:cNvCxnSpPr>
          <p:nvPr/>
        </p:nvCxnSpPr>
        <p:spPr>
          <a:xfrm rot="16200000" flipH="1">
            <a:off x="3717406" y="4477835"/>
            <a:ext cx="338779" cy="1554480"/>
          </a:xfrm>
          <a:prstGeom prst="curvedConnector3">
            <a:avLst>
              <a:gd name="adj1" fmla="val 58997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연결선: 구부러짐 107">
            <a:extLst>
              <a:ext uri="{FF2B5EF4-FFF2-40B4-BE49-F238E27FC236}">
                <a16:creationId xmlns:a16="http://schemas.microsoft.com/office/drawing/2014/main" id="{91DD99E5-0F93-44DF-A95A-78377899455F}"/>
              </a:ext>
            </a:extLst>
          </p:cNvPr>
          <p:cNvCxnSpPr>
            <a:cxnSpLocks/>
            <a:stCxn id="50" idx="2"/>
            <a:endCxn id="68" idx="1"/>
          </p:cNvCxnSpPr>
          <p:nvPr/>
        </p:nvCxnSpPr>
        <p:spPr>
          <a:xfrm rot="16200000" flipH="1">
            <a:off x="545087" y="7590119"/>
            <a:ext cx="2368214" cy="744929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연결선: 구부러짐 110">
            <a:extLst>
              <a:ext uri="{FF2B5EF4-FFF2-40B4-BE49-F238E27FC236}">
                <a16:creationId xmlns:a16="http://schemas.microsoft.com/office/drawing/2014/main" id="{11E18459-29BB-4801-ACA2-1644F9200A20}"/>
              </a:ext>
            </a:extLst>
          </p:cNvPr>
          <p:cNvCxnSpPr>
            <a:cxnSpLocks/>
            <a:stCxn id="47" idx="2"/>
            <a:endCxn id="69" idx="3"/>
          </p:cNvCxnSpPr>
          <p:nvPr/>
        </p:nvCxnSpPr>
        <p:spPr>
          <a:xfrm rot="16200000" flipH="1">
            <a:off x="4062936" y="8452202"/>
            <a:ext cx="1296388" cy="94191"/>
          </a:xfrm>
          <a:prstGeom prst="curvedConnector4">
            <a:avLst>
              <a:gd name="adj1" fmla="val 44689"/>
              <a:gd name="adj2" fmla="val 1312753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C42294A2-7D87-4991-8271-9B2C66B20B89}"/>
              </a:ext>
            </a:extLst>
          </p:cNvPr>
          <p:cNvSpPr/>
          <p:nvPr/>
        </p:nvSpPr>
        <p:spPr>
          <a:xfrm>
            <a:off x="3647014" y="282096"/>
            <a:ext cx="2015791" cy="2754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1</a:t>
            </a:r>
            <a:r>
              <a:rPr lang="ko-KR" altLang="en-US" sz="1000">
                <a:solidFill>
                  <a:schemeClr val="tx1"/>
                </a:solidFill>
              </a:rPr>
              <a:t>순위 구현</a:t>
            </a:r>
          </a:p>
        </p:txBody>
      </p: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BB47274E-D2F1-45DF-AC90-AB1D672B958F}"/>
              </a:ext>
            </a:extLst>
          </p:cNvPr>
          <p:cNvSpPr/>
          <p:nvPr/>
        </p:nvSpPr>
        <p:spPr>
          <a:xfrm>
            <a:off x="5662805" y="282898"/>
            <a:ext cx="640776" cy="27541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</a:rPr>
              <a:t>완성</a:t>
            </a:r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EE04C433-2BBF-4375-AC71-807CB1DBB574}"/>
              </a:ext>
            </a:extLst>
          </p:cNvPr>
          <p:cNvSpPr/>
          <p:nvPr/>
        </p:nvSpPr>
        <p:spPr>
          <a:xfrm>
            <a:off x="3647014" y="643056"/>
            <a:ext cx="2015791" cy="27541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2</a:t>
            </a:r>
            <a:r>
              <a:rPr lang="ko-KR" altLang="en-US" sz="1000">
                <a:solidFill>
                  <a:schemeClr val="tx1"/>
                </a:solidFill>
              </a:rPr>
              <a:t>순위 구현</a:t>
            </a:r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92891D09-E426-4602-8F08-7AEBC183B3FE}"/>
              </a:ext>
            </a:extLst>
          </p:cNvPr>
          <p:cNvSpPr/>
          <p:nvPr/>
        </p:nvSpPr>
        <p:spPr>
          <a:xfrm>
            <a:off x="5662805" y="643858"/>
            <a:ext cx="640776" cy="27541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</a:rPr>
              <a:t>미숙</a:t>
            </a:r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38788297-D02F-4BE0-ACF3-FDDBF955E617}"/>
              </a:ext>
            </a:extLst>
          </p:cNvPr>
          <p:cNvSpPr/>
          <p:nvPr/>
        </p:nvSpPr>
        <p:spPr>
          <a:xfrm>
            <a:off x="3660151" y="1015971"/>
            <a:ext cx="2015791" cy="27541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3</a:t>
            </a:r>
            <a:r>
              <a:rPr lang="ko-KR" altLang="en-US" sz="1000">
                <a:solidFill>
                  <a:schemeClr val="tx1"/>
                </a:solidFill>
              </a:rPr>
              <a:t>순위 구현</a:t>
            </a:r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C9669444-F7E6-4A2D-ACFC-983B76200346}"/>
              </a:ext>
            </a:extLst>
          </p:cNvPr>
          <p:cNvSpPr/>
          <p:nvPr/>
        </p:nvSpPr>
        <p:spPr>
          <a:xfrm>
            <a:off x="5675942" y="1016773"/>
            <a:ext cx="640776" cy="2754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TODO</a:t>
            </a:r>
            <a:endParaRPr lang="ko-KR" altLang="en-US" sz="1000">
              <a:solidFill>
                <a:schemeClr val="tx1"/>
              </a:solidFill>
            </a:endParaRPr>
          </a:p>
        </p:txBody>
      </p: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3025141E-9C8E-42BF-B32B-A35A71393C55}"/>
              </a:ext>
            </a:extLst>
          </p:cNvPr>
          <p:cNvCxnSpPr/>
          <p:nvPr/>
        </p:nvCxnSpPr>
        <p:spPr>
          <a:xfrm>
            <a:off x="3343275" y="0"/>
            <a:ext cx="0" cy="1470361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5" name="직선 연결선 124">
            <a:extLst>
              <a:ext uri="{FF2B5EF4-FFF2-40B4-BE49-F238E27FC236}">
                <a16:creationId xmlns:a16="http://schemas.microsoft.com/office/drawing/2014/main" id="{6BB1F334-32E4-4924-B81F-316C062CA1A7}"/>
              </a:ext>
            </a:extLst>
          </p:cNvPr>
          <p:cNvCxnSpPr>
            <a:cxnSpLocks/>
          </p:cNvCxnSpPr>
          <p:nvPr/>
        </p:nvCxnSpPr>
        <p:spPr>
          <a:xfrm flipH="1" flipV="1">
            <a:off x="3343276" y="1470361"/>
            <a:ext cx="3514724" cy="7993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349DAED7-7C16-419D-96B0-E497865E70C3}"/>
              </a:ext>
            </a:extLst>
          </p:cNvPr>
          <p:cNvSpPr/>
          <p:nvPr/>
        </p:nvSpPr>
        <p:spPr>
          <a:xfrm>
            <a:off x="188686" y="675724"/>
            <a:ext cx="2015791" cy="27541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custom flow dispatch region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61958EBF-8CF9-45B2-AC6F-4F36386C236E}"/>
              </a:ext>
            </a:extLst>
          </p:cNvPr>
          <p:cNvSpPr/>
          <p:nvPr/>
        </p:nvSpPr>
        <p:spPr>
          <a:xfrm>
            <a:off x="2204477" y="676526"/>
            <a:ext cx="640776" cy="27541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260205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31" name="TextBox 130">
            <a:hlinkClick r:id="rId2" action="ppaction://hlinkfile"/>
            <a:extLst>
              <a:ext uri="{FF2B5EF4-FFF2-40B4-BE49-F238E27FC236}">
                <a16:creationId xmlns:a16="http://schemas.microsoft.com/office/drawing/2014/main" id="{DAEF28D4-8E01-4CA6-B7E3-BE27ACDD7B0B}"/>
              </a:ext>
            </a:extLst>
          </p:cNvPr>
          <p:cNvSpPr txBox="1"/>
          <p:nvPr/>
        </p:nvSpPr>
        <p:spPr>
          <a:xfrm>
            <a:off x="114300" y="217331"/>
            <a:ext cx="2705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/>
              <a:t>Workload (old)</a:t>
            </a:r>
            <a:endParaRPr lang="ko-KR" altLang="en-US" b="1"/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3C1DC86F-3DF0-4373-85D0-650269296BF5}"/>
              </a:ext>
            </a:extLst>
          </p:cNvPr>
          <p:cNvSpPr/>
          <p:nvPr/>
        </p:nvSpPr>
        <p:spPr>
          <a:xfrm>
            <a:off x="2087857" y="1586460"/>
            <a:ext cx="2015791" cy="2754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QDQFusion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A9345CAE-10E7-40B3-9777-9EC24BD47F3B}"/>
              </a:ext>
            </a:extLst>
          </p:cNvPr>
          <p:cNvSpPr/>
          <p:nvPr/>
        </p:nvSpPr>
        <p:spPr>
          <a:xfrm>
            <a:off x="4103648" y="1587262"/>
            <a:ext cx="640776" cy="27541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1EEF7336-357A-44DD-96D1-C51E3C23E0DA}"/>
              </a:ext>
            </a:extLst>
          </p:cNvPr>
          <p:cNvSpPr/>
          <p:nvPr/>
        </p:nvSpPr>
        <p:spPr>
          <a:xfrm>
            <a:off x="2087857" y="1917100"/>
            <a:ext cx="2015791" cy="2754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OpFusion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BCAAB80A-6F37-4443-8137-6F7658190933}"/>
              </a:ext>
            </a:extLst>
          </p:cNvPr>
          <p:cNvSpPr/>
          <p:nvPr/>
        </p:nvSpPr>
        <p:spPr>
          <a:xfrm>
            <a:off x="4103648" y="1917902"/>
            <a:ext cx="640776" cy="27541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EC5D64E1-F1F6-47E3-813D-4203EBCDF1BE}"/>
              </a:ext>
            </a:extLst>
          </p:cNvPr>
          <p:cNvSpPr/>
          <p:nvPr/>
        </p:nvSpPr>
        <p:spPr>
          <a:xfrm>
            <a:off x="2087857" y="2251563"/>
            <a:ext cx="2015791" cy="2754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PostOpFusion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AFFD428D-C5D3-4C85-900C-130EFBAAA2FB}"/>
              </a:ext>
            </a:extLst>
          </p:cNvPr>
          <p:cNvSpPr/>
          <p:nvPr/>
        </p:nvSpPr>
        <p:spPr>
          <a:xfrm>
            <a:off x="4103648" y="2252365"/>
            <a:ext cx="640776" cy="27541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530BB15F-14F8-4913-89F1-30D38F2356B7}"/>
              </a:ext>
            </a:extLst>
          </p:cNvPr>
          <p:cNvSpPr/>
          <p:nvPr/>
        </p:nvSpPr>
        <p:spPr>
          <a:xfrm>
            <a:off x="2087857" y="2582809"/>
            <a:ext cx="2015791" cy="2754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MonoOpFusion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27086CA4-9F12-4239-B333-159F31EA60E8}"/>
              </a:ext>
            </a:extLst>
          </p:cNvPr>
          <p:cNvSpPr/>
          <p:nvPr/>
        </p:nvSpPr>
        <p:spPr>
          <a:xfrm>
            <a:off x="4103648" y="2583611"/>
            <a:ext cx="640776" cy="27541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5299ED1C-DBEC-419E-966F-24FF3A7356BF}"/>
              </a:ext>
            </a:extLst>
          </p:cNvPr>
          <p:cNvSpPr/>
          <p:nvPr/>
        </p:nvSpPr>
        <p:spPr>
          <a:xfrm>
            <a:off x="2092534" y="2918962"/>
            <a:ext cx="2015791" cy="2754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VailPad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A090D868-53B9-48B7-98AB-A79B08A2EC65}"/>
              </a:ext>
            </a:extLst>
          </p:cNvPr>
          <p:cNvSpPr/>
          <p:nvPr/>
        </p:nvSpPr>
        <p:spPr>
          <a:xfrm>
            <a:off x="4108325" y="2919764"/>
            <a:ext cx="640776" cy="27541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7EB54409-DCE4-47B3-BF6E-42AA16AC98A9}"/>
              </a:ext>
            </a:extLst>
          </p:cNvPr>
          <p:cNvSpPr/>
          <p:nvPr/>
        </p:nvSpPr>
        <p:spPr>
          <a:xfrm>
            <a:off x="2087857" y="3250749"/>
            <a:ext cx="2015791" cy="2754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QOpFusion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EF5E303A-807D-4781-95B6-A4DC7E1C754C}"/>
              </a:ext>
            </a:extLst>
          </p:cNvPr>
          <p:cNvSpPr/>
          <p:nvPr/>
        </p:nvSpPr>
        <p:spPr>
          <a:xfrm>
            <a:off x="4103648" y="3251551"/>
            <a:ext cx="640776" cy="27541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D8AE60AE-9AC5-40A4-A228-F9A7214CC03B}"/>
              </a:ext>
            </a:extLst>
          </p:cNvPr>
          <p:cNvSpPr/>
          <p:nvPr/>
        </p:nvSpPr>
        <p:spPr>
          <a:xfrm>
            <a:off x="2092534" y="3583281"/>
            <a:ext cx="2015791" cy="2754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GenericOpen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4577592B-A844-42B5-AC13-DAF8558D62E9}"/>
              </a:ext>
            </a:extLst>
          </p:cNvPr>
          <p:cNvSpPr/>
          <p:nvPr/>
        </p:nvSpPr>
        <p:spPr>
          <a:xfrm>
            <a:off x="4108325" y="3584083"/>
            <a:ext cx="640776" cy="27541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1418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F2A121C6-BEE8-4738-8922-8894D99F2177}"/>
              </a:ext>
            </a:extLst>
          </p:cNvPr>
          <p:cNvCxnSpPr/>
          <p:nvPr/>
        </p:nvCxnSpPr>
        <p:spPr>
          <a:xfrm>
            <a:off x="381000" y="3998487"/>
            <a:ext cx="6096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7374F25B-DD6F-44FB-AD96-E63624C45AF3}"/>
              </a:ext>
            </a:extLst>
          </p:cNvPr>
          <p:cNvCxnSpPr/>
          <p:nvPr/>
        </p:nvCxnSpPr>
        <p:spPr>
          <a:xfrm>
            <a:off x="381943" y="8010782"/>
            <a:ext cx="6096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732755C-DA09-40C0-9AEC-DA97A6C04BE4}"/>
              </a:ext>
            </a:extLst>
          </p:cNvPr>
          <p:cNvSpPr txBox="1"/>
          <p:nvPr/>
        </p:nvSpPr>
        <p:spPr>
          <a:xfrm>
            <a:off x="188686" y="1238128"/>
            <a:ext cx="2815772" cy="276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INF_CAP Layer (infetron-capability layer)</a:t>
            </a:r>
            <a:endParaRPr lang="ko-KR" altLang="en-US" sz="12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160D73-4970-461A-9958-22563D364635}"/>
              </a:ext>
            </a:extLst>
          </p:cNvPr>
          <p:cNvSpPr txBox="1"/>
          <p:nvPr/>
        </p:nvSpPr>
        <p:spPr>
          <a:xfrm>
            <a:off x="188686" y="4080841"/>
            <a:ext cx="2815772" cy="276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INF_ISA Layer (infetron-ISA layer)</a:t>
            </a:r>
            <a:endParaRPr lang="ko-KR" altLang="en-US" sz="12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3E492C-96F3-49C7-8187-8A17CC0C3B2E}"/>
              </a:ext>
            </a:extLst>
          </p:cNvPr>
          <p:cNvSpPr txBox="1"/>
          <p:nvPr/>
        </p:nvSpPr>
        <p:spPr>
          <a:xfrm>
            <a:off x="189629" y="8119639"/>
            <a:ext cx="2815772" cy="276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INF_Q Layer (infetron-Queue layer)</a:t>
            </a:r>
            <a:endParaRPr lang="ko-KR" altLang="en-US" sz="120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E9197D8-D3AC-481F-AB12-F6C24D502447}"/>
              </a:ext>
            </a:extLst>
          </p:cNvPr>
          <p:cNvSpPr/>
          <p:nvPr/>
        </p:nvSpPr>
        <p:spPr>
          <a:xfrm>
            <a:off x="2101659" y="4398276"/>
            <a:ext cx="2015791" cy="2754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To NCore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6E55AA7-4323-4136-ABB7-FE2B0AE99E41}"/>
              </a:ext>
            </a:extLst>
          </p:cNvPr>
          <p:cNvSpPr/>
          <p:nvPr/>
        </p:nvSpPr>
        <p:spPr>
          <a:xfrm>
            <a:off x="4117450" y="4399078"/>
            <a:ext cx="640776" cy="2754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DB61691-8164-4485-AC68-63DDC1288AA5}"/>
              </a:ext>
            </a:extLst>
          </p:cNvPr>
          <p:cNvSpPr/>
          <p:nvPr/>
        </p:nvSpPr>
        <p:spPr>
          <a:xfrm>
            <a:off x="2101659" y="4810272"/>
            <a:ext cx="2015791" cy="2754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To APCore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BD05411-0082-4DB0-A56A-E1C954F44E2F}"/>
              </a:ext>
            </a:extLst>
          </p:cNvPr>
          <p:cNvSpPr/>
          <p:nvPr/>
        </p:nvSpPr>
        <p:spPr>
          <a:xfrm>
            <a:off x="4117450" y="4811074"/>
            <a:ext cx="640776" cy="2754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4C170B2-42FE-4432-ACFA-4C4DF1610F05}"/>
              </a:ext>
            </a:extLst>
          </p:cNvPr>
          <p:cNvSpPr/>
          <p:nvPr/>
        </p:nvSpPr>
        <p:spPr>
          <a:xfrm>
            <a:off x="3656139" y="5424465"/>
            <a:ext cx="2015791" cy="2754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PCore VLIW</a:t>
            </a:r>
            <a:r>
              <a:rPr lang="ko-KR" altLang="en-US" sz="1000">
                <a:solidFill>
                  <a:schemeClr val="tx1"/>
                </a:solidFill>
              </a:rPr>
              <a:t> </a:t>
            </a:r>
            <a:r>
              <a:rPr lang="en-US" altLang="ko-KR" sz="1000">
                <a:solidFill>
                  <a:schemeClr val="tx1"/>
                </a:solidFill>
              </a:rPr>
              <a:t>Packing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CB5F9B9-DDDA-4A06-B8A3-1DD974CBD99E}"/>
              </a:ext>
            </a:extLst>
          </p:cNvPr>
          <p:cNvSpPr/>
          <p:nvPr/>
        </p:nvSpPr>
        <p:spPr>
          <a:xfrm>
            <a:off x="5671930" y="5425267"/>
            <a:ext cx="640776" cy="2754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C6F07B29-555C-4D82-A38B-25943C13F699}"/>
              </a:ext>
            </a:extLst>
          </p:cNvPr>
          <p:cNvSpPr/>
          <p:nvPr/>
        </p:nvSpPr>
        <p:spPr>
          <a:xfrm>
            <a:off x="3656139" y="5808735"/>
            <a:ext cx="2015791" cy="27541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PCore Order Free Packing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C67F4DB-4472-4D09-BEC9-57C59390F984}"/>
              </a:ext>
            </a:extLst>
          </p:cNvPr>
          <p:cNvSpPr/>
          <p:nvPr/>
        </p:nvSpPr>
        <p:spPr>
          <a:xfrm>
            <a:off x="5671930" y="5809537"/>
            <a:ext cx="640776" cy="2754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76677B69-AD01-43FD-BB95-A96BB3ADFDF6}"/>
              </a:ext>
            </a:extLst>
          </p:cNvPr>
          <p:cNvSpPr/>
          <p:nvPr/>
        </p:nvSpPr>
        <p:spPr>
          <a:xfrm>
            <a:off x="3656139" y="6408541"/>
            <a:ext cx="2015791" cy="2754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PCore OrderingAndMarking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80FF052C-422A-4ACC-A65D-65EAF972A6D5}"/>
              </a:ext>
            </a:extLst>
          </p:cNvPr>
          <p:cNvSpPr/>
          <p:nvPr/>
        </p:nvSpPr>
        <p:spPr>
          <a:xfrm>
            <a:off x="5671930" y="6409343"/>
            <a:ext cx="640776" cy="2754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88246CFF-47B2-4A48-B5A4-74458B7F8ABC}"/>
              </a:ext>
            </a:extLst>
          </p:cNvPr>
          <p:cNvSpPr/>
          <p:nvPr/>
        </p:nvSpPr>
        <p:spPr>
          <a:xfrm>
            <a:off x="3656139" y="6792811"/>
            <a:ext cx="2015791" cy="27541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PCore Spreading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CB68DA58-414C-4A1C-B1FE-AD9530287392}"/>
              </a:ext>
            </a:extLst>
          </p:cNvPr>
          <p:cNvSpPr/>
          <p:nvPr/>
        </p:nvSpPr>
        <p:spPr>
          <a:xfrm>
            <a:off x="5671930" y="6793613"/>
            <a:ext cx="640776" cy="2754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C94AB98D-5DD0-43E9-9AA9-B1ED8D69333D}"/>
              </a:ext>
            </a:extLst>
          </p:cNvPr>
          <p:cNvSpPr/>
          <p:nvPr/>
        </p:nvSpPr>
        <p:spPr>
          <a:xfrm>
            <a:off x="3656139" y="7191420"/>
            <a:ext cx="2015791" cy="27541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PCore Folding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B93DF95C-504E-480D-AAD4-5B57089EFB61}"/>
              </a:ext>
            </a:extLst>
          </p:cNvPr>
          <p:cNvSpPr/>
          <p:nvPr/>
        </p:nvSpPr>
        <p:spPr>
          <a:xfrm>
            <a:off x="5671930" y="7192222"/>
            <a:ext cx="640776" cy="2754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1882D0AD-DAF7-4FEF-A3CC-B8B85147D545}"/>
              </a:ext>
            </a:extLst>
          </p:cNvPr>
          <p:cNvSpPr/>
          <p:nvPr/>
        </p:nvSpPr>
        <p:spPr>
          <a:xfrm>
            <a:off x="3656139" y="7575690"/>
            <a:ext cx="2015791" cy="27541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PCore ISA</a:t>
            </a:r>
            <a:r>
              <a:rPr lang="ko-KR" altLang="en-US" sz="1000">
                <a:solidFill>
                  <a:schemeClr val="tx1"/>
                </a:solidFill>
              </a:rPr>
              <a:t> </a:t>
            </a:r>
            <a:r>
              <a:rPr lang="en-US" altLang="ko-KR" sz="1000">
                <a:solidFill>
                  <a:schemeClr val="tx1"/>
                </a:solidFill>
              </a:rPr>
              <a:t>Canonicalization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B1B278A0-0E25-430F-969E-51A8A8919A61}"/>
              </a:ext>
            </a:extLst>
          </p:cNvPr>
          <p:cNvSpPr/>
          <p:nvPr/>
        </p:nvSpPr>
        <p:spPr>
          <a:xfrm>
            <a:off x="5671930" y="7576492"/>
            <a:ext cx="640776" cy="2754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B54A50FA-DE19-425B-A861-B5EDF1766960}"/>
              </a:ext>
            </a:extLst>
          </p:cNvPr>
          <p:cNvSpPr/>
          <p:nvPr/>
        </p:nvSpPr>
        <p:spPr>
          <a:xfrm>
            <a:off x="348834" y="6503063"/>
            <a:ext cx="2015791" cy="275414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A core BlackBox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304B3B21-7DC7-417C-B7AB-4DE3E428F7DF}"/>
              </a:ext>
            </a:extLst>
          </p:cNvPr>
          <p:cNvSpPr/>
          <p:nvPr/>
        </p:nvSpPr>
        <p:spPr>
          <a:xfrm>
            <a:off x="2364625" y="6503865"/>
            <a:ext cx="640776" cy="2754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E1C7CB67-DD0E-49B0-A0C6-DF4378CDCE55}"/>
              </a:ext>
            </a:extLst>
          </p:cNvPr>
          <p:cNvSpPr/>
          <p:nvPr/>
        </p:nvSpPr>
        <p:spPr>
          <a:xfrm>
            <a:off x="2101659" y="8623817"/>
            <a:ext cx="2015791" cy="27541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Create QMManager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7800EA20-9F98-4CA1-A507-825E72CE4ACB}"/>
              </a:ext>
            </a:extLst>
          </p:cNvPr>
          <p:cNvSpPr/>
          <p:nvPr/>
        </p:nvSpPr>
        <p:spPr>
          <a:xfrm>
            <a:off x="4117450" y="8624619"/>
            <a:ext cx="640776" cy="2754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67909824-C02B-4221-B3B4-426D8EAF9BFE}"/>
              </a:ext>
            </a:extLst>
          </p:cNvPr>
          <p:cNvSpPr/>
          <p:nvPr/>
        </p:nvSpPr>
        <p:spPr>
          <a:xfrm>
            <a:off x="2101659" y="9008984"/>
            <a:ext cx="2015791" cy="2754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ISA To Q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8024498E-4286-47AB-8C5C-71047F74F076}"/>
              </a:ext>
            </a:extLst>
          </p:cNvPr>
          <p:cNvSpPr/>
          <p:nvPr/>
        </p:nvSpPr>
        <p:spPr>
          <a:xfrm>
            <a:off x="4117450" y="9009786"/>
            <a:ext cx="640776" cy="2754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81596E46-A358-49BE-8E31-7B2849CCE512}"/>
              </a:ext>
            </a:extLst>
          </p:cNvPr>
          <p:cNvSpPr/>
          <p:nvPr/>
        </p:nvSpPr>
        <p:spPr>
          <a:xfrm>
            <a:off x="2101659" y="9420980"/>
            <a:ext cx="2015791" cy="27541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Reordering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8C307A34-FFB1-439B-B2E1-6074D82A8441}"/>
              </a:ext>
            </a:extLst>
          </p:cNvPr>
          <p:cNvSpPr/>
          <p:nvPr/>
        </p:nvSpPr>
        <p:spPr>
          <a:xfrm>
            <a:off x="4117450" y="9421782"/>
            <a:ext cx="640776" cy="2754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AB97E2B7-92BE-4758-855D-E6636EB319C1}"/>
              </a:ext>
            </a:extLst>
          </p:cNvPr>
          <p:cNvSpPr/>
          <p:nvPr/>
        </p:nvSpPr>
        <p:spPr>
          <a:xfrm>
            <a:off x="2101659" y="9832177"/>
            <a:ext cx="2015791" cy="27541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Destroy QMManager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B934AE09-0482-4B01-92F9-9023AD538FE0}"/>
              </a:ext>
            </a:extLst>
          </p:cNvPr>
          <p:cNvSpPr/>
          <p:nvPr/>
        </p:nvSpPr>
        <p:spPr>
          <a:xfrm>
            <a:off x="4117450" y="9832979"/>
            <a:ext cx="640776" cy="2754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FF1D71C3-8380-4EC2-8CB9-D8993F5F553C}"/>
              </a:ext>
            </a:extLst>
          </p:cNvPr>
          <p:cNvSpPr/>
          <p:nvPr/>
        </p:nvSpPr>
        <p:spPr>
          <a:xfrm>
            <a:off x="2101659" y="10285755"/>
            <a:ext cx="2015791" cy="2754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Q Bufferization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60856955-9A69-447B-A68A-74BC3763880D}"/>
              </a:ext>
            </a:extLst>
          </p:cNvPr>
          <p:cNvSpPr/>
          <p:nvPr/>
        </p:nvSpPr>
        <p:spPr>
          <a:xfrm>
            <a:off x="4117450" y="10286557"/>
            <a:ext cx="640776" cy="2754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0FC9829A-3CA3-4BA8-9E17-79BD6E548AE1}"/>
              </a:ext>
            </a:extLst>
          </p:cNvPr>
          <p:cNvSpPr/>
          <p:nvPr/>
        </p:nvSpPr>
        <p:spPr>
          <a:xfrm>
            <a:off x="2101659" y="10697751"/>
            <a:ext cx="2015791" cy="2754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CodeGen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AA5D2766-813F-4241-BB1E-E3E3B54A9B8E}"/>
              </a:ext>
            </a:extLst>
          </p:cNvPr>
          <p:cNvSpPr/>
          <p:nvPr/>
        </p:nvSpPr>
        <p:spPr>
          <a:xfrm>
            <a:off x="4117450" y="10698553"/>
            <a:ext cx="640776" cy="2754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A1385EC1-0BC0-4A4B-9606-E46B2F46ECBF}"/>
              </a:ext>
            </a:extLst>
          </p:cNvPr>
          <p:cNvSpPr/>
          <p:nvPr/>
        </p:nvSpPr>
        <p:spPr>
          <a:xfrm>
            <a:off x="2101659" y="11108948"/>
            <a:ext cx="2015791" cy="2754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Q To HAL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33321B27-1075-41B2-86A9-4FCB3C22401D}"/>
              </a:ext>
            </a:extLst>
          </p:cNvPr>
          <p:cNvSpPr/>
          <p:nvPr/>
        </p:nvSpPr>
        <p:spPr>
          <a:xfrm>
            <a:off x="4117450" y="11109750"/>
            <a:ext cx="640776" cy="2754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10BEB3E1-4F15-4E21-9142-B51DA7B5CA4E}"/>
              </a:ext>
            </a:extLst>
          </p:cNvPr>
          <p:cNvSpPr/>
          <p:nvPr/>
        </p:nvSpPr>
        <p:spPr>
          <a:xfrm>
            <a:off x="2101659" y="11583477"/>
            <a:ext cx="2015791" cy="2754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Serialization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B321EA60-041D-4C17-9B93-2BDEEB443624}"/>
              </a:ext>
            </a:extLst>
          </p:cNvPr>
          <p:cNvSpPr/>
          <p:nvPr/>
        </p:nvSpPr>
        <p:spPr>
          <a:xfrm>
            <a:off x="4117450" y="11584279"/>
            <a:ext cx="640776" cy="2754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88" name="왼쪽 중괄호 87">
            <a:extLst>
              <a:ext uri="{FF2B5EF4-FFF2-40B4-BE49-F238E27FC236}">
                <a16:creationId xmlns:a16="http://schemas.microsoft.com/office/drawing/2014/main" id="{0304C859-A350-4609-A73A-012FF716B4D0}"/>
              </a:ext>
            </a:extLst>
          </p:cNvPr>
          <p:cNvSpPr/>
          <p:nvPr/>
        </p:nvSpPr>
        <p:spPr>
          <a:xfrm>
            <a:off x="1732902" y="1732622"/>
            <a:ext cx="354956" cy="2128157"/>
          </a:xfrm>
          <a:prstGeom prst="leftBrace">
            <a:avLst>
              <a:gd name="adj1" fmla="val 152096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61E78192-5884-471D-A23E-476BC1A0B218}"/>
              </a:ext>
            </a:extLst>
          </p:cNvPr>
          <p:cNvSpPr txBox="1"/>
          <p:nvPr/>
        </p:nvSpPr>
        <p:spPr>
          <a:xfrm>
            <a:off x="452741" y="2145588"/>
            <a:ext cx="12801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/>
              <a:t>IREE</a:t>
            </a:r>
            <a:r>
              <a:rPr lang="ko-KR" altLang="en-US" sz="1050"/>
              <a:t> </a:t>
            </a:r>
            <a:r>
              <a:rPr lang="en-US" altLang="ko-KR" sz="1050"/>
              <a:t>to CAP PP</a:t>
            </a:r>
            <a:endParaRPr lang="ko-KR" altLang="en-US" sz="1050"/>
          </a:p>
        </p:txBody>
      </p:sp>
      <p:sp>
        <p:nvSpPr>
          <p:cNvPr id="90" name="왼쪽 중괄호 89">
            <a:extLst>
              <a:ext uri="{FF2B5EF4-FFF2-40B4-BE49-F238E27FC236}">
                <a16:creationId xmlns:a16="http://schemas.microsoft.com/office/drawing/2014/main" id="{481D57A5-2F5D-4C57-BCF2-8E0EF68E8F3F}"/>
              </a:ext>
            </a:extLst>
          </p:cNvPr>
          <p:cNvSpPr/>
          <p:nvPr/>
        </p:nvSpPr>
        <p:spPr>
          <a:xfrm>
            <a:off x="1766243" y="4407169"/>
            <a:ext cx="322557" cy="692782"/>
          </a:xfrm>
          <a:prstGeom prst="leftBrace">
            <a:avLst>
              <a:gd name="adj1" fmla="val 152096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AA514F4-529C-4C9F-ACA9-9BF118513596}"/>
              </a:ext>
            </a:extLst>
          </p:cNvPr>
          <p:cNvSpPr txBox="1"/>
          <p:nvPr/>
        </p:nvSpPr>
        <p:spPr>
          <a:xfrm>
            <a:off x="459169" y="4612323"/>
            <a:ext cx="12801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/>
              <a:t>CAP to ISA PP</a:t>
            </a:r>
            <a:endParaRPr lang="ko-KR" altLang="en-US" sz="1050"/>
          </a:p>
        </p:txBody>
      </p:sp>
      <p:sp>
        <p:nvSpPr>
          <p:cNvPr id="92" name="왼쪽 중괄호 91">
            <a:extLst>
              <a:ext uri="{FF2B5EF4-FFF2-40B4-BE49-F238E27FC236}">
                <a16:creationId xmlns:a16="http://schemas.microsoft.com/office/drawing/2014/main" id="{3DC1F2BF-1585-40BE-9FB1-7519DBF47DD4}"/>
              </a:ext>
            </a:extLst>
          </p:cNvPr>
          <p:cNvSpPr/>
          <p:nvPr/>
        </p:nvSpPr>
        <p:spPr>
          <a:xfrm>
            <a:off x="3464528" y="5424465"/>
            <a:ext cx="191611" cy="660481"/>
          </a:xfrm>
          <a:prstGeom prst="leftBrace">
            <a:avLst>
              <a:gd name="adj1" fmla="val 152096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7153FB6-7E80-41D0-8CC5-9DB5820C9335}"/>
              </a:ext>
            </a:extLst>
          </p:cNvPr>
          <p:cNvSpPr txBox="1"/>
          <p:nvPr/>
        </p:nvSpPr>
        <p:spPr>
          <a:xfrm>
            <a:off x="2193244" y="5604369"/>
            <a:ext cx="12801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/>
              <a:t>PCore Packing PP</a:t>
            </a:r>
            <a:endParaRPr lang="ko-KR" altLang="en-US" sz="1050"/>
          </a:p>
        </p:txBody>
      </p:sp>
      <p:sp>
        <p:nvSpPr>
          <p:cNvPr id="94" name="왼쪽 중괄호 93">
            <a:extLst>
              <a:ext uri="{FF2B5EF4-FFF2-40B4-BE49-F238E27FC236}">
                <a16:creationId xmlns:a16="http://schemas.microsoft.com/office/drawing/2014/main" id="{094CD9D3-652B-4E69-BB47-FD4880E4D325}"/>
              </a:ext>
            </a:extLst>
          </p:cNvPr>
          <p:cNvSpPr/>
          <p:nvPr/>
        </p:nvSpPr>
        <p:spPr>
          <a:xfrm>
            <a:off x="3456346" y="6421099"/>
            <a:ext cx="191611" cy="1430004"/>
          </a:xfrm>
          <a:prstGeom prst="leftBrace">
            <a:avLst>
              <a:gd name="adj1" fmla="val 152096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2F06C8E6-A07E-496F-B3BE-D639E8F15304}"/>
              </a:ext>
            </a:extLst>
          </p:cNvPr>
          <p:cNvSpPr txBox="1"/>
          <p:nvPr/>
        </p:nvSpPr>
        <p:spPr>
          <a:xfrm>
            <a:off x="2168004" y="7003690"/>
            <a:ext cx="12801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/>
              <a:t>PCore Packing PP</a:t>
            </a:r>
            <a:endParaRPr lang="ko-KR" altLang="en-US" sz="1050"/>
          </a:p>
        </p:txBody>
      </p:sp>
      <p:sp>
        <p:nvSpPr>
          <p:cNvPr id="96" name="왼쪽 중괄호 95">
            <a:extLst>
              <a:ext uri="{FF2B5EF4-FFF2-40B4-BE49-F238E27FC236}">
                <a16:creationId xmlns:a16="http://schemas.microsoft.com/office/drawing/2014/main" id="{98F2D920-6188-4D25-976F-704FBE6BD076}"/>
              </a:ext>
            </a:extLst>
          </p:cNvPr>
          <p:cNvSpPr/>
          <p:nvPr/>
        </p:nvSpPr>
        <p:spPr>
          <a:xfrm>
            <a:off x="1910048" y="8623018"/>
            <a:ext cx="191611" cy="1472588"/>
          </a:xfrm>
          <a:prstGeom prst="leftBrace">
            <a:avLst>
              <a:gd name="adj1" fmla="val 152096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2D4B4F9A-3AFD-46BD-B56D-D604C8E90C04}"/>
              </a:ext>
            </a:extLst>
          </p:cNvPr>
          <p:cNvSpPr txBox="1"/>
          <p:nvPr/>
        </p:nvSpPr>
        <p:spPr>
          <a:xfrm>
            <a:off x="629192" y="9223687"/>
            <a:ext cx="12801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/>
              <a:t>ISA</a:t>
            </a:r>
            <a:r>
              <a:rPr lang="ko-KR" altLang="en-US" sz="1050"/>
              <a:t> </a:t>
            </a:r>
            <a:r>
              <a:rPr lang="en-US" altLang="ko-KR" sz="1050"/>
              <a:t>to</a:t>
            </a:r>
            <a:r>
              <a:rPr lang="ko-KR" altLang="en-US" sz="1050"/>
              <a:t> </a:t>
            </a:r>
            <a:r>
              <a:rPr lang="en-US" altLang="ko-KR" sz="1050"/>
              <a:t>Q</a:t>
            </a:r>
            <a:r>
              <a:rPr lang="ko-KR" altLang="en-US" sz="1050"/>
              <a:t> </a:t>
            </a:r>
            <a:r>
              <a:rPr lang="en-US" altLang="ko-KR" sz="1050"/>
              <a:t>PP</a:t>
            </a:r>
            <a:endParaRPr lang="ko-KR" altLang="en-US" sz="1050"/>
          </a:p>
        </p:txBody>
      </p:sp>
      <p:sp>
        <p:nvSpPr>
          <p:cNvPr id="98" name="왼쪽 중괄호 97">
            <a:extLst>
              <a:ext uri="{FF2B5EF4-FFF2-40B4-BE49-F238E27FC236}">
                <a16:creationId xmlns:a16="http://schemas.microsoft.com/office/drawing/2014/main" id="{2E187BBE-3447-4153-AD97-9B965916A3C0}"/>
              </a:ext>
            </a:extLst>
          </p:cNvPr>
          <p:cNvSpPr/>
          <p:nvPr/>
        </p:nvSpPr>
        <p:spPr>
          <a:xfrm>
            <a:off x="1897189" y="10285755"/>
            <a:ext cx="191611" cy="1098607"/>
          </a:xfrm>
          <a:prstGeom prst="leftBrace">
            <a:avLst>
              <a:gd name="adj1" fmla="val 152096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2E74191C-00E8-491A-AE55-1D965C4009B5}"/>
              </a:ext>
            </a:extLst>
          </p:cNvPr>
          <p:cNvSpPr txBox="1"/>
          <p:nvPr/>
        </p:nvSpPr>
        <p:spPr>
          <a:xfrm>
            <a:off x="616870" y="10715939"/>
            <a:ext cx="12801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/>
              <a:t>Q to HAL</a:t>
            </a:r>
            <a:r>
              <a:rPr lang="ko-KR" altLang="en-US" sz="1050"/>
              <a:t> </a:t>
            </a:r>
            <a:r>
              <a:rPr lang="en-US" altLang="ko-KR" sz="1050"/>
              <a:t>PP</a:t>
            </a:r>
            <a:endParaRPr lang="ko-KR" altLang="en-US" sz="105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4F306FD5-DC43-45CA-B1D7-A229CE93053F}"/>
              </a:ext>
            </a:extLst>
          </p:cNvPr>
          <p:cNvSpPr txBox="1"/>
          <p:nvPr/>
        </p:nvSpPr>
        <p:spPr>
          <a:xfrm>
            <a:off x="616870" y="11578423"/>
            <a:ext cx="12801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/>
              <a:t>Serialization</a:t>
            </a:r>
            <a:r>
              <a:rPr lang="ko-KR" altLang="en-US" sz="1050"/>
              <a:t> </a:t>
            </a:r>
            <a:r>
              <a:rPr lang="en-US" altLang="ko-KR" sz="1050"/>
              <a:t>PP</a:t>
            </a:r>
            <a:endParaRPr lang="ko-KR" altLang="en-US" sz="1050"/>
          </a:p>
        </p:txBody>
      </p:sp>
      <p:cxnSp>
        <p:nvCxnSpPr>
          <p:cNvPr id="102" name="연결선: 구부러짐 101">
            <a:extLst>
              <a:ext uri="{FF2B5EF4-FFF2-40B4-BE49-F238E27FC236}">
                <a16:creationId xmlns:a16="http://schemas.microsoft.com/office/drawing/2014/main" id="{FA924854-6C70-4747-B722-CFD875FEFF4D}"/>
              </a:ext>
            </a:extLst>
          </p:cNvPr>
          <p:cNvCxnSpPr>
            <a:stCxn id="26" idx="2"/>
            <a:endCxn id="50" idx="0"/>
          </p:cNvCxnSpPr>
          <p:nvPr/>
        </p:nvCxnSpPr>
        <p:spPr>
          <a:xfrm rot="5400000">
            <a:off x="1524455" y="4917962"/>
            <a:ext cx="1417377" cy="1752825"/>
          </a:xfrm>
          <a:prstGeom prst="curvedConnector3">
            <a:avLst>
              <a:gd name="adj1" fmla="val 2043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연결선: 구부러짐 103">
            <a:extLst>
              <a:ext uri="{FF2B5EF4-FFF2-40B4-BE49-F238E27FC236}">
                <a16:creationId xmlns:a16="http://schemas.microsoft.com/office/drawing/2014/main" id="{0C155DE9-FE17-4CA2-BA61-9B5D1CCEFC87}"/>
              </a:ext>
            </a:extLst>
          </p:cNvPr>
          <p:cNvCxnSpPr>
            <a:cxnSpLocks/>
            <a:stCxn id="26" idx="2"/>
            <a:endCxn id="29" idx="0"/>
          </p:cNvCxnSpPr>
          <p:nvPr/>
        </p:nvCxnSpPr>
        <p:spPr>
          <a:xfrm rot="16200000" flipH="1">
            <a:off x="3717406" y="4477835"/>
            <a:ext cx="338779" cy="1554480"/>
          </a:xfrm>
          <a:prstGeom prst="curvedConnector3">
            <a:avLst>
              <a:gd name="adj1" fmla="val 58997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연결선: 구부러짐 107">
            <a:extLst>
              <a:ext uri="{FF2B5EF4-FFF2-40B4-BE49-F238E27FC236}">
                <a16:creationId xmlns:a16="http://schemas.microsoft.com/office/drawing/2014/main" id="{91DD99E5-0F93-44DF-A95A-78377899455F}"/>
              </a:ext>
            </a:extLst>
          </p:cNvPr>
          <p:cNvCxnSpPr>
            <a:cxnSpLocks/>
            <a:stCxn id="50" idx="2"/>
            <a:endCxn id="68" idx="1"/>
          </p:cNvCxnSpPr>
          <p:nvPr/>
        </p:nvCxnSpPr>
        <p:spPr>
          <a:xfrm rot="16200000" flipH="1">
            <a:off x="545087" y="7590119"/>
            <a:ext cx="2368214" cy="744929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연결선: 구부러짐 110">
            <a:extLst>
              <a:ext uri="{FF2B5EF4-FFF2-40B4-BE49-F238E27FC236}">
                <a16:creationId xmlns:a16="http://schemas.microsoft.com/office/drawing/2014/main" id="{11E18459-29BB-4801-ACA2-1644F9200A20}"/>
              </a:ext>
            </a:extLst>
          </p:cNvPr>
          <p:cNvCxnSpPr>
            <a:cxnSpLocks/>
            <a:stCxn id="47" idx="2"/>
            <a:endCxn id="69" idx="3"/>
          </p:cNvCxnSpPr>
          <p:nvPr/>
        </p:nvCxnSpPr>
        <p:spPr>
          <a:xfrm rot="16200000" flipH="1">
            <a:off x="4062936" y="8452202"/>
            <a:ext cx="1296388" cy="94191"/>
          </a:xfrm>
          <a:prstGeom prst="curvedConnector4">
            <a:avLst>
              <a:gd name="adj1" fmla="val 44689"/>
              <a:gd name="adj2" fmla="val 1312753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349DAED7-7C16-419D-96B0-E497865E70C3}"/>
              </a:ext>
            </a:extLst>
          </p:cNvPr>
          <p:cNvSpPr/>
          <p:nvPr/>
        </p:nvSpPr>
        <p:spPr>
          <a:xfrm>
            <a:off x="188686" y="675724"/>
            <a:ext cx="2015791" cy="27541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custom flow dispatch region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61958EBF-8CF9-45B2-AC6F-4F36386C236E}"/>
              </a:ext>
            </a:extLst>
          </p:cNvPr>
          <p:cNvSpPr/>
          <p:nvPr/>
        </p:nvSpPr>
        <p:spPr>
          <a:xfrm>
            <a:off x="2204477" y="676526"/>
            <a:ext cx="640776" cy="27541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260205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31" name="TextBox 130">
            <a:hlinkClick r:id="rId2" action="ppaction://hlinkfile"/>
            <a:extLst>
              <a:ext uri="{FF2B5EF4-FFF2-40B4-BE49-F238E27FC236}">
                <a16:creationId xmlns:a16="http://schemas.microsoft.com/office/drawing/2014/main" id="{DAEF28D4-8E01-4CA6-B7E3-BE27ACDD7B0B}"/>
              </a:ext>
            </a:extLst>
          </p:cNvPr>
          <p:cNvSpPr txBox="1"/>
          <p:nvPr/>
        </p:nvSpPr>
        <p:spPr>
          <a:xfrm>
            <a:off x="114300" y="217331"/>
            <a:ext cx="2705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/>
              <a:t>Workload (old)</a:t>
            </a:r>
            <a:endParaRPr lang="ko-KR" altLang="en-US" b="1"/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3C1DC86F-3DF0-4373-85D0-650269296BF5}"/>
              </a:ext>
            </a:extLst>
          </p:cNvPr>
          <p:cNvSpPr/>
          <p:nvPr/>
        </p:nvSpPr>
        <p:spPr>
          <a:xfrm>
            <a:off x="2087857" y="1586460"/>
            <a:ext cx="2015791" cy="2754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QDQFusion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A9345CAE-10E7-40B3-9777-9EC24BD47F3B}"/>
              </a:ext>
            </a:extLst>
          </p:cNvPr>
          <p:cNvSpPr/>
          <p:nvPr/>
        </p:nvSpPr>
        <p:spPr>
          <a:xfrm>
            <a:off x="4103648" y="1587262"/>
            <a:ext cx="640776" cy="27541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1EEF7336-357A-44DD-96D1-C51E3C23E0DA}"/>
              </a:ext>
            </a:extLst>
          </p:cNvPr>
          <p:cNvSpPr/>
          <p:nvPr/>
        </p:nvSpPr>
        <p:spPr>
          <a:xfrm>
            <a:off x="2087857" y="1917100"/>
            <a:ext cx="2015791" cy="2754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OpFusion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BCAAB80A-6F37-4443-8137-6F7658190933}"/>
              </a:ext>
            </a:extLst>
          </p:cNvPr>
          <p:cNvSpPr/>
          <p:nvPr/>
        </p:nvSpPr>
        <p:spPr>
          <a:xfrm>
            <a:off x="4103648" y="1917902"/>
            <a:ext cx="640776" cy="27541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EC5D64E1-F1F6-47E3-813D-4203EBCDF1BE}"/>
              </a:ext>
            </a:extLst>
          </p:cNvPr>
          <p:cNvSpPr/>
          <p:nvPr/>
        </p:nvSpPr>
        <p:spPr>
          <a:xfrm>
            <a:off x="2087857" y="2251563"/>
            <a:ext cx="2015791" cy="2754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PostOpFusion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AFFD428D-C5D3-4C85-900C-130EFBAAA2FB}"/>
              </a:ext>
            </a:extLst>
          </p:cNvPr>
          <p:cNvSpPr/>
          <p:nvPr/>
        </p:nvSpPr>
        <p:spPr>
          <a:xfrm>
            <a:off x="4103648" y="2252365"/>
            <a:ext cx="640776" cy="27541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530BB15F-14F8-4913-89F1-30D38F2356B7}"/>
              </a:ext>
            </a:extLst>
          </p:cNvPr>
          <p:cNvSpPr/>
          <p:nvPr/>
        </p:nvSpPr>
        <p:spPr>
          <a:xfrm>
            <a:off x="2087857" y="2582809"/>
            <a:ext cx="2015791" cy="2754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MonoOpFusion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27086CA4-9F12-4239-B333-159F31EA60E8}"/>
              </a:ext>
            </a:extLst>
          </p:cNvPr>
          <p:cNvSpPr/>
          <p:nvPr/>
        </p:nvSpPr>
        <p:spPr>
          <a:xfrm>
            <a:off x="4103648" y="2583611"/>
            <a:ext cx="640776" cy="27541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5299ED1C-DBEC-419E-966F-24FF3A7356BF}"/>
              </a:ext>
            </a:extLst>
          </p:cNvPr>
          <p:cNvSpPr/>
          <p:nvPr/>
        </p:nvSpPr>
        <p:spPr>
          <a:xfrm>
            <a:off x="2092534" y="2918962"/>
            <a:ext cx="2015791" cy="2754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VailPad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A090D868-53B9-48B7-98AB-A79B08A2EC65}"/>
              </a:ext>
            </a:extLst>
          </p:cNvPr>
          <p:cNvSpPr/>
          <p:nvPr/>
        </p:nvSpPr>
        <p:spPr>
          <a:xfrm>
            <a:off x="4108325" y="2919764"/>
            <a:ext cx="640776" cy="27541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7EB54409-DCE4-47B3-BF6E-42AA16AC98A9}"/>
              </a:ext>
            </a:extLst>
          </p:cNvPr>
          <p:cNvSpPr/>
          <p:nvPr/>
        </p:nvSpPr>
        <p:spPr>
          <a:xfrm>
            <a:off x="2087857" y="3250749"/>
            <a:ext cx="2015791" cy="2754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QOpFusion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EF5E303A-807D-4781-95B6-A4DC7E1C754C}"/>
              </a:ext>
            </a:extLst>
          </p:cNvPr>
          <p:cNvSpPr/>
          <p:nvPr/>
        </p:nvSpPr>
        <p:spPr>
          <a:xfrm>
            <a:off x="4103648" y="3251551"/>
            <a:ext cx="640776" cy="27541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D8AE60AE-9AC5-40A4-A228-F9A7214CC03B}"/>
              </a:ext>
            </a:extLst>
          </p:cNvPr>
          <p:cNvSpPr/>
          <p:nvPr/>
        </p:nvSpPr>
        <p:spPr>
          <a:xfrm>
            <a:off x="2092534" y="3583281"/>
            <a:ext cx="2015791" cy="2754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GenericOpen Pass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4577592B-A844-42B5-AC13-DAF8558D62E9}"/>
              </a:ext>
            </a:extLst>
          </p:cNvPr>
          <p:cNvSpPr/>
          <p:nvPr/>
        </p:nvSpPr>
        <p:spPr>
          <a:xfrm>
            <a:off x="4108325" y="3584083"/>
            <a:ext cx="640776" cy="27541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C4EEBF-92AD-41E0-BAA7-3681A7789E14}"/>
              </a:ext>
            </a:extLst>
          </p:cNvPr>
          <p:cNvSpPr txBox="1"/>
          <p:nvPr/>
        </p:nvSpPr>
        <p:spPr>
          <a:xfrm>
            <a:off x="4303241" y="506903"/>
            <a:ext cx="244045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b="1">
                <a:solidFill>
                  <a:srgbClr val="FF0000"/>
                </a:solidFill>
              </a:rPr>
              <a:t>구조 확정</a:t>
            </a:r>
            <a:endParaRPr lang="en-US" altLang="ko-KR" sz="1400" b="1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b="1">
                <a:solidFill>
                  <a:srgbClr val="FF0000"/>
                </a:solidFill>
              </a:rPr>
              <a:t>크게 변경되지 않을 것</a:t>
            </a:r>
            <a:endParaRPr lang="en-US" altLang="ko-KR" sz="1400" b="1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b="1">
                <a:solidFill>
                  <a:srgbClr val="FF0000"/>
                </a:solidFill>
              </a:rPr>
              <a:t>타겟모델을 보며 </a:t>
            </a:r>
            <a:r>
              <a:rPr lang="en-US" altLang="ko-KR" sz="1400" b="1">
                <a:solidFill>
                  <a:srgbClr val="FF0000"/>
                </a:solidFill>
              </a:rPr>
              <a:t>pass</a:t>
            </a:r>
            <a:r>
              <a:rPr lang="ko-KR" altLang="en-US" sz="1400" b="1">
                <a:solidFill>
                  <a:srgbClr val="FF0000"/>
                </a:solidFill>
              </a:rPr>
              <a:t>를 추가해 나갈 것</a:t>
            </a:r>
            <a:endParaRPr lang="en-US" altLang="ko-KR" sz="1400" b="1">
              <a:solidFill>
                <a:srgbClr val="FF0000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7223DF0-9B6C-4188-BF88-83321F70BD2C}"/>
              </a:ext>
            </a:extLst>
          </p:cNvPr>
          <p:cNvSpPr txBox="1"/>
          <p:nvPr/>
        </p:nvSpPr>
        <p:spPr>
          <a:xfrm>
            <a:off x="4807640" y="10003222"/>
            <a:ext cx="205036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b="1">
                <a:solidFill>
                  <a:srgbClr val="FF0000"/>
                </a:solidFill>
              </a:rPr>
              <a:t>대략적인 구성안</a:t>
            </a:r>
            <a:endParaRPr lang="en-US" altLang="ko-KR" sz="1400" b="1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b="1">
                <a:solidFill>
                  <a:srgbClr val="FF0000"/>
                </a:solidFill>
              </a:rPr>
              <a:t>과제 전체 구조가 맞춰지는 것에 따라 구축</a:t>
            </a:r>
            <a:endParaRPr lang="en-US" altLang="ko-KR" sz="1400" b="1">
              <a:solidFill>
                <a:srgbClr val="FF0000"/>
              </a:solidFill>
            </a:endParaRPr>
          </a:p>
        </p:txBody>
      </p:sp>
      <p:sp>
        <p:nvSpPr>
          <p:cNvPr id="4" name="화살표: 아래쪽 3">
            <a:extLst>
              <a:ext uri="{FF2B5EF4-FFF2-40B4-BE49-F238E27FC236}">
                <a16:creationId xmlns:a16="http://schemas.microsoft.com/office/drawing/2014/main" id="{29D90A9E-E722-48C9-B7E2-4FEC46986482}"/>
              </a:ext>
            </a:extLst>
          </p:cNvPr>
          <p:cNvSpPr/>
          <p:nvPr/>
        </p:nvSpPr>
        <p:spPr>
          <a:xfrm flipV="1">
            <a:off x="6299522" y="1584208"/>
            <a:ext cx="354956" cy="2280927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화살표: 아래쪽 100">
            <a:extLst>
              <a:ext uri="{FF2B5EF4-FFF2-40B4-BE49-F238E27FC236}">
                <a16:creationId xmlns:a16="http://schemas.microsoft.com/office/drawing/2014/main" id="{37C88450-18AC-430A-A142-3C1068D07037}"/>
              </a:ext>
            </a:extLst>
          </p:cNvPr>
          <p:cNvSpPr/>
          <p:nvPr/>
        </p:nvSpPr>
        <p:spPr>
          <a:xfrm>
            <a:off x="6299522" y="4104009"/>
            <a:ext cx="354956" cy="5754170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38080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0" y="274320"/>
            <a:ext cx="2011680" cy="27432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/>
            </a:pPr>
            <a:r>
              <a:rPr>
                <a:solidFill>
                  <a:schemeClr val="tx1"/>
                </a:solidFill>
              </a:rPr>
              <a:t>확정 구현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0" y="274320"/>
            <a:ext cx="640080" cy="2743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/>
            </a:pPr>
            <a:r>
              <a:rPr>
                <a:solidFill>
                  <a:schemeClr val="tx1"/>
                </a:solidFill>
              </a:rPr>
              <a:t>완성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640080"/>
            <a:ext cx="2011680" cy="27432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/>
            </a:pPr>
            <a:r>
              <a:rPr>
                <a:solidFill>
                  <a:schemeClr val="tx1"/>
                </a:solidFill>
              </a:rPr>
              <a:t>Placeholder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0" y="640080"/>
            <a:ext cx="640080" cy="274320"/>
          </a:xfrm>
          <a:prstGeom prst="rect">
            <a:avLst/>
          </a:prstGeom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/>
            </a:pPr>
            <a:r>
              <a:rPr>
                <a:solidFill>
                  <a:schemeClr val="tx1"/>
                </a:solidFill>
              </a:rPr>
              <a:t>TODO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" y="182880"/>
            <a:ext cx="190629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/>
            </a:pPr>
            <a:r>
              <a:t>QDQ Direct Pipeline (260327)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5760" y="4023360"/>
            <a:ext cx="612648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65760" y="7315200"/>
            <a:ext cx="612648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82880" y="1005840"/>
            <a:ext cx="105509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/>
            </a:pPr>
            <a:r>
              <a:t>StableHLO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4114800"/>
            <a:ext cx="163378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/>
            </a:pPr>
            <a:r>
              <a:t>Quantized StableHLO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7406640"/>
            <a:ext cx="99097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/>
            </a:pPr>
            <a:r>
              <a:t>Lowering Layer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297780"/>
            <a:ext cx="3200400" cy="2743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/>
            </a:pPr>
            <a:r>
              <a:rPr>
                <a:solidFill>
                  <a:schemeClr val="tx1"/>
                </a:solidFill>
              </a:rPr>
              <a:t>[Python] QDQ ONNX → onnx2torch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1663540"/>
            <a:ext cx="3200400" cy="2743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/>
            </a:pPr>
            <a:r>
              <a:rPr>
                <a:solidFill>
                  <a:schemeClr val="tx1"/>
                </a:solidFill>
              </a:rPr>
              <a:t>[Python] torch.export → torch_xla → StableHLO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029300"/>
            <a:ext cx="3200400" cy="2743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/>
            </a:pPr>
            <a:r>
              <a:rPr>
                <a:solidFill>
                  <a:schemeClr val="tx1"/>
                </a:solidFill>
              </a:rPr>
              <a:t>[Python] input_locations → manifest.json</a:t>
            </a:r>
          </a:p>
        </p:txBody>
      </p:sp>
      <p:sp>
        <p:nvSpPr>
          <p:cNvPr id="15" name="Left Brace 14"/>
          <p:cNvSpPr/>
          <p:nvPr/>
        </p:nvSpPr>
        <p:spPr>
          <a:xfrm>
            <a:off x="365760" y="1297780"/>
            <a:ext cx="274320" cy="1005839"/>
          </a:xfrm>
          <a:prstGeom prst="leftBrace">
            <a:avLst>
              <a:gd name="adj1" fmla="val 82894"/>
              <a:gd name="adj2" fmla="val 50000"/>
            </a:avLst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-55326" y="1689853"/>
            <a:ext cx="476412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/>
            </a:pPr>
            <a:r>
              <a:t>Import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72385" y="2475901"/>
            <a:ext cx="2011680" cy="2743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/>
            </a:pPr>
            <a:r>
              <a:rPr>
                <a:solidFill>
                  <a:schemeClr val="tx1"/>
                </a:solidFill>
              </a:rPr>
              <a:t>InlineConstants Pass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84065" y="2475901"/>
            <a:ext cx="640080" cy="2743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072385" y="2841661"/>
            <a:ext cx="2011680" cy="2743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/>
            </a:pPr>
            <a:r>
              <a:rPr>
                <a:solidFill>
                  <a:schemeClr val="tx1"/>
                </a:solidFill>
              </a:rPr>
              <a:t>Canonicalize + CSE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84065" y="2841661"/>
            <a:ext cx="640080" cy="2743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072385" y="3207420"/>
            <a:ext cx="2011680" cy="2743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/>
            </a:pPr>
            <a:r>
              <a:rPr>
                <a:solidFill>
                  <a:schemeClr val="tx1"/>
                </a:solidFill>
              </a:rPr>
              <a:t>IdentityElim Pass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84065" y="3207420"/>
            <a:ext cx="640080" cy="2743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072385" y="3573180"/>
            <a:ext cx="2011680" cy="2743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/>
            </a:pPr>
            <a:r>
              <a:rPr>
                <a:solidFill>
                  <a:schemeClr val="tx1"/>
                </a:solidFill>
              </a:rPr>
              <a:t>Canonicalize + CSE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84065" y="3573180"/>
            <a:ext cx="640080" cy="2743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25" name="Left Brace 24"/>
          <p:cNvSpPr/>
          <p:nvPr/>
        </p:nvSpPr>
        <p:spPr>
          <a:xfrm>
            <a:off x="1706625" y="2475901"/>
            <a:ext cx="365760" cy="1389218"/>
          </a:xfrm>
          <a:prstGeom prst="leftBrace">
            <a:avLst>
              <a:gd name="adj1" fmla="val 94954"/>
              <a:gd name="adj2" fmla="val 50000"/>
            </a:avLst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27499" y="3071587"/>
            <a:ext cx="662361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/>
            </a:pPr>
            <a:r>
              <a:t>Cleanup PP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03120" y="4389120"/>
            <a:ext cx="2011680" cy="274320"/>
          </a:xfrm>
          <a:prstGeom prst="rect">
            <a:avLst/>
          </a:prstGeom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/>
            </a:pPr>
            <a:r>
              <a:rPr>
                <a:solidFill>
                  <a:schemeClr val="tx1"/>
                </a:solidFill>
              </a:rPr>
              <a:t>MathToQDQ Pass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0" y="4389120"/>
            <a:ext cx="640080" cy="274320"/>
          </a:xfrm>
          <a:prstGeom prst="rect">
            <a:avLst/>
          </a:prstGeom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103120" y="4846320"/>
            <a:ext cx="2011680" cy="274320"/>
          </a:xfrm>
          <a:prstGeom prst="rect">
            <a:avLst/>
          </a:prstGeom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/>
            </a:pPr>
            <a:r>
              <a:rPr>
                <a:solidFill>
                  <a:schemeClr val="tx1"/>
                </a:solidFill>
              </a:rPr>
              <a:t>QDQFusion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0" y="4846320"/>
            <a:ext cx="640080" cy="274320"/>
          </a:xfrm>
          <a:prstGeom prst="rect">
            <a:avLst/>
          </a:prstGeom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2103120" y="5303520"/>
            <a:ext cx="2011680" cy="274320"/>
          </a:xfrm>
          <a:prstGeom prst="rect">
            <a:avLst/>
          </a:prstGeom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/>
            </a:pPr>
            <a:r>
              <a:rPr>
                <a:solidFill>
                  <a:schemeClr val="tx1"/>
                </a:solidFill>
              </a:rPr>
              <a:t>Composite Pass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0" y="5303520"/>
            <a:ext cx="640080" cy="274320"/>
          </a:xfrm>
          <a:prstGeom prst="rect">
            <a:avLst/>
          </a:prstGeom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2103120" y="5760720"/>
            <a:ext cx="2011680" cy="274320"/>
          </a:xfrm>
          <a:prstGeom prst="rect">
            <a:avLst/>
          </a:prstGeom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/>
            </a:pPr>
            <a:r>
              <a:rPr>
                <a:solidFill>
                  <a:schemeClr val="tx1"/>
                </a:solidFill>
              </a:rPr>
              <a:t>QuantConstFold Pass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0" y="5760720"/>
            <a:ext cx="640080" cy="274320"/>
          </a:xfrm>
          <a:prstGeom prst="rect">
            <a:avLst/>
          </a:prstGeom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2103120" y="6217920"/>
            <a:ext cx="2011680" cy="274320"/>
          </a:xfrm>
          <a:prstGeom prst="rect">
            <a:avLst/>
          </a:prstGeom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/>
            </a:pPr>
            <a:r>
              <a:rPr>
                <a:solidFill>
                  <a:schemeClr val="tx1"/>
                </a:solidFill>
              </a:rPr>
              <a:t>QuantToMath Pass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0" y="6217920"/>
            <a:ext cx="640080" cy="274320"/>
          </a:xfrm>
          <a:prstGeom prst="rect">
            <a:avLst/>
          </a:prstGeom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37" name="Left Brace 36"/>
          <p:cNvSpPr/>
          <p:nvPr/>
        </p:nvSpPr>
        <p:spPr>
          <a:xfrm>
            <a:off x="1737360" y="4389120"/>
            <a:ext cx="365760" cy="2286000"/>
          </a:xfrm>
          <a:prstGeom prst="leftBrace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74320" y="5303520"/>
            <a:ext cx="699230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/>
            </a:pPr>
            <a:r>
              <a:t>Quantize PP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03120" y="7589520"/>
            <a:ext cx="2011680" cy="274320"/>
          </a:xfrm>
          <a:prstGeom prst="rect">
            <a:avLst/>
          </a:prstGeom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/>
            </a:pPr>
            <a:r>
              <a:rPr>
                <a:solidFill>
                  <a:schemeClr val="tx1"/>
                </a:solidFill>
              </a:rPr>
              <a:t>StableHLO → Linalg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0" y="7589520"/>
            <a:ext cx="640080" cy="274320"/>
          </a:xfrm>
          <a:prstGeom prst="rect">
            <a:avLst/>
          </a:prstGeom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2103120" y="8046720"/>
            <a:ext cx="2011680" cy="274320"/>
          </a:xfrm>
          <a:prstGeom prst="rect">
            <a:avLst/>
          </a:prstGeom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/>
            </a:pPr>
            <a:r>
              <a:rPr>
                <a:solidFill>
                  <a:schemeClr val="tx1"/>
                </a:solidFill>
              </a:rPr>
              <a:t>Linalg Optimization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0" y="8046720"/>
            <a:ext cx="640080" cy="274320"/>
          </a:xfrm>
          <a:prstGeom prst="rect">
            <a:avLst/>
          </a:prstGeom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2103120" y="8503920"/>
            <a:ext cx="2011680" cy="274320"/>
          </a:xfrm>
          <a:prstGeom prst="rect">
            <a:avLst/>
          </a:prstGeom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/>
            </a:pPr>
            <a:r>
              <a:rPr>
                <a:solidFill>
                  <a:schemeClr val="tx1"/>
                </a:solidFill>
              </a:rPr>
              <a:t>Bufferize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14800" y="8503920"/>
            <a:ext cx="640080" cy="274320"/>
          </a:xfrm>
          <a:prstGeom prst="rect">
            <a:avLst/>
          </a:prstGeom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103120" y="8961120"/>
            <a:ext cx="2011680" cy="274320"/>
          </a:xfrm>
          <a:prstGeom prst="rect">
            <a:avLst/>
          </a:prstGeom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/>
            </a:pPr>
            <a:r>
              <a:rPr>
                <a:solidFill>
                  <a:schemeClr val="tx1"/>
                </a:solidFill>
              </a:rPr>
              <a:t>Affine / Loop Opt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14800" y="8961120"/>
            <a:ext cx="640080" cy="274320"/>
          </a:xfrm>
          <a:prstGeom prst="rect">
            <a:avLst/>
          </a:prstGeom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2103120" y="9418320"/>
            <a:ext cx="2011680" cy="274320"/>
          </a:xfrm>
          <a:prstGeom prst="rect">
            <a:avLst/>
          </a:prstGeom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/>
            </a:pPr>
            <a:r>
              <a:rPr>
                <a:solidFill>
                  <a:schemeClr val="tx1"/>
                </a:solidFill>
              </a:rPr>
              <a:t>HW Mapping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0" y="9418320"/>
            <a:ext cx="640080" cy="274320"/>
          </a:xfrm>
          <a:prstGeom prst="rect">
            <a:avLst/>
          </a:prstGeom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2103120" y="9875520"/>
            <a:ext cx="2011680" cy="274320"/>
          </a:xfrm>
          <a:prstGeom prst="rect">
            <a:avLst/>
          </a:prstGeom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/>
            </a:pPr>
            <a:r>
              <a:rPr>
                <a:solidFill>
                  <a:schemeClr val="tx1"/>
                </a:solidFill>
              </a:rPr>
              <a:t>CodeGen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14800" y="9875520"/>
            <a:ext cx="640080" cy="274320"/>
          </a:xfrm>
          <a:prstGeom prst="rect">
            <a:avLst/>
          </a:prstGeom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51" name="Left Brace 50"/>
          <p:cNvSpPr/>
          <p:nvPr/>
        </p:nvSpPr>
        <p:spPr>
          <a:xfrm>
            <a:off x="1737360" y="7589520"/>
            <a:ext cx="365760" cy="2743200"/>
          </a:xfrm>
          <a:prstGeom prst="leftBrace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274320" y="8686800"/>
            <a:ext cx="707245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/>
            </a:pPr>
            <a:r>
              <a:t>Lowering PP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5760" y="10789920"/>
            <a:ext cx="2401619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/>
            </a:pPr>
            <a:r>
              <a:t>결과물: compiled.mlir (Q/DQ annotated StableHLO)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10203</TotalTime>
  <Words>1783</Words>
  <Application>Microsoft Office PowerPoint</Application>
  <PresentationFormat>와이드스크린</PresentationFormat>
  <Paragraphs>382</Paragraphs>
  <Slides>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4" baseType="lpstr">
      <vt:lpstr>맑은 고딕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mklee</dc:creator>
  <cp:lastModifiedBy>mklee</cp:lastModifiedBy>
  <cp:revision>67</cp:revision>
  <cp:lastPrinted>2026-03-10T00:53:58Z</cp:lastPrinted>
  <dcterms:created xsi:type="dcterms:W3CDTF">2026-02-03T00:39:40Z</dcterms:created>
  <dcterms:modified xsi:type="dcterms:W3CDTF">2026-03-27T05:51:39Z</dcterms:modified>
</cp:coreProperties>
</file>