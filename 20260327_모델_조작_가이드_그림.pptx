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Infetron-V2 NPU 컴파일러</a:t>
            </a:r>
            <a:br/>
            <a:r>
              <a:t>모델 조작 가이드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모델러를 위한 컴파일 가능 모델 개발 가이드</a:t>
            </a:r>
            <a:br/>
            <a:r>
              <a:t>2026-03-27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전체 파이프라인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6699"/>
                </a:solidFill>
              </a:defRPr>
            </a:pPr>
            <a:r>
              <a:t>[ 모델러 영역 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PyTorch</a:t>
            </a:r>
            <a:br/>
            <a:r>
              <a:t>모델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2286000" cy="73152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1A"/>
                </a:solidFill>
              </a:defRPr>
            </a:pPr>
            <a:r>
              <a:t>ONNX</a:t>
            </a:r>
            <a:br/>
            <a: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QDQ 양자화</a:t>
            </a:r>
            <a:br/>
            <a:r>
              <a:t>(int8 sym)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6699"/>
                </a:solidFill>
              </a:defRPr>
            </a:pPr>
            <a:r>
              <a:t>[ 컴파일러 입력 준비 (자동)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828800" cy="73152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onnx2torch</a:t>
            </a:r>
            <a:br/>
            <a:r>
              <a:t>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834640"/>
            <a:ext cx="1828800" cy="73152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torch.export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834640"/>
            <a:ext cx="1828800" cy="73152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torch_xla</a:t>
            </a:r>
            <a:br/>
            <a:r>
              <a:t>→ StableHLO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834640"/>
            <a:ext cx="1828800" cy="73152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manifest</a:t>
            </a:r>
            <a:br/>
            <a:r>
              <a:t>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6699"/>
                </a:solidFill>
              </a:defRPr>
            </a:pPr>
            <a:r>
              <a:t>[ 컴파일러 (ind-compile)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011680" cy="73152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Step1</a:t>
            </a:r>
            <a:br/>
            <a:r>
              <a:t>Inline Constants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80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389120"/>
            <a:ext cx="2011680" cy="73152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Step2</a:t>
            </a:r>
            <a:br/>
            <a:r>
              <a:t>Canon + CSE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80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4389120"/>
            <a:ext cx="2011680" cy="73152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Step3</a:t>
            </a:r>
            <a:br/>
            <a:r>
              <a:t>Identity Elim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480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389120"/>
            <a:ext cx="2011680" cy="73152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Step4</a:t>
            </a:r>
            <a:br/>
            <a:r>
              <a:t>Math→Q/DQ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480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4389120"/>
            <a:ext cx="13716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출력</a:t>
            </a:r>
            <a:br/>
            <a:r>
              <a:t>MLIR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두 가지 변환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00"/>
                </a:solidFill>
              </a:defRPr>
            </a:pPr>
            <a:r>
              <a:t>경로 A: ONNX 경유 (검증 완료)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1828800" cy="64008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ONNX fp32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1828800" cy="64008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ONNX QDQ</a:t>
            </a:r>
            <a:br/>
            <a:r>
              <a:t>int8 sym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1828800" cy="6400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onnx2torch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371600"/>
            <a:ext cx="1828800" cy="64008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StableHLO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6600"/>
                </a:solidFill>
              </a:defRPr>
            </a:pPr>
            <a:r>
              <a:t>경로 B: PyTorch 직접 양자화 (미검증)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828800" cy="64008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PyTorch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46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200400"/>
            <a:ext cx="2286000" cy="64008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PT2E 양자화</a:t>
            </a:r>
            <a:br/>
            <a:r>
              <a:t>(QAT/PTQ)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200400"/>
            <a:ext cx="1828800" cy="6400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torch.export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46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00400"/>
            <a:ext cx="1828800" cy="640080"/>
          </a:xfrm>
          <a:prstGeom prst="rect">
            <a:avLst/>
          </a:prstGeom>
          <a:solidFill>
            <a:srgbClr val="E8DA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StableHLO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(ONNX 왕복 불필요, 향후 검증 예정)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QDQ 양자화 모델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fp32 원본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input</a:t>
            </a:r>
            <a:br/>
            <a:r>
              <a:t>(fp32)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71600"/>
            <a:ext cx="228600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Conv</a:t>
            </a:r>
            <a:br/>
            <a:r>
              <a:t>(fp32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71600"/>
            <a:ext cx="164592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SiLU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371600"/>
            <a:ext cx="1645920" cy="54864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output</a:t>
            </a:r>
            <a:br/>
            <a:r>
              <a:t>(fp32)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QDQ 양자화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1097280" cy="54864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input</a:t>
            </a:r>
            <a:br/>
            <a:r>
              <a:t>(fp32)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017520"/>
            <a:ext cx="914400" cy="54864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017520"/>
            <a:ext cx="914400" cy="54864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DQ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1828800" cy="54864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Conv</a:t>
            </a:r>
            <a:br/>
            <a:r>
              <a:t>(i8 weight)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017520"/>
            <a:ext cx="914400" cy="54864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017520"/>
            <a:ext cx="914400" cy="548640"/>
          </a:xfrm>
          <a:prstGeom prst="rect">
            <a:avLst/>
          </a:prstGeom>
          <a:solidFill>
            <a:srgbClr val="FFE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DQ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017520"/>
            <a:ext cx="10972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SiLU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3017520"/>
            <a:ext cx="1097280" cy="54864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Q = QuantizeLinear(round(x/scale), clamp)    DQ = DequantizeLinear(x * scale)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389120"/>
            <a:ext cx="1371600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weight</a:t>
            </a:r>
            <a:br/>
            <a:r>
              <a:t>(i8)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389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→ DQ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→ Conv weight 입력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029200"/>
            <a:ext cx="1371600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bias</a:t>
            </a:r>
            <a:br/>
            <a:r>
              <a:t>(i32)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029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→ DQ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074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→ Conv 후 add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모델 개발 요구사항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502920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요구사항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097280"/>
            <a:ext cx="137160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ONNX opset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00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17 (최소 13)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002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Shape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574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정적(static) — 모든 shape 고정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574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Batch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5146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146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양자화 형식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9718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QDQ (QuantizeLinear + DequantizeLinear)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9718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양자화 타입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290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int8 symmetric (per-tensor)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4290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Conv+BN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886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fusion 후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86200"/>
            <a:ext cx="1371600" cy="411480"/>
          </a:xfrm>
          <a:prstGeom prst="rect">
            <a:avLst/>
          </a:prstGeom>
          <a:solidFill>
            <a:srgbClr val="D5F0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필수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Calibration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3434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MinMax, 20~100개 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343400"/>
            <a:ext cx="1371600" cy="41148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권장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전처리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8006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모델 외부에서 수행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800600"/>
            <a:ext cx="1371600" cy="411480"/>
          </a:xfrm>
          <a:prstGeom prst="rect">
            <a:avLst/>
          </a:prstGeom>
          <a:solidFill>
            <a:srgbClr val="DBE9F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권장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미지원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미지원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97280"/>
            <a:ext cx="502920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대안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Dynamic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00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고정 shape으로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per-channel quantization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574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per_channel=False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Mixed 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5146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전체 int8 또는 전체 fp32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QOperator (ConvInteger)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718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QDQ 형식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int4 / fp16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4290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int8만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4114800" cy="411480"/>
          </a:xfrm>
          <a:prstGeom prst="rect">
            <a:avLst/>
          </a:prstGeom>
          <a:solidFill>
            <a:srgbClr val="FFE0E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Custom ONNX 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886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1A"/>
                </a:solidFill>
              </a:defRPr>
            </a:pPr>
            <a:r>
              <a:t>표준 op으로 분해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